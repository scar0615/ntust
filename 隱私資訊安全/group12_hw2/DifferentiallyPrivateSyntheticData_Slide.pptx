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C7E791D-A694-4A66-A0F7-835287B3EAFA}">
  <a:tblStyle styleId="{9C7E791D-A694-4A66-A0F7-835287B3EAF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50663e264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50663e264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516000a459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516000a459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50663e2646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50663e2646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50663e2646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50663e2646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50663e2646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50663e2646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50663e2646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50663e2646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50663e2646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50663e2646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50663e2646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50663e2646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50663e2646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50663e2646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50663e2646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50663e2646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50663e2646_3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50663e2646_3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50663e264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50663e264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Group 12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Homework 2 Presentation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200"/>
              <a:t>Introduction</a:t>
            </a:r>
            <a:endParaRPr sz="3200"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284875"/>
            <a:ext cx="8520600" cy="32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zh-TW" sz="2000">
                <a:solidFill>
                  <a:schemeClr val="dk1"/>
                </a:solidFill>
              </a:rPr>
              <a:t>We were i</a:t>
            </a:r>
            <a:r>
              <a:rPr lang="zh-TW" sz="2000">
                <a:solidFill>
                  <a:schemeClr val="dk1"/>
                </a:solidFill>
              </a:rPr>
              <a:t>nspired by Team UCLANESL.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zh-TW" sz="2000">
                <a:solidFill>
                  <a:schemeClr val="dk1"/>
                </a:solidFill>
              </a:rPr>
              <a:t>Uses a GAN architecture with a Generator and a Discriminator.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zh-TW" sz="2000">
                <a:solidFill>
                  <a:schemeClr val="dk1"/>
                </a:solidFill>
              </a:rPr>
              <a:t>Generator: generating synthetic data samples that mimic the structure of the original data.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zh-TW" sz="2000">
                <a:solidFill>
                  <a:schemeClr val="dk1"/>
                </a:solidFill>
              </a:rPr>
              <a:t>Discriminator: distinguishing real data from synthetic data samples.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What is a GAN?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The principle of the GAN model is to oppose two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neural networks so that the loser can be improved based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on the result of the confrontation, the Generator will try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to “fool” the discriminator and so on, resulting in better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/>
              <a:t>and better results over time.</a:t>
            </a:r>
            <a:endParaRPr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72350" y="1410775"/>
            <a:ext cx="2381250" cy="278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200"/>
              <a:t>Differential Privacy</a:t>
            </a:r>
            <a:endParaRPr sz="3200"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284875"/>
            <a:ext cx="8520600" cy="32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zh-TW" sz="2000">
                <a:solidFill>
                  <a:schemeClr val="dk1"/>
                </a:solidFill>
              </a:rPr>
              <a:t>Opacus library </a:t>
            </a:r>
            <a:r>
              <a:rPr lang="zh-TW" sz="2000">
                <a:solidFill>
                  <a:schemeClr val="dk1"/>
                </a:solidFill>
              </a:rPr>
              <a:t>applying Differential Privacy Stochastic Gradient Descent (DP-SGD) to the discriminator.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zh-TW" sz="2000">
                <a:solidFill>
                  <a:schemeClr val="dk1"/>
                </a:solidFill>
              </a:rPr>
              <a:t>DP-SGD protects the update of the discriminator by gradient clipping and noise addition, this ensures that any leakage of a single true data sample is prevented during training.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zh-TW" sz="2000">
                <a:solidFill>
                  <a:schemeClr val="dk1"/>
                </a:solidFill>
              </a:rPr>
              <a:t>Generator remains non-private and learns to generate realistic data samples based on the feedback from the differential privacy-protected discriminators.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200"/>
              <a:t>Dataset</a:t>
            </a:r>
            <a:endParaRPr sz="3200"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284875"/>
            <a:ext cx="8520600" cy="32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zh-TW" sz="2000">
                <a:solidFill>
                  <a:schemeClr val="dk1"/>
                </a:solidFill>
              </a:rPr>
              <a:t>Adult Census Income Dataset</a:t>
            </a:r>
            <a:endParaRPr sz="2000">
              <a:solidFill>
                <a:schemeClr val="dk1"/>
              </a:solidFill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zh-TW" sz="2000">
                <a:solidFill>
                  <a:schemeClr val="dk1"/>
                </a:solidFill>
              </a:rPr>
              <a:t>Contains multiple attributes such as age, job type, education, and income as the target variable.</a:t>
            </a:r>
            <a:endParaRPr sz="2000">
              <a:solidFill>
                <a:schemeClr val="dk1"/>
              </a:solidFill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zh-TW" sz="2000">
                <a:solidFill>
                  <a:schemeClr val="dk1"/>
                </a:solidFill>
              </a:rPr>
              <a:t>The raw dataset contains 30,163 rows and 12 raw attributes.</a:t>
            </a:r>
            <a:endParaRPr sz="20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zh-TW" sz="2000">
                <a:solidFill>
                  <a:schemeClr val="dk1"/>
                </a:solidFill>
              </a:rPr>
              <a:t>Data preprocessing</a:t>
            </a:r>
            <a:endParaRPr sz="2000">
              <a:solidFill>
                <a:schemeClr val="dk1"/>
              </a:solidFill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zh-TW" sz="2000">
                <a:solidFill>
                  <a:schemeClr val="dk1"/>
                </a:solidFill>
              </a:rPr>
              <a:t>Numerical features are normalized using StandardScaler.</a:t>
            </a:r>
            <a:endParaRPr sz="2000">
              <a:solidFill>
                <a:schemeClr val="dk1"/>
              </a:solidFill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zh-TW" sz="2000">
                <a:solidFill>
                  <a:schemeClr val="dk1"/>
                </a:solidFill>
              </a:rPr>
              <a:t>Encoding of class features using one-hot encoding.</a:t>
            </a:r>
            <a:endParaRPr sz="2000">
              <a:solidFill>
                <a:schemeClr val="dk1"/>
              </a:solidFill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zh-TW" sz="2000">
                <a:solidFill>
                  <a:schemeClr val="dk1"/>
                </a:solidFill>
              </a:rPr>
              <a:t>These transformations extend the original 12 features to higher dimensional space.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200"/>
              <a:t>Training Process</a:t>
            </a:r>
            <a:endParaRPr sz="3200"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284875"/>
            <a:ext cx="8520600" cy="32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zh-TW" sz="2000">
                <a:solidFill>
                  <a:schemeClr val="dk1"/>
                </a:solidFill>
              </a:rPr>
              <a:t>Training epochs: 100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zh-TW" sz="2000">
                <a:solidFill>
                  <a:schemeClr val="dk1"/>
                </a:solidFill>
              </a:rPr>
              <a:t>Batch size: 64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zh-TW" sz="2000">
                <a:solidFill>
                  <a:schemeClr val="dk1"/>
                </a:solidFill>
              </a:rPr>
              <a:t>Learning rate: 1e-4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zh-TW" sz="2000">
                <a:solidFill>
                  <a:schemeClr val="dk1"/>
                </a:solidFill>
              </a:rPr>
              <a:t>Noise multiplier for DP: 1.0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zh-TW" sz="2000">
                <a:solidFill>
                  <a:schemeClr val="dk1"/>
                </a:solidFill>
              </a:rPr>
              <a:t>Dimension of the noise vector input to the generator: 100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zh-TW" sz="2000">
                <a:solidFill>
                  <a:schemeClr val="dk1"/>
                </a:solidFill>
              </a:rPr>
              <a:t>Generated synthetic data is the same size as the original dataset.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zh-TW" sz="2000">
                <a:solidFill>
                  <a:schemeClr val="dk1"/>
                </a:solidFill>
              </a:rPr>
              <a:t>Optimizer: Adam for both generator and discriminator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zh-TW" sz="2000">
                <a:solidFill>
                  <a:schemeClr val="dk1"/>
                </a:solidFill>
              </a:rPr>
              <a:t>Max gradient norm: 1.0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200"/>
              <a:t>Result: Synthetic Data Privacy Budget</a:t>
            </a:r>
            <a:endParaRPr sz="3200"/>
          </a:p>
        </p:txBody>
      </p:sp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311700" y="1274150"/>
            <a:ext cx="8520600" cy="101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just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2000"/>
              <a:buChar char="●"/>
            </a:pPr>
            <a:r>
              <a:rPr lang="zh-TW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DP-SGD, resulted in a final privacy budget of </a:t>
            </a:r>
            <a:r>
              <a:rPr b="1" lang="zh-TW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ε ≈ 2.51</a:t>
            </a:r>
            <a:r>
              <a:rPr lang="zh-TW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with </a:t>
            </a:r>
            <a:r>
              <a:rPr b="1" lang="zh-TW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δ = 1e-5.</a:t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93" name="Google Shape;9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6413" y="1884575"/>
            <a:ext cx="6991175" cy="2890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200"/>
              <a:t>Result: Utility Evaluation via SVM</a:t>
            </a:r>
            <a:endParaRPr sz="3200"/>
          </a:p>
        </p:txBody>
      </p:sp>
      <p:sp>
        <p:nvSpPr>
          <p:cNvPr id="99" name="Google Shape;99;p20"/>
          <p:cNvSpPr txBox="1"/>
          <p:nvPr>
            <p:ph idx="1" type="body"/>
          </p:nvPr>
        </p:nvSpPr>
        <p:spPr>
          <a:xfrm>
            <a:off x="311700" y="1274150"/>
            <a:ext cx="8520600" cy="241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>
                <a:solidFill>
                  <a:schemeClr val="dk1"/>
                </a:solidFill>
              </a:rPr>
              <a:t>We trained support vector machines (SVMs) on three datasets:</a:t>
            </a:r>
            <a:endParaRPr>
              <a:solidFill>
                <a:schemeClr val="dk1"/>
              </a:solidFill>
            </a:endParaRPr>
          </a:p>
          <a:p>
            <a:pPr indent="-3429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zh-TW" sz="1800">
                <a:solidFill>
                  <a:schemeClr val="dk1"/>
                </a:solidFill>
              </a:rPr>
              <a:t>The original cleaned dataset (baseline)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zh-TW" sz="1800">
                <a:solidFill>
                  <a:schemeClr val="dk1"/>
                </a:solidFill>
              </a:rPr>
              <a:t>The k-anonymized dataset (from k-anonymity)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zh-TW" sz="1800">
                <a:solidFill>
                  <a:schemeClr val="dk1"/>
                </a:solidFill>
              </a:rPr>
              <a:t>The synthetic dataset (generated in this project)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zh-TW">
                <a:solidFill>
                  <a:schemeClr val="dk1"/>
                </a:solidFill>
              </a:rPr>
              <a:t>Since the synthetic dataset does not contain class labels, we only compare with </a:t>
            </a:r>
            <a:r>
              <a:rPr b="1" lang="zh-TW">
                <a:solidFill>
                  <a:schemeClr val="dk1"/>
                </a:solidFill>
              </a:rPr>
              <a:t>original</a:t>
            </a:r>
            <a:r>
              <a:rPr lang="zh-TW">
                <a:solidFill>
                  <a:schemeClr val="dk1"/>
                </a:solidFill>
              </a:rPr>
              <a:t> and </a:t>
            </a:r>
            <a:r>
              <a:rPr b="1" lang="zh-TW">
                <a:solidFill>
                  <a:schemeClr val="dk1"/>
                </a:solidFill>
              </a:rPr>
              <a:t>k-anonymity.</a:t>
            </a:r>
            <a:endParaRPr b="1">
              <a:solidFill>
                <a:schemeClr val="dk1"/>
              </a:solidFill>
            </a:endParaRPr>
          </a:p>
        </p:txBody>
      </p:sp>
      <p:pic>
        <p:nvPicPr>
          <p:cNvPr id="100" name="Google Shape;100;p20" title="截圖 2025-04-26 晚上11.16.1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878650"/>
            <a:ext cx="8839204" cy="8545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200"/>
              <a:t>Comparison with HW1</a:t>
            </a:r>
            <a:endParaRPr sz="3200"/>
          </a:p>
        </p:txBody>
      </p:sp>
      <p:pic>
        <p:nvPicPr>
          <p:cNvPr id="106" name="Google Shape;10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52175" y="1225625"/>
            <a:ext cx="5943600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1"/>
          <p:cNvSpPr txBox="1"/>
          <p:nvPr/>
        </p:nvSpPr>
        <p:spPr>
          <a:xfrm>
            <a:off x="311700" y="1756000"/>
            <a:ext cx="6167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>
                <a:solidFill>
                  <a:schemeClr val="dk1"/>
                </a:solidFill>
              </a:rPr>
              <a:t>Original Data: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108" name="Google Shape;108;p21"/>
          <p:cNvSpPr txBox="1"/>
          <p:nvPr/>
        </p:nvSpPr>
        <p:spPr>
          <a:xfrm>
            <a:off x="311700" y="3639575"/>
            <a:ext cx="6167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>
                <a:solidFill>
                  <a:schemeClr val="dk1"/>
                </a:solidFill>
              </a:rPr>
              <a:t>K-anonymity(k=5):</a:t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109" name="Google Shape;109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52175" y="3138163"/>
            <a:ext cx="5943600" cy="149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200"/>
              <a:t>Comparison with HW1</a:t>
            </a:r>
            <a:endParaRPr sz="3200"/>
          </a:p>
        </p:txBody>
      </p:sp>
      <p:pic>
        <p:nvPicPr>
          <p:cNvPr id="115" name="Google Shape;11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52175" y="3037648"/>
            <a:ext cx="5943600" cy="16964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52175" y="1225625"/>
            <a:ext cx="5943600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2"/>
          <p:cNvSpPr txBox="1"/>
          <p:nvPr/>
        </p:nvSpPr>
        <p:spPr>
          <a:xfrm>
            <a:off x="311700" y="1756000"/>
            <a:ext cx="6167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>
                <a:solidFill>
                  <a:schemeClr val="dk1"/>
                </a:solidFill>
              </a:rPr>
              <a:t>Original Data: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118" name="Google Shape;118;p22"/>
          <p:cNvSpPr txBox="1"/>
          <p:nvPr/>
        </p:nvSpPr>
        <p:spPr>
          <a:xfrm>
            <a:off x="311700" y="3639575"/>
            <a:ext cx="6167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>
                <a:solidFill>
                  <a:schemeClr val="dk1"/>
                </a:solidFill>
              </a:rPr>
              <a:t>DP Synthetic Data: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200"/>
              <a:t>Comparison with Mid-term</a:t>
            </a:r>
            <a:endParaRPr sz="3200"/>
          </a:p>
        </p:txBody>
      </p:sp>
      <p:sp>
        <p:nvSpPr>
          <p:cNvPr id="124" name="Google Shape;124;p23"/>
          <p:cNvSpPr txBox="1"/>
          <p:nvPr>
            <p:ph idx="1" type="body"/>
          </p:nvPr>
        </p:nvSpPr>
        <p:spPr>
          <a:xfrm>
            <a:off x="311700" y="1284875"/>
            <a:ext cx="8520600" cy="370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zh-TW" sz="2000">
                <a:solidFill>
                  <a:schemeClr val="dk1"/>
                </a:solidFill>
              </a:rPr>
              <a:t>Mid-term and HW2 demonstrate that differential privacy can be flexibly applied to different stages in the machine learning pipeline.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zh-TW" sz="2000">
                <a:solidFill>
                  <a:schemeClr val="dk1"/>
                </a:solidFill>
              </a:rPr>
              <a:t>Mid-term: DP protects the </a:t>
            </a:r>
            <a:r>
              <a:rPr b="1" lang="zh-TW" sz="2000">
                <a:solidFill>
                  <a:schemeClr val="dk1"/>
                </a:solidFill>
              </a:rPr>
              <a:t>model</a:t>
            </a:r>
            <a:r>
              <a:rPr lang="zh-TW" sz="2000">
                <a:solidFill>
                  <a:schemeClr val="dk1"/>
                </a:solidFill>
              </a:rPr>
              <a:t> by ensuring that models trained from private data do not leak personal information.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zh-TW" sz="2000">
                <a:solidFill>
                  <a:schemeClr val="dk1"/>
                </a:solidFill>
              </a:rPr>
              <a:t>HW2: DP protects the </a:t>
            </a:r>
            <a:r>
              <a:rPr b="1" lang="zh-TW" sz="2000">
                <a:solidFill>
                  <a:schemeClr val="dk1"/>
                </a:solidFill>
              </a:rPr>
              <a:t>data</a:t>
            </a:r>
            <a:r>
              <a:rPr lang="zh-TW" sz="2000">
                <a:solidFill>
                  <a:schemeClr val="dk1"/>
                </a:solidFill>
              </a:rPr>
              <a:t>, which can be shared and analyzed without exposing the original data by generating synthetic datasets with privacy guarantees.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zh-TW" sz="3220"/>
              <a:t>Conclusion</a:t>
            </a:r>
            <a:endParaRPr sz="3220"/>
          </a:p>
        </p:txBody>
      </p:sp>
      <p:sp>
        <p:nvSpPr>
          <p:cNvPr id="130" name="Google Shape;130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460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zh-TW" sz="2000">
                <a:solidFill>
                  <a:schemeClr val="dk1"/>
                </a:solidFill>
              </a:rPr>
              <a:t>Generated d</a:t>
            </a:r>
            <a:r>
              <a:rPr lang="zh-TW" sz="2000">
                <a:solidFill>
                  <a:schemeClr val="dk1"/>
                </a:solidFill>
              </a:rPr>
              <a:t>ifferentially private synthetic data using a GAN-based architecture, achieved a final privacy budget </a:t>
            </a:r>
            <a:r>
              <a:rPr lang="zh-TW" sz="2000">
                <a:solidFill>
                  <a:schemeClr val="dk1"/>
                </a:solidFill>
              </a:rPr>
              <a:t>ε ≈ 2.51, δ = 1e-5.</a:t>
            </a:r>
            <a:endParaRPr sz="2000">
              <a:solidFill>
                <a:schemeClr val="dk1"/>
              </a:solidFill>
            </a:endParaRPr>
          </a:p>
          <a:p>
            <a:pPr indent="-3460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zh-TW" sz="2000">
                <a:solidFill>
                  <a:schemeClr val="dk1"/>
                </a:solidFill>
              </a:rPr>
              <a:t>The synthetic dataset preserved the statistical properties of </a:t>
            </a:r>
            <a:r>
              <a:rPr lang="zh-TW" sz="2000">
                <a:solidFill>
                  <a:schemeClr val="dk1"/>
                </a:solidFill>
              </a:rPr>
              <a:t>numercial features, while categorical features were more challenging due to one-hot encoding.</a:t>
            </a:r>
            <a:endParaRPr sz="2000">
              <a:solidFill>
                <a:schemeClr val="dk1"/>
              </a:solidFill>
            </a:endParaRPr>
          </a:p>
          <a:p>
            <a:pPr indent="-3460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zh-TW" sz="2000">
                <a:solidFill>
                  <a:schemeClr val="dk1"/>
                </a:solidFill>
              </a:rPr>
              <a:t>Compared to k-anonymity, the synthetic data approach avoided overgeneralization and enabled greater flexibility for downstream tasks.</a:t>
            </a:r>
            <a:endParaRPr sz="2000">
              <a:solidFill>
                <a:schemeClr val="dk1"/>
              </a:solidFill>
            </a:endParaRPr>
          </a:p>
          <a:p>
            <a:pPr indent="-3460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zh-TW" sz="2000">
                <a:solidFill>
                  <a:schemeClr val="dk1"/>
                </a:solidFill>
              </a:rPr>
              <a:t>Future work can focus on improving categorical feature reconstruction and enhancing the interpretability of synthetic data.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200"/>
              <a:t>Responsibility</a:t>
            </a:r>
            <a:endParaRPr sz="3200"/>
          </a:p>
        </p:txBody>
      </p:sp>
      <p:graphicFrame>
        <p:nvGraphicFramePr>
          <p:cNvPr id="136" name="Google Shape;136;p25"/>
          <p:cNvGraphicFramePr/>
          <p:nvPr/>
        </p:nvGraphicFramePr>
        <p:xfrm>
          <a:off x="449250" y="1513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{9C7E791D-A694-4A66-A0F7-835287B3EAFA}</a:tableStyleId>
              </a:tblPr>
              <a:tblGrid>
                <a:gridCol w="4191525"/>
                <a:gridCol w="41915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800">
                          <a:solidFill>
                            <a:schemeClr val="dk1"/>
                          </a:solidFill>
                        </a:rPr>
                        <a:t>MENDEZ SALGADO LUIS ANDRES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000"/>
                        <a:t>Report and python script</a:t>
                      </a:r>
                      <a:endParaRPr sz="2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2000">
                          <a:solidFill>
                            <a:schemeClr val="dk1"/>
                          </a:solidFill>
                        </a:rPr>
                        <a:t>Guérin Ulysse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000"/>
                        <a:t>Edits and modification of report and PPT</a:t>
                      </a:r>
                      <a:endParaRPr sz="2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2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謝尚恆	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000"/>
                        <a:t>Presentation(PPT)</a:t>
                      </a:r>
                      <a:endParaRPr sz="2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2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吳浚瑋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000"/>
                        <a:t>modify PPT</a:t>
                      </a:r>
                      <a:endParaRPr sz="2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