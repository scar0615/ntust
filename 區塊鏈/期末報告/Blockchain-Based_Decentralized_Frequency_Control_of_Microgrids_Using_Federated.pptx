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9" r:id="rId5"/>
    <p:sldId id="259" r:id="rId6"/>
    <p:sldId id="260" r:id="rId7"/>
    <p:sldId id="268" r:id="rId8"/>
    <p:sldId id="267" r:id="rId9"/>
    <p:sldId id="272" r:id="rId10"/>
    <p:sldId id="271" r:id="rId11"/>
    <p:sldId id="261" r:id="rId12"/>
    <p:sldId id="262" r:id="rId13"/>
    <p:sldId id="265" r:id="rId14"/>
    <p:sldId id="264" r:id="rId15"/>
    <p:sldId id="263"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301" autoAdjust="0"/>
  </p:normalViewPr>
  <p:slideViewPr>
    <p:cSldViewPr snapToGrid="0">
      <p:cViewPr>
        <p:scale>
          <a:sx n="100" d="100"/>
          <a:sy n="100"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4C2A7-4550-4F7F-9CDA-F9ED139E92EB}" type="datetimeFigureOut">
              <a:rPr lang="zh-TW" altLang="en-US" smtClean="0"/>
              <a:t>2024/5/13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B8E4F-4D7D-4CB8-9433-247417570852}" type="slidenum">
              <a:rPr lang="zh-TW" altLang="en-US" smtClean="0"/>
              <a:t>‹#›</a:t>
            </a:fld>
            <a:endParaRPr lang="zh-TW" altLang="en-US"/>
          </a:p>
        </p:txBody>
      </p:sp>
    </p:spTree>
    <p:extLst>
      <p:ext uri="{BB962C8B-B14F-4D97-AF65-F5344CB8AC3E}">
        <p14:creationId xmlns:p14="http://schemas.microsoft.com/office/powerpoint/2010/main" val="3043837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Background</a:t>
            </a:r>
          </a:p>
          <a:p>
            <a:r>
              <a:rPr lang="zh-TW" altLang="en-US" sz="1200" b="0" i="0" kern="1200" dirty="0">
                <a:solidFill>
                  <a:schemeClr val="tx1"/>
                </a:solidFill>
                <a:effectLst/>
                <a:latin typeface="+mn-lt"/>
                <a:ea typeface="+mn-ea"/>
                <a:cs typeface="+mn-cs"/>
              </a:rPr>
              <a:t>隨著通訊技術、物聯網和智慧電錶的普及，加密貨幣和區塊鏈的最新發展導致傳統單邊電網向點對點能源（</a:t>
            </a:r>
            <a:r>
              <a:rPr lang="en-US" altLang="zh-TW" sz="1200" b="0" i="0" kern="1200" dirty="0">
                <a:solidFill>
                  <a:schemeClr val="tx1"/>
                </a:solidFill>
                <a:effectLst/>
                <a:latin typeface="+mn-lt"/>
                <a:ea typeface="+mn-ea"/>
                <a:cs typeface="+mn-cs"/>
              </a:rPr>
              <a:t>P2P</a:t>
            </a:r>
            <a:r>
              <a:rPr lang="zh-TW" altLang="en-US" sz="1200" b="0" i="0" kern="1200" dirty="0">
                <a:solidFill>
                  <a:schemeClr val="tx1"/>
                </a:solidFill>
                <a:effectLst/>
                <a:latin typeface="+mn-lt"/>
                <a:ea typeface="+mn-ea"/>
                <a:cs typeface="+mn-cs"/>
              </a:rPr>
              <a:t>）交易的數位轉型</a:t>
            </a:r>
            <a:r>
              <a:rPr lang="en-US" altLang="zh-TW" sz="1200" b="0" i="0" kern="1200" dirty="0">
                <a:solidFill>
                  <a:schemeClr val="tx1"/>
                </a:solidFill>
                <a:effectLst/>
                <a:latin typeface="+mn-lt"/>
                <a:ea typeface="+mn-ea"/>
                <a:cs typeface="+mn-cs"/>
              </a:rPr>
              <a:t>[1]</a:t>
            </a:r>
            <a:r>
              <a:rPr lang="zh-TW" altLang="en-US" sz="1200" b="0" i="0" kern="1200" dirty="0">
                <a:solidFill>
                  <a:schemeClr val="tx1"/>
                </a:solidFill>
                <a:effectLst/>
                <a:latin typeface="+mn-lt"/>
                <a:ea typeface="+mn-ea"/>
                <a:cs typeface="+mn-cs"/>
              </a:rPr>
              <a:t>。 </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P2P</a:t>
            </a:r>
            <a:r>
              <a:rPr lang="zh-TW" altLang="en-US" sz="1200" b="0" i="0" kern="1200" dirty="0">
                <a:solidFill>
                  <a:schemeClr val="tx1"/>
                </a:solidFill>
                <a:effectLst/>
                <a:latin typeface="+mn-lt"/>
                <a:ea typeface="+mn-ea"/>
                <a:cs typeface="+mn-cs"/>
              </a:rPr>
              <a:t>能源交易是下一代智慧電網網絡，它使客戶能夠獨立參與與產消者和電網的能源交易</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[3]</a:t>
            </a:r>
            <a:r>
              <a:rPr lang="zh-TW" altLang="en-US" sz="1200" b="0" i="0" kern="1200" dirty="0">
                <a:solidFill>
                  <a:schemeClr val="tx1"/>
                </a:solidFill>
                <a:effectLst/>
                <a:latin typeface="+mn-lt"/>
                <a:ea typeface="+mn-ea"/>
                <a:cs typeface="+mn-cs"/>
              </a:rPr>
              <a:t>。 </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P2P</a:t>
            </a:r>
            <a:r>
              <a:rPr lang="zh-TW" altLang="en-US" sz="1200" b="0" i="0" kern="1200" dirty="0">
                <a:solidFill>
                  <a:schemeClr val="tx1"/>
                </a:solidFill>
                <a:effectLst/>
                <a:latin typeface="+mn-lt"/>
                <a:ea typeface="+mn-ea"/>
                <a:cs typeface="+mn-cs"/>
              </a:rPr>
              <a:t>能源交易的各種優點包括提高再生能源（</a:t>
            </a:r>
            <a:r>
              <a:rPr lang="en-US" altLang="zh-TW" sz="1200" b="0" i="0" kern="1200" dirty="0">
                <a:solidFill>
                  <a:schemeClr val="tx1"/>
                </a:solidFill>
                <a:effectLst/>
                <a:latin typeface="+mn-lt"/>
                <a:ea typeface="+mn-ea"/>
                <a:cs typeface="+mn-cs"/>
              </a:rPr>
              <a:t>RE</a:t>
            </a:r>
            <a:r>
              <a:rPr lang="zh-TW" altLang="en-US" sz="1200" b="0" i="0" kern="1200" dirty="0">
                <a:solidFill>
                  <a:schemeClr val="tx1"/>
                </a:solidFill>
                <a:effectLst/>
                <a:latin typeface="+mn-lt"/>
                <a:ea typeface="+mn-ea"/>
                <a:cs typeface="+mn-cs"/>
              </a:rPr>
              <a:t>）發電的滲透率、減少排放、電力和投資成本、調峰以及透過基於產消者</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消費者的能源管理實現可靠的電力</a:t>
            </a:r>
            <a:r>
              <a:rPr lang="en-US" altLang="zh-TW" sz="1200" b="0" i="0" kern="1200" dirty="0">
                <a:solidFill>
                  <a:schemeClr val="tx1"/>
                </a:solidFill>
                <a:effectLst/>
                <a:latin typeface="+mn-lt"/>
                <a:ea typeface="+mn-ea"/>
                <a:cs typeface="+mn-cs"/>
              </a:rPr>
              <a:t>[4]</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[5]</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但是這種交易模式面臨一些挑戰，像是再生能源不確定性，也就是這些再生能源</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例如太陽能發電、風力發電</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的產量是不穩定的。</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然後再生能源不確定性也會引起頻率穩定性問題，在電力系統中無法保持一定的供電頻率。</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Motivation</a:t>
            </a:r>
          </a:p>
          <a:p>
            <a:r>
              <a:rPr lang="zh-TW" altLang="en-US" sz="1200" b="0" i="0" kern="1200" dirty="0">
                <a:solidFill>
                  <a:schemeClr val="tx1"/>
                </a:solidFill>
                <a:effectLst/>
                <a:latin typeface="+mn-lt"/>
                <a:ea typeface="+mn-ea"/>
                <a:cs typeface="+mn-cs"/>
              </a:rPr>
              <a:t>因此作者提出去中心化頻率控制，它基於區塊鏈等技術，允許多個參與者（如用戶和發電廠）共同參與到頻率調節中，並且可以根據系統的實際情況進行動態調整，從而更有效地處理再生能源的波動性，確保系統的穩定性。</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還有智能合約參與矩陣是在區塊鏈上運行的自動執行的合約，其中的條件和操作被事先編碼，並在滿足特定條件時自動執行。</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智能合約參與矩陣將智能合約應用於能源交易中，通過區塊鏈技術確保交易的可追蹤性和安全性。這樣可以防止不當交易或入侵者的干擾，並確保交易的合法性和公平性。</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2</a:t>
            </a:fld>
            <a:endParaRPr lang="zh-TW" altLang="en-US"/>
          </a:p>
        </p:txBody>
      </p:sp>
    </p:spTree>
    <p:extLst>
      <p:ext uri="{BB962C8B-B14F-4D97-AF65-F5344CB8AC3E}">
        <p14:creationId xmlns:p14="http://schemas.microsoft.com/office/powerpoint/2010/main" val="3126243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在微電網中使用多層分層結構來控制頻率和電壓，以確保系統穩定運行。</a:t>
            </a:r>
            <a:endParaRPr lang="en-US" altLang="zh-TW" sz="1200" dirty="0">
              <a:latin typeface="微軟正黑體" panose="020B0604030504040204" pitchFamily="34" charset="-120"/>
              <a:ea typeface="微軟正黑體" panose="020B0604030504040204" pitchFamily="34" charset="-120"/>
            </a:endParaRPr>
          </a:p>
          <a:p>
            <a:endParaRPr lang="en-US" altLang="zh-TW" dirty="0"/>
          </a:p>
          <a:p>
            <a:r>
              <a:rPr lang="en-US" altLang="zh-TW" dirty="0"/>
              <a:t>LFC</a:t>
            </a:r>
            <a:r>
              <a:rPr lang="zh-TW" altLang="en-US" dirty="0"/>
              <a:t>方法</a:t>
            </a:r>
            <a:r>
              <a:rPr lang="en-US" altLang="zh-TW" dirty="0"/>
              <a:t>:</a:t>
            </a:r>
            <a:r>
              <a:rPr lang="zh-TW" altLang="en-US" dirty="0"/>
              <a:t> </a:t>
            </a:r>
            <a:r>
              <a:rPr lang="zh-TW" altLang="en-US" sz="1200" b="1" i="0" kern="1200" dirty="0">
                <a:solidFill>
                  <a:schemeClr val="tx1"/>
                </a:solidFill>
                <a:effectLst/>
                <a:latin typeface="+mn-lt"/>
                <a:ea typeface="+mn-ea"/>
                <a:cs typeface="+mn-cs"/>
              </a:rPr>
              <a:t>監測</a:t>
            </a:r>
            <a:r>
              <a:rPr lang="zh-TW" altLang="en-US" sz="1200" b="0" i="0" kern="1200" dirty="0">
                <a:solidFill>
                  <a:schemeClr val="tx1"/>
                </a:solidFill>
                <a:effectLst/>
                <a:latin typeface="+mn-lt"/>
                <a:ea typeface="+mn-ea"/>
                <a:cs typeface="+mn-cs"/>
              </a:rPr>
              <a:t>微電網的</a:t>
            </a:r>
            <a:r>
              <a:rPr lang="zh-TW" altLang="en-US" sz="1200" b="1" i="0" kern="1200" dirty="0">
                <a:solidFill>
                  <a:schemeClr val="tx1"/>
                </a:solidFill>
                <a:effectLst/>
                <a:latin typeface="+mn-lt"/>
                <a:ea typeface="+mn-ea"/>
                <a:cs typeface="+mn-cs"/>
              </a:rPr>
              <a:t>系統頻率 </a:t>
            </a:r>
            <a:r>
              <a:rPr lang="en-US" altLang="zh-TW" sz="1200" b="1" i="0" kern="1200" dirty="0">
                <a:solidFill>
                  <a:schemeClr val="tx1"/>
                </a:solidFill>
                <a:effectLst/>
                <a:latin typeface="+mn-lt"/>
                <a:ea typeface="+mn-ea"/>
                <a:cs typeface="+mn-cs"/>
              </a:rPr>
              <a:t>-&gt;</a:t>
            </a:r>
            <a:r>
              <a:rPr lang="zh-TW" altLang="en-US" sz="1200" b="1" i="0" kern="1200" dirty="0">
                <a:solidFill>
                  <a:schemeClr val="tx1"/>
                </a:solidFill>
                <a:effectLst/>
                <a:latin typeface="+mn-lt"/>
                <a:ea typeface="+mn-ea"/>
                <a:cs typeface="+mn-cs"/>
              </a:rPr>
              <a:t>比較頻率與目標值 </a:t>
            </a:r>
            <a:r>
              <a:rPr lang="en-US" altLang="zh-TW" sz="1200" b="1" i="0" kern="1200" dirty="0">
                <a:solidFill>
                  <a:schemeClr val="tx1"/>
                </a:solidFill>
                <a:effectLst/>
                <a:latin typeface="+mn-lt"/>
                <a:ea typeface="+mn-ea"/>
                <a:cs typeface="+mn-cs"/>
              </a:rPr>
              <a:t>-&gt;</a:t>
            </a:r>
            <a:r>
              <a:rPr lang="zh-TW" altLang="en-US" sz="1200" b="0" i="0" kern="1200" dirty="0">
                <a:solidFill>
                  <a:schemeClr val="tx1"/>
                </a:solidFill>
                <a:effectLst/>
                <a:latin typeface="+mn-lt"/>
                <a:ea typeface="+mn-ea"/>
                <a:cs typeface="+mn-cs"/>
              </a:rPr>
              <a:t>計算實際頻率與目標頻率之間的差值 </a:t>
            </a:r>
            <a:r>
              <a:rPr lang="en-US" altLang="zh-TW" sz="1200" b="0" i="0" kern="1200" dirty="0">
                <a:solidFill>
                  <a:schemeClr val="tx1"/>
                </a:solidFill>
                <a:effectLst/>
                <a:latin typeface="+mn-lt"/>
                <a:ea typeface="+mn-ea"/>
                <a:cs typeface="+mn-cs"/>
              </a:rPr>
              <a:t>-&gt;</a:t>
            </a:r>
            <a:r>
              <a:rPr lang="zh-TW" altLang="en-US" sz="1200" b="0" i="0" kern="1200" dirty="0">
                <a:solidFill>
                  <a:schemeClr val="tx1"/>
                </a:solidFill>
                <a:effectLst/>
                <a:latin typeface="+mn-lt"/>
                <a:ea typeface="+mn-ea"/>
                <a:cs typeface="+mn-cs"/>
              </a:rPr>
              <a:t>調整控制器的輸出來影響系統頻率</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這個方法有一些限制，因為</a:t>
            </a:r>
            <a:r>
              <a:rPr lang="en-US" altLang="zh-TW" sz="1200" b="0" i="0" kern="1200" dirty="0">
                <a:solidFill>
                  <a:schemeClr val="tx1"/>
                </a:solidFill>
                <a:effectLst/>
                <a:latin typeface="+mn-lt"/>
                <a:ea typeface="+mn-ea"/>
                <a:cs typeface="+mn-cs"/>
              </a:rPr>
              <a:t>LFC</a:t>
            </a:r>
            <a:r>
              <a:rPr lang="zh-TW" altLang="en-US" sz="1200" b="0" i="0" kern="1200" dirty="0">
                <a:solidFill>
                  <a:schemeClr val="tx1"/>
                </a:solidFill>
                <a:effectLst/>
                <a:latin typeface="+mn-lt"/>
                <a:ea typeface="+mn-ea"/>
                <a:cs typeface="+mn-cs"/>
              </a:rPr>
              <a:t>是基於集中式控制的，這代表系統的靈活性和適應性受限。</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還有再生能源的變動性和不確定性，使得傳統的</a:t>
            </a:r>
            <a:r>
              <a:rPr lang="en-US" altLang="zh-TW" sz="1200" b="0" i="0" kern="1200" dirty="0">
                <a:solidFill>
                  <a:schemeClr val="tx1"/>
                </a:solidFill>
                <a:effectLst/>
                <a:latin typeface="+mn-lt"/>
                <a:ea typeface="+mn-ea"/>
                <a:cs typeface="+mn-cs"/>
              </a:rPr>
              <a:t>LFC</a:t>
            </a:r>
            <a:r>
              <a:rPr lang="zh-TW" altLang="en-US" sz="1200" b="0" i="0" kern="1200" dirty="0">
                <a:solidFill>
                  <a:schemeClr val="tx1"/>
                </a:solidFill>
                <a:effectLst/>
                <a:latin typeface="+mn-lt"/>
                <a:ea typeface="+mn-ea"/>
                <a:cs typeface="+mn-cs"/>
              </a:rPr>
              <a:t>方法難以確保系統頻率的穩定。</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所以作者</a:t>
            </a:r>
            <a:r>
              <a:rPr lang="zh-TW" altLang="en-US" sz="1200" dirty="0">
                <a:ea typeface="微軟正黑體" panose="020B0604030504040204" pitchFamily="34" charset="-120"/>
              </a:rPr>
              <a:t>使用分數階遞歸神經網絡</a:t>
            </a:r>
            <a:r>
              <a:rPr lang="en-US" altLang="zh-TW" sz="1200" dirty="0">
                <a:ea typeface="微軟正黑體" panose="020B0604030504040204" pitchFamily="34" charset="-120"/>
              </a:rPr>
              <a:t>(FORNN)</a:t>
            </a:r>
            <a:r>
              <a:rPr lang="zh-TW" altLang="en-US" sz="1200" dirty="0">
                <a:ea typeface="微軟正黑體" panose="020B0604030504040204" pitchFamily="34" charset="-120"/>
              </a:rPr>
              <a:t>和聯邦學習</a:t>
            </a:r>
            <a:r>
              <a:rPr lang="en-US" altLang="zh-TW" sz="1200" dirty="0">
                <a:ea typeface="微軟正黑體" panose="020B0604030504040204" pitchFamily="34" charset="-120"/>
              </a:rPr>
              <a:t>(FL)</a:t>
            </a:r>
            <a:r>
              <a:rPr lang="zh-TW" altLang="en-US" sz="1200" dirty="0">
                <a:latin typeface="微軟正黑體" panose="020B0604030504040204" pitchFamily="34" charset="-120"/>
                <a:ea typeface="微軟正黑體" panose="020B0604030504040204" pitchFamily="34" charset="-120"/>
              </a:rPr>
              <a:t>的新方法來進行頻率控制</a:t>
            </a:r>
            <a:endParaRPr lang="zh-TW" altLang="en-US" dirty="0"/>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3</a:t>
            </a:fld>
            <a:endParaRPr lang="zh-TW" altLang="en-US"/>
          </a:p>
        </p:txBody>
      </p:sp>
    </p:spTree>
    <p:extLst>
      <p:ext uri="{BB962C8B-B14F-4D97-AF65-F5344CB8AC3E}">
        <p14:creationId xmlns:p14="http://schemas.microsoft.com/office/powerpoint/2010/main" val="3195852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150000"/>
              </a:lnSpc>
            </a:pPr>
            <a:r>
              <a:rPr lang="en-US" altLang="zh-TW" sz="1200" dirty="0">
                <a:ea typeface="微軟正黑體" panose="020B0604030504040204" pitchFamily="34" charset="-120"/>
              </a:rPr>
              <a:t>FORNN</a:t>
            </a:r>
            <a:r>
              <a:rPr lang="zh-TW" altLang="en-US" sz="1200" dirty="0">
                <a:ea typeface="微軟正黑體" panose="020B0604030504040204" pitchFamily="34" charset="-120"/>
              </a:rPr>
              <a:t>是一種神經網絡模型，為</a:t>
            </a:r>
            <a:r>
              <a:rPr lang="en-US" altLang="zh-TW" sz="1200" dirty="0">
                <a:ea typeface="微軟正黑體" panose="020B0604030504040204" pitchFamily="34" charset="-120"/>
              </a:rPr>
              <a:t>RNN</a:t>
            </a:r>
            <a:r>
              <a:rPr lang="zh-TW" altLang="en-US" sz="1200" dirty="0">
                <a:ea typeface="微軟正黑體" panose="020B0604030504040204" pitchFamily="34" charset="-120"/>
              </a:rPr>
              <a:t>的延伸，以增強其動態行為和學習能力。</a:t>
            </a:r>
          </a:p>
          <a:p>
            <a:r>
              <a:rPr lang="zh-TW" altLang="en-US" sz="1200" b="0" kern="1200" dirty="0">
                <a:solidFill>
                  <a:schemeClr val="tx1"/>
                </a:solidFill>
                <a:effectLst/>
                <a:latin typeface="+mn-lt"/>
                <a:ea typeface="+mn-ea"/>
                <a:cs typeface="+mn-cs"/>
              </a:rPr>
              <a:t>該網絡的能量函數被最小化，以確定</a:t>
            </a:r>
            <a:r>
              <a:rPr lang="en-US" altLang="zh-TW" sz="1200" b="0" kern="1200" dirty="0">
                <a:solidFill>
                  <a:schemeClr val="tx1"/>
                </a:solidFill>
                <a:effectLst/>
                <a:latin typeface="+mn-lt"/>
                <a:ea typeface="+mn-ea"/>
                <a:cs typeface="+mn-cs"/>
              </a:rPr>
              <a:t>FORNN</a:t>
            </a:r>
            <a:r>
              <a:rPr lang="zh-TW" altLang="en-US" sz="1200" b="0" kern="1200" dirty="0">
                <a:solidFill>
                  <a:schemeClr val="tx1"/>
                </a:solidFill>
                <a:effectLst/>
                <a:latin typeface="+mn-lt"/>
                <a:ea typeface="+mn-ea"/>
                <a:cs typeface="+mn-cs"/>
              </a:rPr>
              <a:t>的參數，並且使用線性激活函數優化其性能。</a:t>
            </a:r>
          </a:p>
          <a:p>
            <a:r>
              <a:rPr lang="zh-TW" altLang="en-US" sz="1200" b="0" kern="1200" dirty="0">
                <a:solidFill>
                  <a:schemeClr val="tx1"/>
                </a:solidFill>
                <a:effectLst/>
                <a:latin typeface="+mn-lt"/>
                <a:ea typeface="+mn-ea"/>
                <a:cs typeface="+mn-cs"/>
              </a:rPr>
              <a:t>基於</a:t>
            </a:r>
            <a:r>
              <a:rPr lang="en-US" altLang="zh-TW" sz="1200" b="0" kern="1200" dirty="0">
                <a:solidFill>
                  <a:schemeClr val="tx1"/>
                </a:solidFill>
                <a:effectLst/>
                <a:latin typeface="+mn-lt"/>
                <a:ea typeface="+mn-ea"/>
                <a:cs typeface="+mn-cs"/>
              </a:rPr>
              <a:t>FORNN</a:t>
            </a:r>
            <a:r>
              <a:rPr lang="zh-TW" altLang="en-US" sz="1200" b="0" kern="1200" dirty="0">
                <a:solidFill>
                  <a:schemeClr val="tx1"/>
                </a:solidFill>
                <a:effectLst/>
                <a:latin typeface="+mn-lt"/>
                <a:ea typeface="+mn-ea"/>
                <a:cs typeface="+mn-cs"/>
              </a:rPr>
              <a:t>的</a:t>
            </a:r>
            <a:r>
              <a:rPr lang="en-US" altLang="zh-TW" sz="1200" b="0" kern="1200" dirty="0">
                <a:solidFill>
                  <a:schemeClr val="tx1"/>
                </a:solidFill>
                <a:effectLst/>
                <a:latin typeface="+mn-lt"/>
                <a:ea typeface="+mn-ea"/>
                <a:cs typeface="+mn-cs"/>
              </a:rPr>
              <a:t>PID</a:t>
            </a:r>
            <a:r>
              <a:rPr lang="zh-TW" altLang="en-US" sz="1200" b="0" kern="1200" dirty="0">
                <a:solidFill>
                  <a:schemeClr val="tx1"/>
                </a:solidFill>
                <a:effectLst/>
                <a:latin typeface="+mn-lt"/>
                <a:ea typeface="+mn-ea"/>
                <a:cs typeface="+mn-cs"/>
              </a:rPr>
              <a:t>控制器被設計用於調節像分佈式發電器（</a:t>
            </a:r>
            <a:r>
              <a:rPr lang="en-US" altLang="zh-TW" sz="1200" b="0" kern="1200" dirty="0">
                <a:solidFill>
                  <a:schemeClr val="tx1"/>
                </a:solidFill>
                <a:effectLst/>
                <a:latin typeface="+mn-lt"/>
                <a:ea typeface="+mn-ea"/>
                <a:cs typeface="+mn-cs"/>
              </a:rPr>
              <a:t>DGs</a:t>
            </a:r>
            <a:r>
              <a:rPr lang="zh-TW" altLang="en-US" sz="1200" b="0" kern="1200" dirty="0">
                <a:solidFill>
                  <a:schemeClr val="tx1"/>
                </a:solidFill>
                <a:effectLst/>
                <a:latin typeface="+mn-lt"/>
                <a:ea typeface="+mn-ea"/>
                <a:cs typeface="+mn-cs"/>
              </a:rPr>
              <a:t>）這樣的工廠系統，通過在互聯系統中最小化頻率誤差來實現。</a:t>
            </a:r>
          </a:p>
          <a:p>
            <a:r>
              <a:rPr lang="zh-TW" altLang="en-US" sz="1200" b="0" kern="1200" dirty="0">
                <a:solidFill>
                  <a:schemeClr val="tx1"/>
                </a:solidFill>
                <a:effectLst/>
                <a:latin typeface="+mn-lt"/>
                <a:ea typeface="+mn-ea"/>
                <a:cs typeface="+mn-cs"/>
              </a:rPr>
              <a:t>計算網絡的動態以調整參數並最小化能量函數，從而增強</a:t>
            </a:r>
            <a:r>
              <a:rPr lang="en-US" altLang="zh-TW" sz="1200" b="0" kern="1200" dirty="0">
                <a:solidFill>
                  <a:schemeClr val="tx1"/>
                </a:solidFill>
                <a:effectLst/>
                <a:latin typeface="+mn-lt"/>
                <a:ea typeface="+mn-ea"/>
                <a:cs typeface="+mn-cs"/>
              </a:rPr>
              <a:t>PID</a:t>
            </a:r>
            <a:r>
              <a:rPr lang="zh-TW" altLang="en-US" sz="1200" b="0" kern="1200" dirty="0">
                <a:solidFill>
                  <a:schemeClr val="tx1"/>
                </a:solidFill>
                <a:effectLst/>
                <a:latin typeface="+mn-lt"/>
                <a:ea typeface="+mn-ea"/>
                <a:cs typeface="+mn-cs"/>
              </a:rPr>
              <a:t>控制器的控制功能。</a:t>
            </a:r>
          </a:p>
          <a:p>
            <a:r>
              <a:rPr lang="en-US" altLang="zh-TW" sz="1200" b="0" kern="1200" dirty="0">
                <a:solidFill>
                  <a:schemeClr val="tx1"/>
                </a:solidFill>
                <a:effectLst/>
                <a:latin typeface="+mn-lt"/>
                <a:ea typeface="+mn-ea"/>
                <a:cs typeface="+mn-cs"/>
              </a:rPr>
              <a:t>FORNN</a:t>
            </a:r>
            <a:r>
              <a:rPr lang="zh-TW" altLang="en-US" sz="1200" b="0" kern="1200" dirty="0">
                <a:solidFill>
                  <a:schemeClr val="tx1"/>
                </a:solidFill>
                <a:effectLst/>
                <a:latin typeface="+mn-lt"/>
                <a:ea typeface="+mn-ea"/>
                <a:cs typeface="+mn-cs"/>
              </a:rPr>
              <a:t>的分數梯度行為使其能夠在控制複雜系統中具有更好的適應性和效率，使其成為去中心化頻率控制和能源管理應用中的寶貴工具。</a:t>
            </a:r>
            <a:endParaRPr lang="en-US" altLang="zh-TW" sz="1200" b="0" kern="1200" dirty="0">
              <a:solidFill>
                <a:schemeClr val="tx1"/>
              </a:solidFill>
              <a:effectLst/>
              <a:latin typeface="+mn-lt"/>
              <a:ea typeface="+mn-ea"/>
              <a:cs typeface="+mn-cs"/>
            </a:endParaRPr>
          </a:p>
          <a:p>
            <a:endParaRPr lang="en-US" altLang="zh-TW"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FL</a:t>
            </a:r>
            <a:r>
              <a:rPr lang="zh-TW" altLang="en-US" sz="1200" b="0" i="0" kern="1200" dirty="0">
                <a:solidFill>
                  <a:schemeClr val="tx1"/>
                </a:solidFill>
                <a:effectLst/>
                <a:latin typeface="+mn-lt"/>
                <a:ea typeface="+mn-ea"/>
                <a:cs typeface="+mn-cs"/>
              </a:rPr>
              <a:t>是一種分散式機器學習方法，各個節點在本地儲存和處理自己的數據，然後通過聯邦學習算法共同訓練模型，並共享模型參數。允許節點在保護隱私的情況下共享資訊，提高了全局模型的建立效率和性能。</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4</a:t>
            </a:fld>
            <a:endParaRPr lang="zh-TW" altLang="en-US"/>
          </a:p>
        </p:txBody>
      </p:sp>
    </p:spTree>
    <p:extLst>
      <p:ext uri="{BB962C8B-B14F-4D97-AF65-F5344CB8AC3E}">
        <p14:creationId xmlns:p14="http://schemas.microsoft.com/office/powerpoint/2010/main" val="2410236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kern="1200" dirty="0">
                <a:solidFill>
                  <a:schemeClr val="tx1"/>
                </a:solidFill>
                <a:effectLst/>
                <a:latin typeface="+mn-lt"/>
                <a:ea typeface="+mn-ea"/>
                <a:cs typeface="+mn-cs"/>
              </a:rPr>
              <a:t>本文的主要貢獻如下：</a:t>
            </a:r>
          </a:p>
          <a:p>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透過計算 </a:t>
            </a:r>
            <a:r>
              <a:rPr lang="en-US" altLang="zh-TW" sz="1200" b="0" kern="1200" dirty="0">
                <a:solidFill>
                  <a:schemeClr val="tx1"/>
                </a:solidFill>
                <a:effectLst/>
                <a:latin typeface="+mn-lt"/>
                <a:ea typeface="+mn-ea"/>
                <a:cs typeface="+mn-cs"/>
              </a:rPr>
              <a:t>SCPM </a:t>
            </a:r>
            <a:r>
              <a:rPr lang="zh-TW" altLang="en-US" sz="1200" b="0" kern="1200" dirty="0">
                <a:solidFill>
                  <a:schemeClr val="tx1"/>
                </a:solidFill>
                <a:effectLst/>
                <a:latin typeface="+mn-lt"/>
                <a:ea typeface="+mn-ea"/>
                <a:cs typeface="+mn-cs"/>
              </a:rPr>
              <a:t>實現產消者和消費者之間基於 </a:t>
            </a:r>
            <a:r>
              <a:rPr lang="en-US" altLang="zh-TW" sz="1200" b="0" kern="1200" dirty="0" err="1">
                <a:solidFill>
                  <a:schemeClr val="tx1"/>
                </a:solidFill>
                <a:effectLst/>
                <a:latin typeface="+mn-lt"/>
                <a:ea typeface="+mn-ea"/>
                <a:cs typeface="+mn-cs"/>
              </a:rPr>
              <a:t>PoA</a:t>
            </a:r>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的 </a:t>
            </a:r>
            <a:r>
              <a:rPr lang="en-US" altLang="zh-TW" sz="1200" b="0" kern="1200" dirty="0">
                <a:solidFill>
                  <a:schemeClr val="tx1"/>
                </a:solidFill>
                <a:effectLst/>
                <a:latin typeface="+mn-lt"/>
                <a:ea typeface="+mn-ea"/>
                <a:cs typeface="+mn-cs"/>
              </a:rPr>
              <a:t>P2P </a:t>
            </a:r>
            <a:r>
              <a:rPr lang="zh-TW" altLang="en-US" sz="1200" b="0" kern="1200" dirty="0">
                <a:solidFill>
                  <a:schemeClr val="tx1"/>
                </a:solidFill>
                <a:effectLst/>
                <a:latin typeface="+mn-lt"/>
                <a:ea typeface="+mn-ea"/>
                <a:cs typeface="+mn-cs"/>
              </a:rPr>
              <a:t>能源交易的私有區塊鏈網絡，並與 </a:t>
            </a:r>
            <a:r>
              <a:rPr lang="en-US" altLang="zh-TW" sz="1200" b="0" kern="1200" dirty="0">
                <a:solidFill>
                  <a:schemeClr val="tx1"/>
                </a:solidFill>
                <a:effectLst/>
                <a:latin typeface="+mn-lt"/>
                <a:ea typeface="+mn-ea"/>
                <a:cs typeface="+mn-cs"/>
              </a:rPr>
              <a:t>MG </a:t>
            </a:r>
            <a:r>
              <a:rPr lang="zh-TW" altLang="en-US" sz="1200" b="0" kern="1200" dirty="0">
                <a:solidFill>
                  <a:schemeClr val="tx1"/>
                </a:solidFill>
                <a:effectLst/>
                <a:latin typeface="+mn-lt"/>
                <a:ea typeface="+mn-ea"/>
                <a:cs typeface="+mn-cs"/>
              </a:rPr>
              <a:t>系統的去中心化頻率調節相結合。</a:t>
            </a:r>
          </a:p>
          <a:p>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基於 </a:t>
            </a:r>
            <a:r>
              <a:rPr lang="en-US" altLang="zh-TW" sz="1200" b="0" kern="1200" dirty="0">
                <a:solidFill>
                  <a:schemeClr val="tx1"/>
                </a:solidFill>
                <a:effectLst/>
                <a:latin typeface="+mn-lt"/>
                <a:ea typeface="+mn-ea"/>
                <a:cs typeface="+mn-cs"/>
              </a:rPr>
              <a:t>FORNN </a:t>
            </a:r>
            <a:r>
              <a:rPr lang="zh-TW" altLang="en-US" sz="1200" b="0" kern="1200" dirty="0">
                <a:solidFill>
                  <a:schemeClr val="tx1"/>
                </a:solidFill>
                <a:effectLst/>
                <a:latin typeface="+mn-lt"/>
                <a:ea typeface="+mn-ea"/>
                <a:cs typeface="+mn-cs"/>
              </a:rPr>
              <a:t>的 </a:t>
            </a:r>
            <a:r>
              <a:rPr lang="en-US" altLang="zh-TW" sz="1200" b="0" kern="1200" dirty="0">
                <a:solidFill>
                  <a:schemeClr val="tx1"/>
                </a:solidFill>
                <a:effectLst/>
                <a:latin typeface="+mn-lt"/>
                <a:ea typeface="+mn-ea"/>
                <a:cs typeface="+mn-cs"/>
              </a:rPr>
              <a:t>PID </a:t>
            </a:r>
            <a:r>
              <a:rPr lang="zh-TW" altLang="en-US" sz="1200" b="0" kern="1200" dirty="0">
                <a:solidFill>
                  <a:schemeClr val="tx1"/>
                </a:solidFill>
                <a:effectLst/>
                <a:latin typeface="+mn-lt"/>
                <a:ea typeface="+mn-ea"/>
                <a:cs typeface="+mn-cs"/>
              </a:rPr>
              <a:t>控制器設計嵌入了聯邦學習技術，以增強孤島 </a:t>
            </a:r>
            <a:r>
              <a:rPr lang="en-US" altLang="zh-TW" sz="1200" b="0" kern="1200" dirty="0">
                <a:solidFill>
                  <a:schemeClr val="tx1"/>
                </a:solidFill>
                <a:effectLst/>
                <a:latin typeface="+mn-lt"/>
                <a:ea typeface="+mn-ea"/>
                <a:cs typeface="+mn-cs"/>
              </a:rPr>
              <a:t>MG </a:t>
            </a:r>
            <a:r>
              <a:rPr lang="zh-TW" altLang="en-US" sz="1200" b="0" kern="1200" dirty="0">
                <a:solidFill>
                  <a:schemeClr val="tx1"/>
                </a:solidFill>
                <a:effectLst/>
                <a:latin typeface="+mn-lt"/>
                <a:ea typeface="+mn-ea"/>
                <a:cs typeface="+mn-cs"/>
              </a:rPr>
              <a:t>系統的頻率調節。</a:t>
            </a:r>
          </a:p>
          <a:p>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針對孤島</a:t>
            </a:r>
            <a:r>
              <a:rPr lang="en-US" altLang="zh-TW" sz="1200" b="0" kern="1200" dirty="0">
                <a:solidFill>
                  <a:schemeClr val="tx1"/>
                </a:solidFill>
                <a:effectLst/>
                <a:latin typeface="+mn-lt"/>
                <a:ea typeface="+mn-ea"/>
                <a:cs typeface="+mn-cs"/>
              </a:rPr>
              <a:t>MG</a:t>
            </a:r>
            <a:r>
              <a:rPr lang="zh-TW" altLang="en-US" sz="1200" b="0" kern="1200" dirty="0">
                <a:solidFill>
                  <a:schemeClr val="tx1"/>
                </a:solidFill>
                <a:effectLst/>
                <a:latin typeface="+mn-lt"/>
                <a:ea typeface="+mn-ea"/>
                <a:cs typeface="+mn-cs"/>
              </a:rPr>
              <a:t>系統展示了基於區塊鏈的分散頻率控制的實施，以證明其可行性和有效性所提出的控制技術。</a:t>
            </a:r>
          </a:p>
          <a:p>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開發的頻率控制演算法已被驗證，透過將 </a:t>
            </a:r>
            <a:r>
              <a:rPr lang="en-US" altLang="zh-TW" sz="1200" b="0" kern="1200" dirty="0">
                <a:solidFill>
                  <a:schemeClr val="tx1"/>
                </a:solidFill>
                <a:effectLst/>
                <a:latin typeface="+mn-lt"/>
                <a:ea typeface="+mn-ea"/>
                <a:cs typeface="+mn-cs"/>
              </a:rPr>
              <a:t>OPAL-RT </a:t>
            </a:r>
            <a:r>
              <a:rPr lang="zh-TW" altLang="en-US" sz="1200" b="0" kern="1200" dirty="0">
                <a:solidFill>
                  <a:schemeClr val="tx1"/>
                </a:solidFill>
                <a:effectLst/>
                <a:latin typeface="+mn-lt"/>
                <a:ea typeface="+mn-ea"/>
                <a:cs typeface="+mn-cs"/>
              </a:rPr>
              <a:t>與 </a:t>
            </a:r>
            <a:r>
              <a:rPr lang="en-US" altLang="zh-TW" sz="1200" b="0" kern="1200" dirty="0">
                <a:solidFill>
                  <a:schemeClr val="tx1"/>
                </a:solidFill>
                <a:effectLst/>
                <a:latin typeface="+mn-lt"/>
                <a:ea typeface="+mn-ea"/>
                <a:cs typeface="+mn-cs"/>
              </a:rPr>
              <a:t>Raspberry Pi </a:t>
            </a:r>
            <a:r>
              <a:rPr lang="zh-TW" altLang="en-US" sz="1200" b="0" kern="1200" dirty="0">
                <a:solidFill>
                  <a:schemeClr val="tx1"/>
                </a:solidFill>
                <a:effectLst/>
                <a:latin typeface="+mn-lt"/>
                <a:ea typeface="+mn-ea"/>
                <a:cs typeface="+mn-cs"/>
              </a:rPr>
              <a:t>設備連接以作為區塊鏈節點運行。</a:t>
            </a:r>
          </a:p>
          <a:p>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所提出的分散控制方案的效能以集中方法和傳統</a:t>
            </a:r>
            <a:r>
              <a:rPr lang="en-US" altLang="zh-TW" sz="1200" b="0" kern="1200" dirty="0">
                <a:solidFill>
                  <a:schemeClr val="tx1"/>
                </a:solidFill>
                <a:effectLst/>
                <a:latin typeface="+mn-lt"/>
                <a:ea typeface="+mn-ea"/>
                <a:cs typeface="+mn-cs"/>
              </a:rPr>
              <a:t>LFC</a:t>
            </a:r>
            <a:r>
              <a:rPr lang="zh-TW" altLang="en-US" sz="1200" b="0" kern="1200" dirty="0">
                <a:solidFill>
                  <a:schemeClr val="tx1"/>
                </a:solidFill>
                <a:effectLst/>
                <a:latin typeface="+mn-lt"/>
                <a:ea typeface="+mn-ea"/>
                <a:cs typeface="+mn-cs"/>
              </a:rPr>
              <a:t>系統為基準。</a:t>
            </a:r>
          </a:p>
          <a:p>
            <a:endParaRPr lang="zh-TW" altLang="en-US" dirty="0"/>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5</a:t>
            </a:fld>
            <a:endParaRPr lang="zh-TW" altLang="en-US"/>
          </a:p>
        </p:txBody>
      </p:sp>
    </p:spTree>
    <p:extLst>
      <p:ext uri="{BB962C8B-B14F-4D97-AF65-F5344CB8AC3E}">
        <p14:creationId xmlns:p14="http://schemas.microsoft.com/office/powerpoint/2010/main" val="523491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灰色地帶</a:t>
            </a:r>
            <a:r>
              <a:rPr lang="en-US" altLang="zh-TW" dirty="0"/>
              <a:t>:</a:t>
            </a:r>
            <a:r>
              <a:rPr lang="zh-TW" altLang="en-US" dirty="0"/>
              <a:t> 接受</a:t>
            </a:r>
            <a:r>
              <a:rPr lang="en-US" altLang="zh-TW" dirty="0"/>
              <a:t>SCPM</a:t>
            </a:r>
            <a:r>
              <a:rPr lang="zh-TW" altLang="en-US" dirty="0"/>
              <a:t>，並根據</a:t>
            </a:r>
            <a:r>
              <a:rPr lang="en-US" altLang="zh-TW" dirty="0"/>
              <a:t>SCPM</a:t>
            </a:r>
            <a:r>
              <a:rPr lang="zh-TW" altLang="en-US" dirty="0"/>
              <a:t>的參數進行電力調節。</a:t>
            </a:r>
            <a:endParaRPr lang="en-US" altLang="zh-TW" dirty="0"/>
          </a:p>
          <a:p>
            <a:r>
              <a:rPr lang="en-US" altLang="zh-TW" dirty="0"/>
              <a:t>RT-Lab, OPAL-RT</a:t>
            </a:r>
            <a:r>
              <a:rPr lang="zh-TW" altLang="en-US" dirty="0"/>
              <a:t>為即時模擬系統</a:t>
            </a:r>
            <a:endParaRPr lang="en-US" altLang="zh-TW" dirty="0"/>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6</a:t>
            </a:fld>
            <a:endParaRPr lang="zh-TW" altLang="en-US"/>
          </a:p>
        </p:txBody>
      </p:sp>
    </p:spTree>
    <p:extLst>
      <p:ext uri="{BB962C8B-B14F-4D97-AF65-F5344CB8AC3E}">
        <p14:creationId xmlns:p14="http://schemas.microsoft.com/office/powerpoint/2010/main" val="426913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a:t>
            </a:r>
            <a:r>
              <a:rPr lang="en-US" altLang="zh-TW" sz="1200" b="0" kern="1200" dirty="0">
                <a:solidFill>
                  <a:schemeClr val="tx1"/>
                </a:solidFill>
                <a:effectLst/>
                <a:latin typeface="+mn-lt"/>
                <a:ea typeface="+mn-ea"/>
                <a:cs typeface="+mn-cs"/>
              </a:rPr>
              <a:t>Proof of Authority</a:t>
            </a:r>
            <a:r>
              <a:rPr lang="zh-TW" altLang="en-US" sz="1200" b="0" kern="1200" dirty="0">
                <a:solidFill>
                  <a:schemeClr val="tx1"/>
                </a:solidFill>
                <a:effectLst/>
                <a:latin typeface="+mn-lt"/>
                <a:ea typeface="+mn-ea"/>
                <a:cs typeface="+mn-cs"/>
              </a:rPr>
              <a:t>）是一種共識機制，用於區塊鏈網絡中確定交易的有效性。</a:t>
            </a:r>
          </a:p>
          <a:p>
            <a:r>
              <a:rPr lang="zh-TW" altLang="en-US" sz="1200" b="0" kern="1200" dirty="0">
                <a:solidFill>
                  <a:schemeClr val="tx1"/>
                </a:solidFill>
                <a:effectLst/>
                <a:latin typeface="+mn-lt"/>
                <a:ea typeface="+mn-ea"/>
                <a:cs typeface="+mn-cs"/>
              </a:rPr>
              <a:t>在</a:t>
            </a:r>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中，節點的驗證權威是基於其聲譽而不是計算能力。</a:t>
            </a:r>
          </a:p>
          <a:p>
            <a:r>
              <a:rPr lang="zh-TW" altLang="en-US" sz="1200" b="0" kern="1200" dirty="0">
                <a:solidFill>
                  <a:schemeClr val="tx1"/>
                </a:solidFill>
                <a:effectLst/>
                <a:latin typeface="+mn-lt"/>
                <a:ea typeface="+mn-ea"/>
                <a:cs typeface="+mn-cs"/>
              </a:rPr>
              <a:t>只有被預先批准的、被視為值得信賴的節點才能進行交易驗證和區塊生成。</a:t>
            </a:r>
          </a:p>
          <a:p>
            <a:r>
              <a:rPr lang="zh-TW" altLang="en-US" sz="1200" b="0" kern="1200" dirty="0">
                <a:solidFill>
                  <a:schemeClr val="tx1"/>
                </a:solidFill>
                <a:effectLst/>
                <a:latin typeface="+mn-lt"/>
                <a:ea typeface="+mn-ea"/>
                <a:cs typeface="+mn-cs"/>
              </a:rPr>
              <a:t>這些節點被指定為驗證者，並且負責檢查交易並維護</a:t>
            </a:r>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區塊鏈的安全性。</a:t>
            </a:r>
          </a:p>
          <a:p>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的主要優勢是計算負擔較小，參與者之間不存在信任問題，並且每秒可以執行更多的交易。</a:t>
            </a:r>
          </a:p>
          <a:p>
            <a:r>
              <a:rPr lang="zh-TW" altLang="en-US" sz="1200" b="0" kern="1200" dirty="0">
                <a:solidFill>
                  <a:schemeClr val="tx1"/>
                </a:solidFill>
                <a:effectLst/>
                <a:latin typeface="+mn-lt"/>
                <a:ea typeface="+mn-ea"/>
                <a:cs typeface="+mn-cs"/>
              </a:rPr>
              <a:t>因此，</a:t>
            </a:r>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被廣泛應用於實現去中心化的應用場景，如能源市場等。</a:t>
            </a:r>
          </a:p>
          <a:p>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區塊鏈的核心是交易帳本，它追蹤所有包含資料交易的區塊，並且</a:t>
            </a:r>
            <a:r>
              <a:rPr lang="en-US" altLang="zh-TW" sz="1200" b="0" kern="1200" dirty="0">
                <a:solidFill>
                  <a:schemeClr val="tx1"/>
                </a:solidFill>
                <a:effectLst/>
                <a:latin typeface="+mn-lt"/>
                <a:ea typeface="+mn-ea"/>
                <a:cs typeface="+mn-cs"/>
              </a:rPr>
              <a:t>middleware</a:t>
            </a:r>
            <a:r>
              <a:rPr lang="zh-TW" altLang="en-US" sz="1200" b="0" kern="1200" dirty="0">
                <a:solidFill>
                  <a:schemeClr val="tx1"/>
                </a:solidFill>
                <a:effectLst/>
                <a:latin typeface="+mn-lt"/>
                <a:ea typeface="+mn-ea"/>
                <a:cs typeface="+mn-cs"/>
              </a:rPr>
              <a:t>是應用程式和</a:t>
            </a:r>
            <a:r>
              <a:rPr lang="en-US" altLang="zh-TW" sz="1200" b="0" kern="1200" dirty="0" err="1">
                <a:solidFill>
                  <a:schemeClr val="tx1"/>
                </a:solidFill>
                <a:effectLst/>
                <a:latin typeface="+mn-lt"/>
                <a:ea typeface="+mn-ea"/>
                <a:cs typeface="+mn-cs"/>
              </a:rPr>
              <a:t>PoA</a:t>
            </a:r>
            <a:r>
              <a:rPr lang="zh-TW" altLang="en-US" sz="1200" b="0" kern="1200" dirty="0">
                <a:solidFill>
                  <a:schemeClr val="tx1"/>
                </a:solidFill>
                <a:effectLst/>
                <a:latin typeface="+mn-lt"/>
                <a:ea typeface="+mn-ea"/>
                <a:cs typeface="+mn-cs"/>
              </a:rPr>
              <a:t>區塊鏈之間的橋樑，有助於前端連結到資料庫和區塊鏈。</a:t>
            </a: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7</a:t>
            </a:fld>
            <a:endParaRPr lang="zh-TW" altLang="en-US"/>
          </a:p>
        </p:txBody>
      </p:sp>
    </p:spTree>
    <p:extLst>
      <p:ext uri="{BB962C8B-B14F-4D97-AF65-F5344CB8AC3E}">
        <p14:creationId xmlns:p14="http://schemas.microsoft.com/office/powerpoint/2010/main" val="828085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Step 1: </a:t>
            </a:r>
            <a:r>
              <a:rPr lang="zh-TW" altLang="en-US" sz="1200" b="0" i="0" kern="1200" dirty="0">
                <a:solidFill>
                  <a:schemeClr val="tx1"/>
                </a:solidFill>
                <a:effectLst/>
                <a:latin typeface="+mn-lt"/>
                <a:ea typeface="+mn-ea"/>
                <a:cs typeface="+mn-cs"/>
              </a:rPr>
              <a:t>使用</a:t>
            </a:r>
            <a:r>
              <a:rPr lang="en-US" altLang="zh-TW" sz="1200" b="0" i="0" kern="1200" dirty="0">
                <a:solidFill>
                  <a:schemeClr val="tx1"/>
                </a:solidFill>
                <a:effectLst/>
                <a:latin typeface="+mn-lt"/>
                <a:ea typeface="+mn-ea"/>
                <a:cs typeface="+mn-cs"/>
              </a:rPr>
              <a:t>Python</a:t>
            </a:r>
            <a:r>
              <a:rPr lang="zh-TW" altLang="en-US" sz="1200" b="0" i="0" kern="1200" dirty="0">
                <a:solidFill>
                  <a:schemeClr val="tx1"/>
                </a:solidFill>
                <a:effectLst/>
                <a:latin typeface="+mn-lt"/>
                <a:ea typeface="+mn-ea"/>
                <a:cs typeface="+mn-cs"/>
              </a:rPr>
              <a:t>腳本（</a:t>
            </a:r>
            <a:r>
              <a:rPr lang="en-US" altLang="zh-TW" sz="1200" b="0" i="0" kern="1200" dirty="0">
                <a:solidFill>
                  <a:schemeClr val="tx1"/>
                </a:solidFill>
                <a:effectLst/>
                <a:latin typeface="+mn-lt"/>
                <a:ea typeface="+mn-ea"/>
                <a:cs typeface="+mn-cs"/>
              </a:rPr>
              <a:t>'startnode.cmd'</a:t>
            </a:r>
            <a:r>
              <a:rPr lang="zh-TW" altLang="en-US" sz="1200" b="0" i="0" kern="1200" dirty="0">
                <a:solidFill>
                  <a:schemeClr val="tx1"/>
                </a:solidFill>
                <a:effectLst/>
                <a:latin typeface="+mn-lt"/>
                <a:ea typeface="+mn-ea"/>
                <a:cs typeface="+mn-cs"/>
              </a:rPr>
              <a:t>）初始化區塊鏈節點，從</a:t>
            </a:r>
            <a:r>
              <a:rPr lang="en-US" altLang="zh-TW" sz="1200" b="0" i="0" kern="1200" dirty="0">
                <a:solidFill>
                  <a:schemeClr val="tx1"/>
                </a:solidFill>
                <a:effectLst/>
                <a:latin typeface="+mn-lt"/>
                <a:ea typeface="+mn-ea"/>
                <a:cs typeface="+mn-cs"/>
              </a:rPr>
              <a:t>boot node</a:t>
            </a:r>
            <a:r>
              <a:rPr lang="zh-TW" altLang="en-US" sz="1200" b="0" i="0" kern="1200" dirty="0">
                <a:solidFill>
                  <a:schemeClr val="tx1"/>
                </a:solidFill>
                <a:effectLst/>
                <a:latin typeface="+mn-lt"/>
                <a:ea typeface="+mn-ea"/>
                <a:cs typeface="+mn-cs"/>
              </a:rPr>
              <a:t>開始，然後初始化其他參與交易的</a:t>
            </a:r>
            <a:r>
              <a:rPr lang="en-US" altLang="zh-TW" sz="1200" b="0" i="0" kern="1200" dirty="0">
                <a:solidFill>
                  <a:schemeClr val="tx1"/>
                </a:solidFill>
                <a:effectLst/>
                <a:latin typeface="+mn-lt"/>
                <a:ea typeface="+mn-ea"/>
                <a:cs typeface="+mn-cs"/>
              </a:rPr>
              <a:t>prosumer</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consumer</a:t>
            </a:r>
            <a:r>
              <a:rPr lang="zh-TW" altLang="en-US" sz="1200" b="0" i="0" kern="1200" dirty="0">
                <a:solidFill>
                  <a:schemeClr val="tx1"/>
                </a:solidFill>
                <a:effectLst/>
                <a:latin typeface="+mn-lt"/>
                <a:ea typeface="+mn-ea"/>
                <a:cs typeface="+mn-cs"/>
              </a:rPr>
              <a:t>節點。</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Step 2: </a:t>
            </a:r>
            <a:r>
              <a:rPr lang="zh-TW" altLang="en-US" sz="1200" b="0" i="0" kern="1200" dirty="0">
                <a:solidFill>
                  <a:schemeClr val="tx1"/>
                </a:solidFill>
                <a:effectLst/>
                <a:latin typeface="+mn-lt"/>
                <a:ea typeface="+mn-ea"/>
                <a:cs typeface="+mn-cs"/>
              </a:rPr>
              <a:t>創建一個</a:t>
            </a:r>
            <a:r>
              <a:rPr lang="en-US" altLang="zh-TW" sz="1200" b="0" i="0" kern="1200" dirty="0">
                <a:solidFill>
                  <a:schemeClr val="tx1"/>
                </a:solidFill>
                <a:effectLst/>
                <a:latin typeface="+mn-lt"/>
                <a:ea typeface="+mn-ea"/>
                <a:cs typeface="+mn-cs"/>
              </a:rPr>
              <a:t>Python</a:t>
            </a:r>
            <a:r>
              <a:rPr lang="zh-TW" altLang="en-US" sz="1200" b="0" i="0" kern="1200" dirty="0">
                <a:solidFill>
                  <a:schemeClr val="tx1"/>
                </a:solidFill>
                <a:effectLst/>
                <a:latin typeface="+mn-lt"/>
                <a:ea typeface="+mn-ea"/>
                <a:cs typeface="+mn-cs"/>
              </a:rPr>
              <a:t>程式（</a:t>
            </a:r>
            <a:r>
              <a:rPr lang="en-US" altLang="zh-TW" sz="1200" b="0" i="0" kern="1200" dirty="0">
                <a:solidFill>
                  <a:schemeClr val="tx1"/>
                </a:solidFill>
                <a:effectLst/>
                <a:latin typeface="+mn-lt"/>
                <a:ea typeface="+mn-ea"/>
                <a:cs typeface="+mn-cs"/>
              </a:rPr>
              <a:t>‘timing.py’</a:t>
            </a:r>
            <a:r>
              <a:rPr lang="zh-TW" altLang="en-US" sz="1200" b="0" i="0" kern="1200" dirty="0">
                <a:solidFill>
                  <a:schemeClr val="tx1"/>
                </a:solidFill>
                <a:effectLst/>
                <a:latin typeface="+mn-lt"/>
                <a:ea typeface="+mn-ea"/>
                <a:cs typeface="+mn-cs"/>
              </a:rPr>
              <a:t>）來控制循環迴圈的周期，以便每個周期進行資料的儲存和分析。運行這隻程式會顯示如消費者需求、生產者發電詳情、分配矩陣和功率參考值等結果。</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Step 3: </a:t>
            </a:r>
            <a:r>
              <a:rPr lang="zh-TW" altLang="en-US" sz="1200" b="0" i="0" kern="1200" dirty="0">
                <a:solidFill>
                  <a:schemeClr val="tx1"/>
                </a:solidFill>
                <a:effectLst/>
                <a:latin typeface="+mn-lt"/>
                <a:ea typeface="+mn-ea"/>
                <a:cs typeface="+mn-cs"/>
              </a:rPr>
              <a:t>在預定範圍內生成</a:t>
            </a:r>
            <a:r>
              <a:rPr lang="en-US" altLang="zh-TW" sz="1200" b="0" i="0" kern="1200" dirty="0">
                <a:solidFill>
                  <a:schemeClr val="tx1"/>
                </a:solidFill>
                <a:effectLst/>
                <a:latin typeface="+mn-lt"/>
                <a:ea typeface="+mn-ea"/>
                <a:cs typeface="+mn-cs"/>
              </a:rPr>
              <a:t>consumer</a:t>
            </a:r>
            <a:r>
              <a:rPr lang="zh-TW" altLang="en-US" sz="1200" b="0" i="0" kern="1200" dirty="0">
                <a:solidFill>
                  <a:schemeClr val="tx1"/>
                </a:solidFill>
                <a:effectLst/>
                <a:latin typeface="+mn-lt"/>
                <a:ea typeface="+mn-ea"/>
                <a:cs typeface="+mn-cs"/>
              </a:rPr>
              <a:t>需求的隨機數量和價格值。通過調用智能合約函數將此數據儲存在區塊鏈中，並根據</a:t>
            </a:r>
            <a:r>
              <a:rPr lang="en-US" altLang="zh-TW" sz="1200" b="0" i="0" kern="1200" dirty="0">
                <a:solidFill>
                  <a:schemeClr val="tx1"/>
                </a:solidFill>
                <a:effectLst/>
                <a:latin typeface="+mn-lt"/>
                <a:ea typeface="+mn-ea"/>
                <a:cs typeface="+mn-cs"/>
              </a:rPr>
              <a:t>bidding price</a:t>
            </a:r>
            <a:r>
              <a:rPr lang="zh-TW" altLang="en-US" sz="1200" b="0" i="0" kern="1200" dirty="0">
                <a:solidFill>
                  <a:schemeClr val="tx1"/>
                </a:solidFill>
                <a:effectLst/>
                <a:latin typeface="+mn-lt"/>
                <a:ea typeface="+mn-ea"/>
                <a:cs typeface="+mn-cs"/>
              </a:rPr>
              <a:t>按降序排序需求。</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Step 4: </a:t>
            </a:r>
            <a:r>
              <a:rPr lang="zh-TW" altLang="en-US" sz="1200" b="0" i="0" kern="1200" dirty="0">
                <a:solidFill>
                  <a:schemeClr val="tx1"/>
                </a:solidFill>
                <a:effectLst/>
                <a:latin typeface="+mn-lt"/>
                <a:ea typeface="+mn-ea"/>
                <a:cs typeface="+mn-cs"/>
              </a:rPr>
              <a:t>隨機生成生產者的最大容量和能源價格，將其存儲在區塊鏈中，並按</a:t>
            </a:r>
            <a:r>
              <a:rPr lang="en-US" altLang="zh-TW" sz="1200" b="0" i="0" kern="1200" dirty="0">
                <a:solidFill>
                  <a:schemeClr val="tx1"/>
                </a:solidFill>
                <a:effectLst/>
                <a:latin typeface="+mn-lt"/>
                <a:ea typeface="+mn-ea"/>
                <a:cs typeface="+mn-cs"/>
              </a:rPr>
              <a:t>selling price</a:t>
            </a:r>
            <a:r>
              <a:rPr lang="zh-TW" altLang="en-US" sz="1200" b="0" i="0" kern="1200" dirty="0">
                <a:solidFill>
                  <a:schemeClr val="tx1"/>
                </a:solidFill>
                <a:effectLst/>
                <a:latin typeface="+mn-lt"/>
                <a:ea typeface="+mn-ea"/>
                <a:cs typeface="+mn-cs"/>
              </a:rPr>
              <a:t>升序排序。</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Step 5: </a:t>
            </a:r>
            <a:r>
              <a:rPr lang="zh-TW" altLang="en-US" sz="1200" b="0" i="0" kern="1200" dirty="0">
                <a:solidFill>
                  <a:schemeClr val="tx1"/>
                </a:solidFill>
                <a:effectLst/>
                <a:latin typeface="+mn-lt"/>
                <a:ea typeface="+mn-ea"/>
                <a:cs typeface="+mn-cs"/>
              </a:rPr>
              <a:t>根據</a:t>
            </a:r>
            <a:r>
              <a:rPr lang="en-US" altLang="zh-TW" sz="1200" b="0" i="0" kern="1200" dirty="0">
                <a:solidFill>
                  <a:schemeClr val="tx1"/>
                </a:solidFill>
                <a:effectLst/>
                <a:latin typeface="+mn-lt"/>
                <a:ea typeface="+mn-ea"/>
                <a:cs typeface="+mn-cs"/>
              </a:rPr>
              <a:t>Power Dispatch</a:t>
            </a:r>
            <a:r>
              <a:rPr lang="zh-TW" altLang="en-US" sz="1200" b="0" i="0" kern="1200" dirty="0">
                <a:solidFill>
                  <a:schemeClr val="tx1"/>
                </a:solidFill>
                <a:effectLst/>
                <a:latin typeface="+mn-lt"/>
                <a:ea typeface="+mn-ea"/>
                <a:cs typeface="+mn-cs"/>
              </a:rPr>
              <a:t>函數和</a:t>
            </a:r>
            <a:r>
              <a:rPr lang="en-US" altLang="zh-TW" sz="1200" b="0" i="0" kern="1200" dirty="0">
                <a:solidFill>
                  <a:schemeClr val="tx1"/>
                </a:solidFill>
                <a:effectLst/>
                <a:latin typeface="+mn-lt"/>
                <a:ea typeface="+mn-ea"/>
                <a:cs typeface="+mn-cs"/>
              </a:rPr>
              <a:t>SCPM</a:t>
            </a:r>
            <a:r>
              <a:rPr lang="zh-TW" altLang="en-US" sz="1200" b="0" i="0" kern="1200" dirty="0">
                <a:solidFill>
                  <a:schemeClr val="tx1"/>
                </a:solidFill>
                <a:effectLst/>
                <a:latin typeface="+mn-lt"/>
                <a:ea typeface="+mn-ea"/>
                <a:cs typeface="+mn-cs"/>
              </a:rPr>
              <a:t>條目中定義的特定分配比例，將</a:t>
            </a:r>
            <a:r>
              <a:rPr lang="en-US" altLang="zh-TW" sz="1200" b="0" i="0" kern="1200" dirty="0">
                <a:solidFill>
                  <a:schemeClr val="tx1"/>
                </a:solidFill>
                <a:effectLst/>
                <a:latin typeface="+mn-lt"/>
                <a:ea typeface="+mn-ea"/>
                <a:cs typeface="+mn-cs"/>
              </a:rPr>
              <a:t>consumer</a:t>
            </a:r>
            <a:r>
              <a:rPr lang="zh-TW" altLang="en-US" sz="1200" b="0" i="0" kern="1200" dirty="0">
                <a:solidFill>
                  <a:schemeClr val="tx1"/>
                </a:solidFill>
                <a:effectLst/>
                <a:latin typeface="+mn-lt"/>
                <a:ea typeface="+mn-ea"/>
                <a:cs typeface="+mn-cs"/>
              </a:rPr>
              <a:t>分配給</a:t>
            </a:r>
            <a:r>
              <a:rPr lang="en-US" altLang="zh-TW" sz="1200" b="0" i="0" kern="1200" dirty="0">
                <a:solidFill>
                  <a:schemeClr val="tx1"/>
                </a:solidFill>
                <a:effectLst/>
                <a:latin typeface="+mn-lt"/>
                <a:ea typeface="+mn-ea"/>
                <a:cs typeface="+mn-cs"/>
              </a:rPr>
              <a:t>prosumer</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圖</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藍色線為</a:t>
            </a:r>
            <a:r>
              <a:rPr lang="en-US" altLang="zh-TW" sz="1200" b="0" i="0" kern="1200" dirty="0">
                <a:solidFill>
                  <a:schemeClr val="tx1"/>
                </a:solidFill>
                <a:effectLst/>
                <a:latin typeface="+mn-lt"/>
                <a:ea typeface="+mn-ea"/>
                <a:cs typeface="+mn-cs"/>
              </a:rPr>
              <a:t>consumer</a:t>
            </a:r>
            <a:r>
              <a:rPr lang="zh-TW" altLang="en-US" sz="1200" b="0" i="0" kern="1200" dirty="0">
                <a:solidFill>
                  <a:schemeClr val="tx1"/>
                </a:solidFill>
                <a:effectLst/>
                <a:latin typeface="+mn-lt"/>
                <a:ea typeface="+mn-ea"/>
                <a:cs typeface="+mn-cs"/>
              </a:rPr>
              <a:t>願意支付的價格、黑色線為</a:t>
            </a:r>
            <a:r>
              <a:rPr lang="en-US" altLang="zh-TW" sz="1200" b="0" i="0" kern="1200" dirty="0">
                <a:solidFill>
                  <a:schemeClr val="tx1"/>
                </a:solidFill>
                <a:effectLst/>
                <a:latin typeface="+mn-lt"/>
                <a:ea typeface="+mn-ea"/>
                <a:cs typeface="+mn-cs"/>
              </a:rPr>
              <a:t>producer</a:t>
            </a:r>
            <a:r>
              <a:rPr lang="zh-TW" altLang="en-US" sz="1200" b="0" i="0" kern="1200" dirty="0">
                <a:solidFill>
                  <a:schemeClr val="tx1"/>
                </a:solidFill>
                <a:effectLst/>
                <a:latin typeface="+mn-lt"/>
                <a:ea typeface="+mn-ea"/>
                <a:cs typeface="+mn-cs"/>
              </a:rPr>
              <a:t>願意賣出能源的價格 </a:t>
            </a:r>
            <a:r>
              <a:rPr lang="en-US" altLang="zh-TW" sz="1200" b="0" i="0" kern="1200" dirty="0">
                <a:solidFill>
                  <a:schemeClr val="tx1"/>
                </a:solidFill>
                <a:effectLst/>
                <a:latin typeface="+mn-lt"/>
                <a:ea typeface="+mn-ea"/>
                <a:cs typeface="+mn-cs"/>
              </a:rPr>
              <a:t>market clearing price</a:t>
            </a:r>
            <a:r>
              <a:rPr lang="zh-TW" altLang="en-US" sz="1200" b="0" i="0" kern="1200" dirty="0">
                <a:solidFill>
                  <a:schemeClr val="tx1"/>
                </a:solidFill>
                <a:effectLst/>
                <a:latin typeface="+mn-lt"/>
                <a:ea typeface="+mn-ea"/>
                <a:cs typeface="+mn-cs"/>
              </a:rPr>
              <a:t>為雙方皆滿意的價格 所以</a:t>
            </a:r>
            <a:r>
              <a:rPr lang="en-US" altLang="zh-TW" sz="1200" b="0" i="0" kern="1200" dirty="0">
                <a:solidFill>
                  <a:schemeClr val="tx1"/>
                </a:solidFill>
                <a:effectLst/>
                <a:latin typeface="+mn-lt"/>
                <a:ea typeface="+mn-ea"/>
                <a:cs typeface="+mn-cs"/>
              </a:rPr>
              <a:t>consumer</a:t>
            </a:r>
            <a:r>
              <a:rPr lang="zh-TW" altLang="en-US" sz="1200" b="0" i="0" kern="1200" dirty="0">
                <a:solidFill>
                  <a:schemeClr val="tx1"/>
                </a:solidFill>
                <a:effectLst/>
                <a:latin typeface="+mn-lt"/>
                <a:ea typeface="+mn-ea"/>
                <a:cs typeface="+mn-cs"/>
              </a:rPr>
              <a:t>的價格從高排到低、</a:t>
            </a:r>
            <a:r>
              <a:rPr lang="en-US" altLang="zh-TW" sz="1200" b="0" i="0" kern="1200" dirty="0">
                <a:solidFill>
                  <a:schemeClr val="tx1"/>
                </a:solidFill>
                <a:effectLst/>
                <a:latin typeface="+mn-lt"/>
                <a:ea typeface="+mn-ea"/>
                <a:cs typeface="+mn-cs"/>
              </a:rPr>
              <a:t>producer</a:t>
            </a:r>
            <a:r>
              <a:rPr lang="zh-TW" altLang="en-US" sz="1200" b="0" i="0" kern="1200" dirty="0">
                <a:solidFill>
                  <a:schemeClr val="tx1"/>
                </a:solidFill>
                <a:effectLst/>
                <a:latin typeface="+mn-lt"/>
                <a:ea typeface="+mn-ea"/>
                <a:cs typeface="+mn-cs"/>
              </a:rPr>
              <a:t>從低排到高</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8</a:t>
            </a:fld>
            <a:endParaRPr lang="zh-TW" altLang="en-US"/>
          </a:p>
        </p:txBody>
      </p:sp>
    </p:spTree>
    <p:extLst>
      <p:ext uri="{BB962C8B-B14F-4D97-AF65-F5344CB8AC3E}">
        <p14:creationId xmlns:p14="http://schemas.microsoft.com/office/powerpoint/2010/main" val="3271956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9</a:t>
            </a:fld>
            <a:endParaRPr lang="zh-TW" altLang="en-US"/>
          </a:p>
        </p:txBody>
      </p:sp>
    </p:spTree>
    <p:extLst>
      <p:ext uri="{BB962C8B-B14F-4D97-AF65-F5344CB8AC3E}">
        <p14:creationId xmlns:p14="http://schemas.microsoft.com/office/powerpoint/2010/main" val="846649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sz="1200" b="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10</a:t>
            </a:fld>
            <a:endParaRPr lang="zh-TW" altLang="en-US"/>
          </a:p>
        </p:txBody>
      </p:sp>
    </p:spTree>
    <p:extLst>
      <p:ext uri="{BB962C8B-B14F-4D97-AF65-F5344CB8AC3E}">
        <p14:creationId xmlns:p14="http://schemas.microsoft.com/office/powerpoint/2010/main" val="640497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實現基於私有區塊鏈的頻率控制的軟體和硬體詳細資訊如下：</a:t>
            </a:r>
            <a:r>
              <a:rPr lang="en-US" altLang="zh-TW" dirty="0" err="1"/>
              <a:t>Geth</a:t>
            </a:r>
            <a:r>
              <a:rPr lang="zh-TW" altLang="en-US" dirty="0"/>
              <a:t>與</a:t>
            </a:r>
            <a:r>
              <a:rPr lang="en-US" altLang="zh-TW" dirty="0"/>
              <a:t>Node.js</a:t>
            </a:r>
            <a:r>
              <a:rPr lang="zh-TW" altLang="en-US" dirty="0"/>
              <a:t>、</a:t>
            </a:r>
            <a:r>
              <a:rPr lang="en-US" altLang="zh-TW" dirty="0"/>
              <a:t>Web3</a:t>
            </a:r>
            <a:r>
              <a:rPr lang="zh-TW" altLang="en-US" dirty="0"/>
              <a:t>、 </a:t>
            </a:r>
            <a:r>
              <a:rPr lang="en-US" altLang="zh-TW" dirty="0"/>
              <a:t>Solidity </a:t>
            </a:r>
            <a:r>
              <a:rPr lang="zh-TW" altLang="en-US" dirty="0"/>
              <a:t>智能合約、</a:t>
            </a:r>
            <a:r>
              <a:rPr lang="en-US" altLang="zh-TW" dirty="0"/>
              <a:t>Raspberry Pi (</a:t>
            </a:r>
            <a:r>
              <a:rPr lang="en-US" altLang="zh-TW" dirty="0" err="1"/>
              <a:t>RPi</a:t>
            </a:r>
            <a:r>
              <a:rPr lang="en-US" altLang="zh-TW" dirty="0"/>
              <a:t>)</a:t>
            </a:r>
            <a:r>
              <a:rPr lang="zh-TW" altLang="en-US" dirty="0"/>
              <a:t> 、</a:t>
            </a:r>
            <a:r>
              <a:rPr lang="en-US" altLang="zh-TW" dirty="0"/>
              <a:t>RT-LAB </a:t>
            </a:r>
            <a:r>
              <a:rPr lang="zh-TW" altLang="en-US" dirty="0"/>
              <a:t>和</a:t>
            </a:r>
            <a:r>
              <a:rPr lang="en-US" altLang="zh-TW" dirty="0"/>
              <a:t>MATLAB</a:t>
            </a:r>
            <a:r>
              <a:rPr lang="zh-TW" altLang="en-US" dirty="0"/>
              <a:t>。 </a:t>
            </a:r>
            <a:endParaRPr lang="en-US" altLang="zh-TW" dirty="0"/>
          </a:p>
          <a:p>
            <a:r>
              <a:rPr lang="zh-TW" altLang="en-US" dirty="0"/>
              <a:t>研究考慮的 </a:t>
            </a:r>
            <a:r>
              <a:rPr lang="en-US" altLang="zh-TW" dirty="0"/>
              <a:t>MG </a:t>
            </a:r>
            <a:r>
              <a:rPr lang="zh-TW" altLang="en-US" dirty="0"/>
              <a:t>模型由參與 </a:t>
            </a:r>
            <a:r>
              <a:rPr lang="en-US" altLang="zh-TW" dirty="0"/>
              <a:t>P2P </a:t>
            </a:r>
            <a:r>
              <a:rPr lang="zh-TW" altLang="en-US" dirty="0"/>
              <a:t>能源交易的 </a:t>
            </a:r>
            <a:r>
              <a:rPr lang="en-US" altLang="zh-TW" dirty="0"/>
              <a:t>4 </a:t>
            </a:r>
            <a:r>
              <a:rPr lang="zh-TW" altLang="en-US" dirty="0"/>
              <a:t>個產消者和 </a:t>
            </a:r>
            <a:r>
              <a:rPr lang="en-US" altLang="zh-TW" dirty="0"/>
              <a:t>3 </a:t>
            </a:r>
            <a:r>
              <a:rPr lang="zh-TW" altLang="en-US" dirty="0"/>
              <a:t>個消費者組成。</a:t>
            </a:r>
            <a:endParaRPr lang="en-US" altLang="zh-TW" dirty="0"/>
          </a:p>
          <a:p>
            <a:r>
              <a:rPr lang="zh-TW" altLang="en-US" dirty="0"/>
              <a:t>為能源交易而開發的智慧合約以及用於開放能源市場系統頻率調節的 </a:t>
            </a:r>
            <a:r>
              <a:rPr lang="en-US" altLang="zh-TW" dirty="0"/>
              <a:t>SCPM </a:t>
            </a:r>
            <a:r>
              <a:rPr lang="zh-TW" altLang="en-US" dirty="0"/>
              <a:t>計算是透過 </a:t>
            </a:r>
            <a:r>
              <a:rPr lang="en-US" altLang="zh-TW" dirty="0"/>
              <a:t>Raspberry Pi (</a:t>
            </a:r>
            <a:r>
              <a:rPr lang="en-US" altLang="zh-TW" dirty="0" err="1"/>
              <a:t>RPi</a:t>
            </a:r>
            <a:r>
              <a:rPr lang="en-US" altLang="zh-TW" dirty="0"/>
              <a:t>) </a:t>
            </a:r>
            <a:r>
              <a:rPr lang="zh-TW" altLang="en-US" dirty="0"/>
              <a:t>實現的。</a:t>
            </a:r>
            <a:endParaRPr lang="en-US" altLang="zh-TW" dirty="0"/>
          </a:p>
          <a:p>
            <a:r>
              <a:rPr lang="zh-TW" altLang="en-US" dirty="0"/>
              <a:t>參與交易的各個 </a:t>
            </a:r>
            <a:r>
              <a:rPr lang="en-US" altLang="zh-TW" dirty="0"/>
              <a:t>DG </a:t>
            </a:r>
            <a:r>
              <a:rPr lang="zh-TW" altLang="en-US" dirty="0"/>
              <a:t>產消者在 </a:t>
            </a:r>
            <a:r>
              <a:rPr lang="en-US" altLang="zh-TW" dirty="0"/>
              <a:t>MATLAB </a:t>
            </a:r>
            <a:r>
              <a:rPr lang="zh-TW" altLang="en-US" dirty="0"/>
              <a:t>中使用線性化模型進行建模，並在 </a:t>
            </a:r>
            <a:r>
              <a:rPr lang="en-US" altLang="zh-TW" dirty="0"/>
              <a:t>OPAL-RT </a:t>
            </a:r>
            <a:r>
              <a:rPr lang="zh-TW" altLang="en-US" dirty="0"/>
              <a:t>中實現。</a:t>
            </a:r>
            <a:endParaRPr lang="en-US" altLang="zh-TW" dirty="0"/>
          </a:p>
          <a:p>
            <a:r>
              <a:rPr lang="en-US" altLang="zh-TW" dirty="0" err="1"/>
              <a:t>RPis</a:t>
            </a:r>
            <a:r>
              <a:rPr lang="en-US" altLang="zh-TW" dirty="0"/>
              <a:t> </a:t>
            </a:r>
            <a:r>
              <a:rPr lang="zh-TW" altLang="en-US" dirty="0"/>
              <a:t>和 </a:t>
            </a:r>
            <a:r>
              <a:rPr lang="en-US" altLang="zh-TW" dirty="0"/>
              <a:t>OPAL-RT </a:t>
            </a:r>
            <a:r>
              <a:rPr lang="zh-TW" altLang="en-US" dirty="0"/>
              <a:t>模型之間進行 </a:t>
            </a:r>
            <a:r>
              <a:rPr lang="en-US" altLang="zh-TW" dirty="0"/>
              <a:t>UDP </a:t>
            </a:r>
            <a:r>
              <a:rPr lang="zh-TW" altLang="en-US" dirty="0"/>
              <a:t>通信，以模擬基於區塊鏈的去中心化頻率控制。</a:t>
            </a: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11</a:t>
            </a:fld>
            <a:endParaRPr lang="zh-TW" altLang="en-US"/>
          </a:p>
        </p:txBody>
      </p:sp>
    </p:spTree>
    <p:extLst>
      <p:ext uri="{BB962C8B-B14F-4D97-AF65-F5344CB8AC3E}">
        <p14:creationId xmlns:p14="http://schemas.microsoft.com/office/powerpoint/2010/main" val="1293212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在這個場景中，生產者和消費者之間的能源交易是通過生成隨機的售賣價格和競價價格以及它們的能源容量來進行的。</a:t>
            </a:r>
            <a:endParaRPr lang="en-US" altLang="zh-TW" dirty="0"/>
          </a:p>
          <a:p>
            <a:r>
              <a:rPr lang="zh-TW" altLang="en-US" dirty="0"/>
              <a:t>為了進行交易，每個生產者和消費者的價格值從每千瓦時</a:t>
            </a:r>
            <a:r>
              <a:rPr lang="en-US" altLang="zh-TW" dirty="0"/>
              <a:t>0.20</a:t>
            </a:r>
            <a:r>
              <a:rPr lang="zh-TW" altLang="en-US" dirty="0"/>
              <a:t>美元到</a:t>
            </a:r>
            <a:r>
              <a:rPr lang="en-US" altLang="zh-TW" dirty="0"/>
              <a:t>1</a:t>
            </a:r>
            <a:r>
              <a:rPr lang="zh-TW" altLang="en-US" dirty="0"/>
              <a:t>美元不等。</a:t>
            </a:r>
            <a:endParaRPr lang="en-US" altLang="zh-TW" dirty="0"/>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12</a:t>
            </a:fld>
            <a:endParaRPr lang="zh-TW" altLang="en-US"/>
          </a:p>
        </p:txBody>
      </p:sp>
    </p:spTree>
    <p:extLst>
      <p:ext uri="{BB962C8B-B14F-4D97-AF65-F5344CB8AC3E}">
        <p14:creationId xmlns:p14="http://schemas.microsoft.com/office/powerpoint/2010/main" val="757078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當</a:t>
            </a:r>
            <a:r>
              <a:rPr lang="en-US" altLang="zh-TW" sz="1200" b="0" i="0" kern="1200" dirty="0">
                <a:solidFill>
                  <a:schemeClr val="tx1"/>
                </a:solidFill>
                <a:effectLst/>
                <a:latin typeface="+mn-lt"/>
                <a:ea typeface="+mn-ea"/>
                <a:cs typeface="+mn-cs"/>
              </a:rPr>
              <a:t>P2P</a:t>
            </a:r>
            <a:r>
              <a:rPr lang="zh-TW" altLang="en-US" sz="1200" b="0" i="0" kern="1200" dirty="0">
                <a:solidFill>
                  <a:schemeClr val="tx1"/>
                </a:solidFill>
                <a:effectLst/>
                <a:latin typeface="+mn-lt"/>
                <a:ea typeface="+mn-ea"/>
                <a:cs typeface="+mn-cs"/>
              </a:rPr>
              <a:t>交易發生時，微電網系統的頻率會產生波動。</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圖左上比較了</a:t>
            </a:r>
            <a:r>
              <a:rPr lang="en-US" altLang="zh-TW" sz="1200" b="0" i="0" kern="1200" dirty="0">
                <a:solidFill>
                  <a:schemeClr val="tx1"/>
                </a:solidFill>
                <a:effectLst/>
                <a:latin typeface="+mn-lt"/>
                <a:ea typeface="+mn-ea"/>
                <a:cs typeface="+mn-cs"/>
              </a:rPr>
              <a:t>FORNN</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FL-FORNN</a:t>
            </a:r>
            <a:r>
              <a:rPr lang="zh-TW" altLang="en-US" sz="1200" b="0" i="0" kern="1200" dirty="0">
                <a:solidFill>
                  <a:schemeClr val="tx1"/>
                </a:solidFill>
                <a:effectLst/>
                <a:latin typeface="+mn-lt"/>
                <a:ea typeface="+mn-ea"/>
                <a:cs typeface="+mn-cs"/>
              </a:rPr>
              <a:t>調節頻率的結果，顯示作者提出的</a:t>
            </a:r>
            <a:r>
              <a:rPr lang="en-US" altLang="zh-TW" sz="1200" b="0" i="0" kern="1200" dirty="0">
                <a:solidFill>
                  <a:schemeClr val="tx1"/>
                </a:solidFill>
                <a:effectLst/>
                <a:latin typeface="+mn-lt"/>
                <a:ea typeface="+mn-ea"/>
                <a:cs typeface="+mn-cs"/>
              </a:rPr>
              <a:t>FL-FORNN</a:t>
            </a:r>
            <a:r>
              <a:rPr lang="zh-TW" altLang="en-US" sz="1200" b="0" i="0" kern="1200" dirty="0">
                <a:solidFill>
                  <a:schemeClr val="tx1"/>
                </a:solidFill>
                <a:effectLst/>
                <a:latin typeface="+mn-lt"/>
                <a:ea typeface="+mn-ea"/>
                <a:cs typeface="+mn-cs"/>
              </a:rPr>
              <a:t>可以讓頻率更穩定。</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圖左下呈現微電網系統使用不同</a:t>
            </a:r>
            <a:r>
              <a:rPr lang="en-US" altLang="zh-TW" sz="1200" b="0" i="0" kern="1200" dirty="0">
                <a:solidFill>
                  <a:schemeClr val="tx1"/>
                </a:solidFill>
                <a:effectLst/>
                <a:latin typeface="+mn-lt"/>
                <a:ea typeface="+mn-ea"/>
                <a:cs typeface="+mn-cs"/>
              </a:rPr>
              <a:t>controller</a:t>
            </a:r>
            <a:r>
              <a:rPr lang="zh-TW" altLang="en-US" sz="1200" b="0" i="0" kern="1200" dirty="0">
                <a:solidFill>
                  <a:schemeClr val="tx1"/>
                </a:solidFill>
                <a:effectLst/>
                <a:latin typeface="+mn-lt"/>
                <a:ea typeface="+mn-ea"/>
                <a:cs typeface="+mn-cs"/>
              </a:rPr>
              <a:t>時的頻率響應動態變化。</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從這張圖可以看到可以</a:t>
            </a:r>
            <a:r>
              <a:rPr lang="en-US" altLang="zh-TW" sz="1200" b="0" i="0" kern="1200" dirty="0">
                <a:solidFill>
                  <a:schemeClr val="tx1"/>
                </a:solidFill>
                <a:effectLst/>
                <a:latin typeface="+mn-lt"/>
                <a:ea typeface="+mn-ea"/>
                <a:cs typeface="+mn-cs"/>
              </a:rPr>
              <a:t>FL-FORNN</a:t>
            </a:r>
            <a:r>
              <a:rPr lang="zh-TW" altLang="en-US" sz="1200" b="0" i="0" kern="1200" dirty="0">
                <a:solidFill>
                  <a:schemeClr val="tx1"/>
                </a:solidFill>
                <a:effectLst/>
                <a:latin typeface="+mn-lt"/>
                <a:ea typeface="+mn-ea"/>
                <a:cs typeface="+mn-cs"/>
              </a:rPr>
              <a:t>達到穩態狀態所需的時間相對於其他技術，能夠更快地使系統穩定，顯示作者的方法在調節方面具有更好的性能。</a:t>
            </a:r>
            <a:endParaRPr lang="en-US" altLang="zh-TW" sz="1200" b="0" i="0" kern="1200" dirty="0">
              <a:solidFill>
                <a:schemeClr val="tx1"/>
              </a:solidFill>
              <a:effectLst/>
              <a:latin typeface="+mn-lt"/>
              <a:ea typeface="+mn-ea"/>
              <a:cs typeface="+mn-cs"/>
            </a:endParaRPr>
          </a:p>
          <a:p>
            <a:br>
              <a:rPr lang="zh-TW" altLang="en-US" sz="1200" b="0" i="0" kern="1200" dirty="0">
                <a:solidFill>
                  <a:schemeClr val="tx1"/>
                </a:solidFill>
                <a:effectLst/>
                <a:latin typeface="+mn-lt"/>
                <a:ea typeface="+mn-ea"/>
                <a:cs typeface="+mn-cs"/>
              </a:rPr>
            </a:br>
            <a:r>
              <a:rPr lang="zh-TW" altLang="en-US" sz="1200" b="0" i="0" kern="1200" dirty="0">
                <a:solidFill>
                  <a:schemeClr val="tx1"/>
                </a:solidFill>
                <a:effectLst/>
                <a:latin typeface="+mn-lt"/>
                <a:ea typeface="+mn-ea"/>
                <a:cs typeface="+mn-cs"/>
              </a:rPr>
              <a:t>圖右上顯示了在</a:t>
            </a:r>
            <a:r>
              <a:rPr lang="en-US" altLang="zh-TW" sz="1200" b="0" i="0" kern="1200" dirty="0">
                <a:solidFill>
                  <a:schemeClr val="tx1"/>
                </a:solidFill>
                <a:effectLst/>
                <a:latin typeface="+mn-lt"/>
                <a:ea typeface="+mn-ea"/>
                <a:cs typeface="+mn-cs"/>
              </a:rPr>
              <a:t>75%</a:t>
            </a:r>
            <a:r>
              <a:rPr lang="zh-TW" altLang="en-US" sz="1200" b="0" i="0" kern="1200" dirty="0">
                <a:solidFill>
                  <a:schemeClr val="tx1"/>
                </a:solidFill>
                <a:effectLst/>
                <a:latin typeface="+mn-lt"/>
                <a:ea typeface="+mn-ea"/>
                <a:cs typeface="+mn-cs"/>
              </a:rPr>
              <a:t>整體用戶負載的情況下，使用</a:t>
            </a:r>
            <a:r>
              <a:rPr lang="en-US" altLang="zh-TW" dirty="0"/>
              <a:t>supplementary control</a:t>
            </a:r>
            <a:r>
              <a:rPr lang="zh-TW" altLang="en-US" sz="1200" b="0" i="0" kern="1200" dirty="0">
                <a:solidFill>
                  <a:schemeClr val="tx1"/>
                </a:solidFill>
                <a:effectLst/>
                <a:latin typeface="+mn-lt"/>
                <a:ea typeface="+mn-ea"/>
                <a:cs typeface="+mn-cs"/>
              </a:rPr>
              <a:t>的分散式方法相對於其他技術更快地接近了</a:t>
            </a:r>
            <a:r>
              <a:rPr lang="en-US" altLang="zh-TW" sz="1200" b="0" i="0" kern="1200" dirty="0">
                <a:solidFill>
                  <a:schemeClr val="tx1"/>
                </a:solidFill>
                <a:effectLst/>
                <a:latin typeface="+mn-lt"/>
                <a:ea typeface="+mn-ea"/>
                <a:cs typeface="+mn-cs"/>
              </a:rPr>
              <a:t>50 Hz</a:t>
            </a:r>
            <a:r>
              <a:rPr lang="zh-TW" altLang="en-US" sz="1200" b="0" i="0" kern="1200" dirty="0">
                <a:solidFill>
                  <a:schemeClr val="tx1"/>
                </a:solidFill>
                <a:effectLst/>
                <a:latin typeface="+mn-lt"/>
                <a:ea typeface="+mn-ea"/>
                <a:cs typeface="+mn-cs"/>
              </a:rPr>
              <a:t>的穩態頻率。</a:t>
            </a:r>
            <a:br>
              <a:rPr lang="en-US" altLang="zh-TW" sz="1200" b="0" i="0" kern="1200" dirty="0">
                <a:solidFill>
                  <a:schemeClr val="tx1"/>
                </a:solidFill>
                <a:effectLst/>
                <a:latin typeface="+mn-lt"/>
                <a:ea typeface="+mn-ea"/>
                <a:cs typeface="+mn-cs"/>
              </a:rPr>
            </a:br>
            <a:endParaRPr lang="zh-TW" altLang="en-US"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圖右下顯示了在考慮了再生能源功率變化的情況下，使用基於</a:t>
            </a:r>
            <a:r>
              <a:rPr lang="en-US" altLang="zh-TW" sz="1200" b="0" i="0" kern="1200" dirty="0">
                <a:solidFill>
                  <a:schemeClr val="tx1"/>
                </a:solidFill>
                <a:effectLst/>
                <a:latin typeface="+mn-lt"/>
                <a:ea typeface="+mn-ea"/>
                <a:cs typeface="+mn-cs"/>
              </a:rPr>
              <a:t>FL-FORNN</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PID</a:t>
            </a:r>
            <a:r>
              <a:rPr lang="zh-TW" altLang="en-US" sz="1200" b="0" i="0" kern="1200" dirty="0">
                <a:solidFill>
                  <a:schemeClr val="tx1"/>
                </a:solidFill>
                <a:effectLst/>
                <a:latin typeface="+mn-lt"/>
                <a:ea typeface="+mn-ea"/>
                <a:cs typeface="+mn-cs"/>
              </a:rPr>
              <a:t>控制的分散式方法與集中式方案相比，雖然兩種方法都能將系統頻率調節在</a:t>
            </a:r>
            <a:r>
              <a:rPr lang="en-US" altLang="zh-TW" sz="1200" b="0" i="0" kern="1200" dirty="0">
                <a:solidFill>
                  <a:schemeClr val="tx1"/>
                </a:solidFill>
                <a:effectLst/>
                <a:latin typeface="+mn-lt"/>
                <a:ea typeface="+mn-ea"/>
                <a:cs typeface="+mn-cs"/>
              </a:rPr>
              <a:t>±0.2 Hz</a:t>
            </a:r>
            <a:r>
              <a:rPr lang="zh-TW" altLang="en-US" sz="1200" b="0" i="0" kern="1200" dirty="0">
                <a:solidFill>
                  <a:schemeClr val="tx1"/>
                </a:solidFill>
                <a:effectLst/>
                <a:latin typeface="+mn-lt"/>
                <a:ea typeface="+mn-ea"/>
                <a:cs typeface="+mn-cs"/>
              </a:rPr>
              <a:t>的標準範圍內，但分散式方法的性能更好。</a:t>
            </a:r>
          </a:p>
          <a:p>
            <a:endParaRPr lang="en-US" altLang="zh-TW" sz="1200" b="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13</a:t>
            </a:fld>
            <a:endParaRPr lang="zh-TW" altLang="en-US"/>
          </a:p>
        </p:txBody>
      </p:sp>
    </p:spTree>
    <p:extLst>
      <p:ext uri="{BB962C8B-B14F-4D97-AF65-F5344CB8AC3E}">
        <p14:creationId xmlns:p14="http://schemas.microsoft.com/office/powerpoint/2010/main" val="3839955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kern="1200" dirty="0">
                <a:solidFill>
                  <a:schemeClr val="tx1"/>
                </a:solidFill>
                <a:effectLst/>
                <a:latin typeface="+mn-lt"/>
                <a:ea typeface="+mn-ea"/>
                <a:cs typeface="+mn-cs"/>
              </a:rPr>
              <a:t>本文提出了透過參與能源交易的節點之間的智慧合約來實現開放式 </a:t>
            </a:r>
            <a:r>
              <a:rPr lang="en-US" altLang="zh-TW" sz="1200" b="0" kern="1200" dirty="0">
                <a:solidFill>
                  <a:schemeClr val="tx1"/>
                </a:solidFill>
                <a:effectLst/>
                <a:latin typeface="+mn-lt"/>
                <a:ea typeface="+mn-ea"/>
                <a:cs typeface="+mn-cs"/>
              </a:rPr>
              <a:t>P2P </a:t>
            </a:r>
            <a:r>
              <a:rPr lang="zh-TW" altLang="en-US" sz="1200" b="0" kern="1200" dirty="0">
                <a:solidFill>
                  <a:schemeClr val="tx1"/>
                </a:solidFill>
                <a:effectLst/>
                <a:latin typeface="+mn-lt"/>
                <a:ea typeface="+mn-ea"/>
                <a:cs typeface="+mn-cs"/>
              </a:rPr>
              <a:t>能源市場的去中心化頻率控制。 </a:t>
            </a:r>
          </a:p>
          <a:p>
            <a:r>
              <a:rPr lang="en-US" altLang="zh-TW" sz="1200" b="0" kern="1200" dirty="0">
                <a:solidFill>
                  <a:schemeClr val="tx1"/>
                </a:solidFill>
                <a:effectLst/>
                <a:latin typeface="+mn-lt"/>
                <a:ea typeface="+mn-ea"/>
                <a:cs typeface="+mn-cs"/>
              </a:rPr>
              <a:t>SCPM </a:t>
            </a:r>
            <a:r>
              <a:rPr lang="zh-TW" altLang="en-US" sz="1200" b="0" kern="1200" dirty="0">
                <a:solidFill>
                  <a:schemeClr val="tx1"/>
                </a:solidFill>
                <a:effectLst/>
                <a:latin typeface="+mn-lt"/>
                <a:ea typeface="+mn-ea"/>
                <a:cs typeface="+mn-cs"/>
              </a:rPr>
              <a:t>的概念已在 </a:t>
            </a:r>
            <a:r>
              <a:rPr lang="en-US" altLang="zh-TW" sz="1200" b="0" kern="1200" dirty="0" err="1">
                <a:solidFill>
                  <a:schemeClr val="tx1"/>
                </a:solidFill>
                <a:effectLst/>
                <a:latin typeface="+mn-lt"/>
                <a:ea typeface="+mn-ea"/>
                <a:cs typeface="+mn-cs"/>
              </a:rPr>
              <a:t>PoA</a:t>
            </a:r>
            <a:r>
              <a:rPr lang="en-US" altLang="zh-TW" sz="1200" b="0" kern="1200" dirty="0">
                <a:solidFill>
                  <a:schemeClr val="tx1"/>
                </a:solidFill>
                <a:effectLst/>
                <a:latin typeface="+mn-lt"/>
                <a:ea typeface="+mn-ea"/>
                <a:cs typeface="+mn-cs"/>
              </a:rPr>
              <a:t> </a:t>
            </a:r>
            <a:r>
              <a:rPr lang="zh-TW" altLang="en-US" sz="1200" b="0" kern="1200" dirty="0">
                <a:solidFill>
                  <a:schemeClr val="tx1"/>
                </a:solidFill>
                <a:effectLst/>
                <a:latin typeface="+mn-lt"/>
                <a:ea typeface="+mn-ea"/>
                <a:cs typeface="+mn-cs"/>
              </a:rPr>
              <a:t>私有鏈中開發和實施，以獲得產消者將其能源交易給各自消費者的電力參考值。 </a:t>
            </a:r>
          </a:p>
          <a:p>
            <a:r>
              <a:rPr lang="zh-TW" altLang="en-US" sz="1200" b="0" kern="1200" dirty="0">
                <a:solidFill>
                  <a:schemeClr val="tx1"/>
                </a:solidFill>
                <a:effectLst/>
                <a:latin typeface="+mn-lt"/>
                <a:ea typeface="+mn-ea"/>
                <a:cs typeface="+mn-cs"/>
              </a:rPr>
              <a:t>此外，還開發了一種基於聯邦學習的 </a:t>
            </a:r>
            <a:r>
              <a:rPr lang="en-US" altLang="zh-TW" sz="1200" b="0" kern="1200" dirty="0">
                <a:solidFill>
                  <a:schemeClr val="tx1"/>
                </a:solidFill>
                <a:effectLst/>
                <a:latin typeface="+mn-lt"/>
                <a:ea typeface="+mn-ea"/>
                <a:cs typeface="+mn-cs"/>
              </a:rPr>
              <a:t>FORNN </a:t>
            </a:r>
            <a:r>
              <a:rPr lang="zh-TW" altLang="en-US" sz="1200" b="0" kern="1200" dirty="0">
                <a:solidFill>
                  <a:schemeClr val="tx1"/>
                </a:solidFill>
                <a:effectLst/>
                <a:latin typeface="+mn-lt"/>
                <a:ea typeface="+mn-ea"/>
                <a:cs typeface="+mn-cs"/>
              </a:rPr>
              <a:t>設計的自適應 </a:t>
            </a:r>
            <a:r>
              <a:rPr lang="en-US" altLang="zh-TW" sz="1200" b="0" kern="1200" dirty="0">
                <a:solidFill>
                  <a:schemeClr val="tx1"/>
                </a:solidFill>
                <a:effectLst/>
                <a:latin typeface="+mn-lt"/>
                <a:ea typeface="+mn-ea"/>
                <a:cs typeface="+mn-cs"/>
              </a:rPr>
              <a:t>PID </a:t>
            </a:r>
            <a:r>
              <a:rPr lang="zh-TW" altLang="en-US" sz="1200" b="0" kern="1200" dirty="0">
                <a:solidFill>
                  <a:schemeClr val="tx1"/>
                </a:solidFill>
                <a:effectLst/>
                <a:latin typeface="+mn-lt"/>
                <a:ea typeface="+mn-ea"/>
                <a:cs typeface="+mn-cs"/>
              </a:rPr>
              <a:t>控制器，用於將開放市場系統的頻率調節在 </a:t>
            </a:r>
            <a:r>
              <a:rPr lang="en-US" altLang="zh-TW" sz="1200" b="0" kern="1200" dirty="0">
                <a:solidFill>
                  <a:schemeClr val="tx1"/>
                </a:solidFill>
                <a:effectLst/>
                <a:latin typeface="+mn-lt"/>
                <a:ea typeface="+mn-ea"/>
                <a:cs typeface="+mn-cs"/>
              </a:rPr>
              <a:t>±0.2 Hz </a:t>
            </a:r>
            <a:r>
              <a:rPr lang="zh-TW" altLang="en-US" sz="1200" b="0" kern="1200" dirty="0">
                <a:solidFill>
                  <a:schemeClr val="tx1"/>
                </a:solidFill>
                <a:effectLst/>
                <a:latin typeface="+mn-lt"/>
                <a:ea typeface="+mn-ea"/>
                <a:cs typeface="+mn-cs"/>
              </a:rPr>
              <a:t>的允許範圍內。 </a:t>
            </a:r>
          </a:p>
          <a:p>
            <a:r>
              <a:rPr lang="zh-TW" altLang="en-US" sz="1200" b="0" kern="1200" dirty="0">
                <a:solidFill>
                  <a:schemeClr val="tx1"/>
                </a:solidFill>
                <a:effectLst/>
                <a:latin typeface="+mn-lt"/>
                <a:ea typeface="+mn-ea"/>
                <a:cs typeface="+mn-cs"/>
              </a:rPr>
              <a:t>所提出的 </a:t>
            </a:r>
            <a:r>
              <a:rPr lang="en-US" altLang="zh-TW" sz="1200" b="0" kern="1200" dirty="0">
                <a:solidFill>
                  <a:schemeClr val="tx1"/>
                </a:solidFill>
                <a:effectLst/>
                <a:latin typeface="+mn-lt"/>
                <a:ea typeface="+mn-ea"/>
                <a:cs typeface="+mn-cs"/>
              </a:rPr>
              <a:t>FL-FORNN </a:t>
            </a:r>
            <a:r>
              <a:rPr lang="zh-TW" altLang="en-US" sz="1200" b="0" kern="1200" dirty="0">
                <a:solidFill>
                  <a:schemeClr val="tx1"/>
                </a:solidFill>
                <a:effectLst/>
                <a:latin typeface="+mn-lt"/>
                <a:ea typeface="+mn-ea"/>
                <a:cs typeface="+mn-cs"/>
              </a:rPr>
              <a:t>控制器的穩健性透過在區塊鏈中設定能源交易和 </a:t>
            </a:r>
            <a:r>
              <a:rPr lang="en-US" altLang="zh-TW" sz="1200" b="0" kern="1200" dirty="0">
                <a:solidFill>
                  <a:schemeClr val="tx1"/>
                </a:solidFill>
                <a:effectLst/>
                <a:latin typeface="+mn-lt"/>
                <a:ea typeface="+mn-ea"/>
                <a:cs typeface="+mn-cs"/>
              </a:rPr>
              <a:t>SCPM </a:t>
            </a:r>
            <a:r>
              <a:rPr lang="zh-TW" altLang="en-US" sz="1200" b="0" kern="1200" dirty="0">
                <a:solidFill>
                  <a:schemeClr val="tx1"/>
                </a:solidFill>
                <a:effectLst/>
                <a:latin typeface="+mn-lt"/>
                <a:ea typeface="+mn-ea"/>
                <a:cs typeface="+mn-cs"/>
              </a:rPr>
              <a:t>計算的硬體在環模擬中透過區塊鏈實現的 </a:t>
            </a:r>
            <a:r>
              <a:rPr lang="en-US" altLang="zh-TW" sz="1200" b="0" kern="1200" dirty="0">
                <a:solidFill>
                  <a:schemeClr val="tx1"/>
                </a:solidFill>
                <a:effectLst/>
                <a:latin typeface="+mn-lt"/>
                <a:ea typeface="+mn-ea"/>
                <a:cs typeface="+mn-cs"/>
              </a:rPr>
              <a:t>FORNN </a:t>
            </a:r>
            <a:r>
              <a:rPr lang="zh-TW" altLang="en-US" sz="1200" b="0" kern="1200" dirty="0">
                <a:solidFill>
                  <a:schemeClr val="tx1"/>
                </a:solidFill>
                <a:effectLst/>
                <a:latin typeface="+mn-lt"/>
                <a:ea typeface="+mn-ea"/>
                <a:cs typeface="+mn-cs"/>
              </a:rPr>
              <a:t>進行驗證。 </a:t>
            </a:r>
          </a:p>
          <a:p>
            <a:r>
              <a:rPr lang="zh-TW" altLang="en-US" sz="1200" b="0" kern="1200" dirty="0">
                <a:solidFill>
                  <a:schemeClr val="tx1"/>
                </a:solidFill>
                <a:effectLst/>
                <a:latin typeface="+mn-lt"/>
                <a:ea typeface="+mn-ea"/>
                <a:cs typeface="+mn-cs"/>
              </a:rPr>
              <a:t>結果表明，與集中式方案和傳統 </a:t>
            </a:r>
            <a:r>
              <a:rPr lang="en-US" altLang="zh-TW" sz="1200" b="0" kern="1200" dirty="0">
                <a:solidFill>
                  <a:schemeClr val="tx1"/>
                </a:solidFill>
                <a:effectLst/>
                <a:latin typeface="+mn-lt"/>
                <a:ea typeface="+mn-ea"/>
                <a:cs typeface="+mn-cs"/>
              </a:rPr>
              <a:t>LFC </a:t>
            </a:r>
            <a:r>
              <a:rPr lang="zh-TW" altLang="en-US" sz="1200" b="0" kern="1200" dirty="0">
                <a:solidFill>
                  <a:schemeClr val="tx1"/>
                </a:solidFill>
                <a:effectLst/>
                <a:latin typeface="+mn-lt"/>
                <a:ea typeface="+mn-ea"/>
                <a:cs typeface="+mn-cs"/>
              </a:rPr>
              <a:t>系統相比，所提出的 </a:t>
            </a:r>
            <a:r>
              <a:rPr lang="en-US" altLang="zh-TW" sz="1200" b="0" kern="1200" dirty="0">
                <a:solidFill>
                  <a:schemeClr val="tx1"/>
                </a:solidFill>
                <a:effectLst/>
                <a:latin typeface="+mn-lt"/>
                <a:ea typeface="+mn-ea"/>
                <a:cs typeface="+mn-cs"/>
              </a:rPr>
              <a:t>FL-FORNN </a:t>
            </a:r>
            <a:r>
              <a:rPr lang="zh-TW" altLang="en-US" sz="1200" b="0" kern="1200" dirty="0">
                <a:solidFill>
                  <a:schemeClr val="tx1"/>
                </a:solidFill>
                <a:effectLst/>
                <a:latin typeface="+mn-lt"/>
                <a:ea typeface="+mn-ea"/>
                <a:cs typeface="+mn-cs"/>
              </a:rPr>
              <a:t>方法可以以最小穩態誤差調節頻率。 </a:t>
            </a:r>
          </a:p>
          <a:p>
            <a:r>
              <a:rPr lang="zh-TW" altLang="en-US" sz="1200" b="0" kern="1200" dirty="0">
                <a:solidFill>
                  <a:schemeClr val="tx1"/>
                </a:solidFill>
                <a:effectLst/>
                <a:latin typeface="+mn-lt"/>
                <a:ea typeface="+mn-ea"/>
                <a:cs typeface="+mn-cs"/>
              </a:rPr>
              <a:t>考慮</a:t>
            </a:r>
            <a:r>
              <a:rPr lang="en-US" altLang="zh-TW" sz="1200" b="0" kern="1200" dirty="0">
                <a:solidFill>
                  <a:schemeClr val="tx1"/>
                </a:solidFill>
                <a:effectLst/>
                <a:latin typeface="+mn-lt"/>
                <a:ea typeface="+mn-ea"/>
                <a:cs typeface="+mn-cs"/>
              </a:rPr>
              <a:t>DG</a:t>
            </a:r>
            <a:r>
              <a:rPr lang="zh-TW" altLang="en-US" sz="1200" b="0" kern="1200" dirty="0">
                <a:solidFill>
                  <a:schemeClr val="tx1"/>
                </a:solidFill>
                <a:effectLst/>
                <a:latin typeface="+mn-lt"/>
                <a:ea typeface="+mn-ea"/>
                <a:cs typeface="+mn-cs"/>
              </a:rPr>
              <a:t>經濟調度的多微電網系統頻率調節的神經網路高級學習的研究將是本研究的未來範圍。</a:t>
            </a:r>
          </a:p>
        </p:txBody>
      </p:sp>
      <p:sp>
        <p:nvSpPr>
          <p:cNvPr id="4" name="投影片編號版面配置區 3"/>
          <p:cNvSpPr>
            <a:spLocks noGrp="1"/>
          </p:cNvSpPr>
          <p:nvPr>
            <p:ph type="sldNum" sz="quarter" idx="5"/>
          </p:nvPr>
        </p:nvSpPr>
        <p:spPr/>
        <p:txBody>
          <a:bodyPr/>
          <a:lstStyle/>
          <a:p>
            <a:fld id="{E4CB8E4F-4D7D-4CB8-9433-247417570852}" type="slidenum">
              <a:rPr lang="zh-TW" altLang="en-US" smtClean="0"/>
              <a:t>14</a:t>
            </a:fld>
            <a:endParaRPr lang="zh-TW" altLang="en-US"/>
          </a:p>
        </p:txBody>
      </p:sp>
    </p:spTree>
    <p:extLst>
      <p:ext uri="{BB962C8B-B14F-4D97-AF65-F5344CB8AC3E}">
        <p14:creationId xmlns:p14="http://schemas.microsoft.com/office/powerpoint/2010/main" val="776913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D833FE-5B4C-427F-A56C-D3FAB78BD68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A4DDAB3-E48D-4EB3-9767-7FB9C4F5E6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C981085B-3034-4257-B133-1890DA45ED57}"/>
              </a:ext>
            </a:extLst>
          </p:cNvPr>
          <p:cNvSpPr>
            <a:spLocks noGrp="1"/>
          </p:cNvSpPr>
          <p:nvPr>
            <p:ph type="dt" sz="half" idx="10"/>
          </p:nvPr>
        </p:nvSpPr>
        <p:spPr/>
        <p:txBody>
          <a:bodyPr/>
          <a:lstStyle/>
          <a:p>
            <a:fld id="{DFEB1230-E1D2-4DB0-B5ED-811947F97F52}"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C7F30A05-4929-4A19-B3CB-064D2C929F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AAF3FEC-19A5-4A4C-97A4-EBA0B4416247}"/>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4280235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974BD9-20D8-49E2-8526-F54495CB759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D8C0CE5-7C53-4290-A5E1-DC95C8E7CF51}"/>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3D5866-11C3-48B8-B5CF-D31EC2CE9D5E}"/>
              </a:ext>
            </a:extLst>
          </p:cNvPr>
          <p:cNvSpPr>
            <a:spLocks noGrp="1"/>
          </p:cNvSpPr>
          <p:nvPr>
            <p:ph type="dt" sz="half" idx="10"/>
          </p:nvPr>
        </p:nvSpPr>
        <p:spPr/>
        <p:txBody>
          <a:bodyPr/>
          <a:lstStyle/>
          <a:p>
            <a:fld id="{88BE0A38-F716-478B-AE9D-8DF3EE040EB3}"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ED73D217-92E0-4114-A5BB-1250A1DD07A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A28054D-BFBF-46D5-A34C-933F7D081FF3}"/>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81635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049BB7-86F9-4D3F-8E87-3489C055B0A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7E31BFE-D129-4038-A2AC-FE35E59A88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E45D6486-7CF3-43D7-B6D0-ED374A2FB16D}"/>
              </a:ext>
            </a:extLst>
          </p:cNvPr>
          <p:cNvSpPr>
            <a:spLocks noGrp="1"/>
          </p:cNvSpPr>
          <p:nvPr>
            <p:ph type="dt" sz="half" idx="10"/>
          </p:nvPr>
        </p:nvSpPr>
        <p:spPr/>
        <p:txBody>
          <a:bodyPr/>
          <a:lstStyle/>
          <a:p>
            <a:fld id="{1B53A8BC-747A-499F-A2D1-BA1ED642A6FB}"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43848945-0986-457E-B120-BE76B03571D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CC7C3A9-6768-4B42-B740-0106B9148D5A}"/>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274924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49D887-75A0-414C-93DA-FE9B32AE8E4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C57A211-B7D1-46A1-BE2D-CF8F553DEABD}"/>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CA2930F-DD58-49D4-9AF6-F6C14E401FB7}"/>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FD947C9-261D-4332-B115-7FBB9DBC7A74}"/>
              </a:ext>
            </a:extLst>
          </p:cNvPr>
          <p:cNvSpPr>
            <a:spLocks noGrp="1"/>
          </p:cNvSpPr>
          <p:nvPr>
            <p:ph type="dt" sz="half" idx="10"/>
          </p:nvPr>
        </p:nvSpPr>
        <p:spPr/>
        <p:txBody>
          <a:bodyPr/>
          <a:lstStyle/>
          <a:p>
            <a:fld id="{6277B257-D67E-4307-9870-8B3A367952F8}"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9BDDE8BF-FB4C-4F4C-B89F-987A244D209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FD8F2C9-40E7-43F7-ACB7-DE027EED5C27}"/>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1427546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5B02CD-4D25-4E3D-8DE2-49F22032AD2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67FD60E-1650-465F-B685-04E84F4E09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C3D6ABBB-D241-455E-8F68-8FF3CED5B569}"/>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52D1316-18E1-4538-8118-AC065FD89E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7BCBADD6-E061-4DF9-B7F2-EA94471340A8}"/>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2E99552-7CC5-4904-B8B3-40B28F5A2750}"/>
              </a:ext>
            </a:extLst>
          </p:cNvPr>
          <p:cNvSpPr>
            <a:spLocks noGrp="1"/>
          </p:cNvSpPr>
          <p:nvPr>
            <p:ph type="dt" sz="half" idx="10"/>
          </p:nvPr>
        </p:nvSpPr>
        <p:spPr/>
        <p:txBody>
          <a:bodyPr/>
          <a:lstStyle/>
          <a:p>
            <a:fld id="{58A65CAB-213F-4706-8F5A-8361E77FAEFB}" type="datetime1">
              <a:rPr lang="zh-TW" altLang="en-US" smtClean="0"/>
              <a:t>2024/5/13</a:t>
            </a:fld>
            <a:endParaRPr lang="zh-TW" altLang="en-US"/>
          </a:p>
        </p:txBody>
      </p:sp>
      <p:sp>
        <p:nvSpPr>
          <p:cNvPr id="8" name="頁尾版面配置區 7">
            <a:extLst>
              <a:ext uri="{FF2B5EF4-FFF2-40B4-BE49-F238E27FC236}">
                <a16:creationId xmlns:a16="http://schemas.microsoft.com/office/drawing/2014/main" id="{704E239C-6E41-4CE1-AD09-99EFC33EF10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86A1326-58EE-4C74-86E3-7D7B88CDB580}"/>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67013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395DF8-F4D6-4D05-B905-C661D71A6D4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A636EEB-65B3-4F1B-9029-D5C735FD0996}"/>
              </a:ext>
            </a:extLst>
          </p:cNvPr>
          <p:cNvSpPr>
            <a:spLocks noGrp="1"/>
          </p:cNvSpPr>
          <p:nvPr>
            <p:ph type="dt" sz="half" idx="10"/>
          </p:nvPr>
        </p:nvSpPr>
        <p:spPr/>
        <p:txBody>
          <a:bodyPr/>
          <a:lstStyle/>
          <a:p>
            <a:fld id="{2BBEFBAA-765A-4FC4-B6C4-62D0639964D0}" type="datetime1">
              <a:rPr lang="zh-TW" altLang="en-US" smtClean="0"/>
              <a:t>2024/5/13</a:t>
            </a:fld>
            <a:endParaRPr lang="zh-TW" altLang="en-US"/>
          </a:p>
        </p:txBody>
      </p:sp>
      <p:sp>
        <p:nvSpPr>
          <p:cNvPr id="4" name="頁尾版面配置區 3">
            <a:extLst>
              <a:ext uri="{FF2B5EF4-FFF2-40B4-BE49-F238E27FC236}">
                <a16:creationId xmlns:a16="http://schemas.microsoft.com/office/drawing/2014/main" id="{036E9529-6ED7-47CD-919C-D1E9F961AB1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4AFB487-8FAE-41E1-89FF-2B8F7156060A}"/>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3938911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B308980-0FE4-47A7-8895-FBF4A339D48A}"/>
              </a:ext>
            </a:extLst>
          </p:cNvPr>
          <p:cNvSpPr>
            <a:spLocks noGrp="1"/>
          </p:cNvSpPr>
          <p:nvPr>
            <p:ph type="dt" sz="half" idx="10"/>
          </p:nvPr>
        </p:nvSpPr>
        <p:spPr/>
        <p:txBody>
          <a:bodyPr/>
          <a:lstStyle/>
          <a:p>
            <a:fld id="{AF84ECE7-037A-4509-A280-222F35D4386E}" type="datetime1">
              <a:rPr lang="zh-TW" altLang="en-US" smtClean="0"/>
              <a:t>2024/5/13</a:t>
            </a:fld>
            <a:endParaRPr lang="zh-TW" altLang="en-US"/>
          </a:p>
        </p:txBody>
      </p:sp>
      <p:sp>
        <p:nvSpPr>
          <p:cNvPr id="3" name="頁尾版面配置區 2">
            <a:extLst>
              <a:ext uri="{FF2B5EF4-FFF2-40B4-BE49-F238E27FC236}">
                <a16:creationId xmlns:a16="http://schemas.microsoft.com/office/drawing/2014/main" id="{15C8E208-8C38-4E80-AA1D-DFAA2765092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086616BA-2147-4D29-95C2-41321F66FAA2}"/>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2045108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1F1005-A044-4852-9F83-372CBB5F090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882DB89-1ED3-417A-922E-16FF3B410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7A7C71C-987D-45D7-98B3-B2D1F2FFBC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55917E0-80BD-43E1-9017-8990F70FD71C}"/>
              </a:ext>
            </a:extLst>
          </p:cNvPr>
          <p:cNvSpPr>
            <a:spLocks noGrp="1"/>
          </p:cNvSpPr>
          <p:nvPr>
            <p:ph type="dt" sz="half" idx="10"/>
          </p:nvPr>
        </p:nvSpPr>
        <p:spPr/>
        <p:txBody>
          <a:bodyPr/>
          <a:lstStyle/>
          <a:p>
            <a:fld id="{1BCA3F90-ED52-47E7-AB93-678263A83FDB}"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7693A6FC-942E-4192-841D-F01EE1DEE51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EF5F5E3-E485-475B-84EC-676C1C03D372}"/>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174240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09F549-766F-4BEB-B10E-F386BFF417D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660007AC-7079-4329-AB3C-609E74907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3CC6792-185A-4A4E-B3C1-C3743DF61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E71FED10-EBA9-498A-8767-D766C8B84E9A}"/>
              </a:ext>
            </a:extLst>
          </p:cNvPr>
          <p:cNvSpPr>
            <a:spLocks noGrp="1"/>
          </p:cNvSpPr>
          <p:nvPr>
            <p:ph type="dt" sz="half" idx="10"/>
          </p:nvPr>
        </p:nvSpPr>
        <p:spPr/>
        <p:txBody>
          <a:bodyPr/>
          <a:lstStyle/>
          <a:p>
            <a:fld id="{4DA6AE36-337A-4B4B-93F2-B043B1E8621A}"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26C2ECCA-C8F0-42E6-9245-1DF89AD31F1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0DCE3E4-E0B9-4348-BDBC-9FA322614FAB}"/>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2144829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2F202F-5ABB-41B4-B680-BA72EA5FBAD7}"/>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D1707C0-59F2-471A-BDAA-ADAAB3F9462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8F3801-284F-4145-8B8F-56B0ED7B9F63}"/>
              </a:ext>
            </a:extLst>
          </p:cNvPr>
          <p:cNvSpPr>
            <a:spLocks noGrp="1"/>
          </p:cNvSpPr>
          <p:nvPr>
            <p:ph type="dt" sz="half" idx="10"/>
          </p:nvPr>
        </p:nvSpPr>
        <p:spPr/>
        <p:txBody>
          <a:bodyPr/>
          <a:lstStyle/>
          <a:p>
            <a:fld id="{651A186A-B9D3-4325-AF2F-2B067513F426}"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F9DE9872-E72D-4E7A-828B-9632008DC63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88C3DC-4AB9-4166-9FC3-4570C79864CC}"/>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1046087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5D99159-1D45-4F7A-BFC3-5ACB5E3324A4}"/>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2CBF811-9797-4B09-98F0-C78989BE5363}"/>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7708EB6-3877-4CEA-B0D4-64BD55411FB2}"/>
              </a:ext>
            </a:extLst>
          </p:cNvPr>
          <p:cNvSpPr>
            <a:spLocks noGrp="1"/>
          </p:cNvSpPr>
          <p:nvPr>
            <p:ph type="dt" sz="half" idx="10"/>
          </p:nvPr>
        </p:nvSpPr>
        <p:spPr/>
        <p:txBody>
          <a:bodyPr/>
          <a:lstStyle/>
          <a:p>
            <a:fld id="{6B451856-AAEA-4F0B-83AE-CDFD50EA8330}"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270C2C5E-8F85-41F4-B0C4-51B164555DA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EBE58B1-69DF-4209-B669-E1A0F93F76D5}"/>
              </a:ext>
            </a:extLst>
          </p:cNvPr>
          <p:cNvSpPr>
            <a:spLocks noGrp="1"/>
          </p:cNvSpPr>
          <p:nvPr>
            <p:ph type="sldNum" sz="quarter" idx="12"/>
          </p:nvPr>
        </p:nvSpPr>
        <p:spPr/>
        <p:txBody>
          <a:bodyPr/>
          <a:lstStyle/>
          <a:p>
            <a:fld id="{C565CF3C-3956-4ED7-ACEB-1A82D83F497B}" type="slidenum">
              <a:rPr lang="zh-TW" altLang="en-US" smtClean="0"/>
              <a:t>‹#›</a:t>
            </a:fld>
            <a:endParaRPr lang="zh-TW" altLang="en-US"/>
          </a:p>
        </p:txBody>
      </p:sp>
    </p:spTree>
    <p:extLst>
      <p:ext uri="{BB962C8B-B14F-4D97-AF65-F5344CB8AC3E}">
        <p14:creationId xmlns:p14="http://schemas.microsoft.com/office/powerpoint/2010/main" val="1136849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1A33152-7BB8-40B9-A4EC-7E2A4B86C3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D04FABF-A9A8-41FD-A201-1E5FBF40D8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F982848-0B4B-48EC-80E3-10FF108751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14983A-9E19-429F-BF20-26C953E616E3}"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E24C8205-96B2-42DD-B007-CE57DCE344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99882DD-6C21-49D8-9DA6-B578A0E52B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a:solidFill>
                  <a:schemeClr val="tx1">
                    <a:tint val="75000"/>
                  </a:schemeClr>
                </a:solidFill>
              </a:defRPr>
            </a:lvl1pPr>
          </a:lstStyle>
          <a:p>
            <a:fld id="{C565CF3C-3956-4ED7-ACEB-1A82D83F497B}" type="slidenum">
              <a:rPr lang="zh-TW" altLang="en-US" smtClean="0"/>
              <a:pPr/>
              <a:t>‹#›</a:t>
            </a:fld>
            <a:endParaRPr lang="zh-TW" altLang="en-US" dirty="0"/>
          </a:p>
        </p:txBody>
      </p:sp>
    </p:spTree>
    <p:extLst>
      <p:ext uri="{BB962C8B-B14F-4D97-AF65-F5344CB8AC3E}">
        <p14:creationId xmlns:p14="http://schemas.microsoft.com/office/powerpoint/2010/main" val="119474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9.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C201DE-BEF8-4818-9EEF-22CD4D38B65C}"/>
              </a:ext>
            </a:extLst>
          </p:cNvPr>
          <p:cNvSpPr>
            <a:spLocks noGrp="1"/>
          </p:cNvSpPr>
          <p:nvPr>
            <p:ph type="ctrTitle"/>
          </p:nvPr>
        </p:nvSpPr>
        <p:spPr>
          <a:xfrm>
            <a:off x="1182129" y="1041400"/>
            <a:ext cx="9827741" cy="2387600"/>
          </a:xfrm>
        </p:spPr>
        <p:txBody>
          <a:bodyPr>
            <a:normAutofit/>
          </a:bodyPr>
          <a:lstStyle/>
          <a:p>
            <a:r>
              <a:rPr lang="en-US" altLang="zh-TW" sz="4000" b="1" dirty="0">
                <a:effectLst/>
              </a:rPr>
              <a:t>Blockchain-Based Decentralized Frequency Control of Microgrids Using Federated Learning Fractional-Order Recurrent Neural Network</a:t>
            </a:r>
            <a:endParaRPr lang="zh-TW" altLang="en-US" sz="4000" dirty="0"/>
          </a:p>
        </p:txBody>
      </p:sp>
      <p:sp>
        <p:nvSpPr>
          <p:cNvPr id="3" name="副標題 2">
            <a:extLst>
              <a:ext uri="{FF2B5EF4-FFF2-40B4-BE49-F238E27FC236}">
                <a16:creationId xmlns:a16="http://schemas.microsoft.com/office/drawing/2014/main" id="{02714458-DC88-4A85-80B3-E9DE312D7941}"/>
              </a:ext>
            </a:extLst>
          </p:cNvPr>
          <p:cNvSpPr>
            <a:spLocks noGrp="1"/>
          </p:cNvSpPr>
          <p:nvPr>
            <p:ph type="subTitle" idx="1"/>
          </p:nvPr>
        </p:nvSpPr>
        <p:spPr>
          <a:xfrm>
            <a:off x="1149177" y="3618513"/>
            <a:ext cx="9893643" cy="1655762"/>
          </a:xfrm>
        </p:spPr>
        <p:txBody>
          <a:bodyPr/>
          <a:lstStyle/>
          <a:p>
            <a:r>
              <a:rPr lang="en-US" altLang="zh-TW" dirty="0">
                <a:ea typeface="微軟正黑體" panose="020B0604030504040204" pitchFamily="34" charset="-120"/>
              </a:rPr>
              <a:t>Group 7: M11215101 </a:t>
            </a:r>
            <a:r>
              <a:rPr lang="zh-TW" altLang="en-US" dirty="0">
                <a:ea typeface="微軟正黑體" panose="020B0604030504040204" pitchFamily="34" charset="-120"/>
              </a:rPr>
              <a:t>謝尚恆、</a:t>
            </a:r>
            <a:r>
              <a:rPr lang="en-US" altLang="zh-TW" dirty="0">
                <a:ea typeface="微軟正黑體" panose="020B0604030504040204" pitchFamily="34" charset="-120"/>
              </a:rPr>
              <a:t>M11215008</a:t>
            </a:r>
            <a:r>
              <a:rPr lang="zh-TW" altLang="en-US" dirty="0">
                <a:ea typeface="微軟正黑體" panose="020B0604030504040204" pitchFamily="34" charset="-120"/>
              </a:rPr>
              <a:t> 陳彥翰、</a:t>
            </a:r>
            <a:r>
              <a:rPr lang="en-US" altLang="zh-TW" dirty="0">
                <a:ea typeface="微軟正黑體" panose="020B0604030504040204" pitchFamily="34" charset="-120"/>
              </a:rPr>
              <a:t>M11115051</a:t>
            </a:r>
            <a:r>
              <a:rPr lang="zh-TW" altLang="en-US" dirty="0">
                <a:ea typeface="微軟正黑體" panose="020B0604030504040204" pitchFamily="34" charset="-120"/>
              </a:rPr>
              <a:t>李世璽</a:t>
            </a:r>
            <a:endParaRPr lang="en-US" altLang="zh-TW" dirty="0">
              <a:ea typeface="微軟正黑體" panose="020B0604030504040204" pitchFamily="34" charset="-120"/>
            </a:endParaRPr>
          </a:p>
          <a:p>
            <a:r>
              <a:rPr lang="en-US" altLang="zh-TW" dirty="0">
                <a:ea typeface="微軟正黑體" panose="020B0604030504040204" pitchFamily="34" charset="-120"/>
              </a:rPr>
              <a:t>IEEE Transactions on Smart Grid, 2023</a:t>
            </a:r>
            <a:endParaRPr lang="zh-TW" altLang="en-US" dirty="0">
              <a:ea typeface="微軟正黑體" panose="020B0604030504040204" pitchFamily="34" charset="-120"/>
            </a:endParaRPr>
          </a:p>
        </p:txBody>
      </p:sp>
      <p:sp>
        <p:nvSpPr>
          <p:cNvPr id="5" name="投影片編號版面配置區 4">
            <a:extLst>
              <a:ext uri="{FF2B5EF4-FFF2-40B4-BE49-F238E27FC236}">
                <a16:creationId xmlns:a16="http://schemas.microsoft.com/office/drawing/2014/main" id="{2FD0B2EB-998D-407F-8D56-83A0964DAEBF}"/>
              </a:ext>
            </a:extLst>
          </p:cNvPr>
          <p:cNvSpPr>
            <a:spLocks noGrp="1"/>
          </p:cNvSpPr>
          <p:nvPr>
            <p:ph type="sldNum" sz="quarter" idx="12"/>
          </p:nvPr>
        </p:nvSpPr>
        <p:spPr/>
        <p:txBody>
          <a:bodyPr/>
          <a:lstStyle/>
          <a:p>
            <a:fld id="{C565CF3C-3956-4ED7-ACEB-1A82D83F497B}" type="slidenum">
              <a:rPr lang="zh-TW" altLang="en-US" smtClean="0"/>
              <a:t>1</a:t>
            </a:fld>
            <a:endParaRPr lang="zh-TW" altLang="en-US"/>
          </a:p>
        </p:txBody>
      </p:sp>
    </p:spTree>
    <p:extLst>
      <p:ext uri="{BB962C8B-B14F-4D97-AF65-F5344CB8AC3E}">
        <p14:creationId xmlns:p14="http://schemas.microsoft.com/office/powerpoint/2010/main" val="22344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Introduction</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lnSpcReduction="10000"/>
          </a:bodyPr>
          <a:lstStyle/>
          <a:p>
            <a:pPr>
              <a:lnSpc>
                <a:spcPct val="150000"/>
              </a:lnSpc>
            </a:pPr>
            <a:r>
              <a:rPr lang="en-US" altLang="zh-TW" sz="2000" dirty="0">
                <a:ea typeface="微軟正黑體" panose="020B0604030504040204" pitchFamily="34" charset="-120"/>
              </a:rPr>
              <a:t>Background</a:t>
            </a:r>
          </a:p>
          <a:p>
            <a:pPr lvl="1">
              <a:lnSpc>
                <a:spcPct val="150000"/>
              </a:lnSpc>
            </a:pPr>
            <a:r>
              <a:rPr lang="zh-TW" altLang="en-US" sz="2000" dirty="0">
                <a:ea typeface="微軟正黑體" panose="020B0604030504040204" pitchFamily="34" charset="-120"/>
              </a:rPr>
              <a:t>隨著通訊技術、物聯網和智慧電錶等技術的普及，以及加密貨幣和區塊鏈的發展，傳統的單邊電網逐漸轉變成點對點能源交易</a:t>
            </a:r>
            <a:r>
              <a:rPr lang="en-US" altLang="zh-TW" sz="2000" dirty="0">
                <a:ea typeface="微軟正黑體" panose="020B0604030504040204" pitchFamily="34" charset="-120"/>
              </a:rPr>
              <a:t>(P2P)</a:t>
            </a:r>
            <a:r>
              <a:rPr lang="zh-TW" altLang="en-US" sz="2000" dirty="0">
                <a:ea typeface="微軟正黑體" panose="020B0604030504040204" pitchFamily="34" charset="-120"/>
              </a:rPr>
              <a:t>。</a:t>
            </a:r>
            <a:endParaRPr lang="en-US" altLang="zh-TW" sz="2000" dirty="0">
              <a:ea typeface="微軟正黑體" panose="020B0604030504040204" pitchFamily="34" charset="-120"/>
            </a:endParaRPr>
          </a:p>
          <a:p>
            <a:pPr lvl="1">
              <a:lnSpc>
                <a:spcPct val="150000"/>
              </a:lnSpc>
            </a:pPr>
            <a:r>
              <a:rPr lang="en-US" altLang="zh-TW" sz="2000" dirty="0">
                <a:ea typeface="微軟正黑體" panose="020B0604030504040204" pitchFamily="34" charset="-120"/>
              </a:rPr>
              <a:t>P2P</a:t>
            </a:r>
            <a:r>
              <a:rPr lang="zh-TW" altLang="en-US" sz="2000" dirty="0">
                <a:ea typeface="微軟正黑體" panose="020B0604030504040204" pitchFamily="34" charset="-120"/>
              </a:rPr>
              <a:t>能源交易被視為下一代智慧電網網絡，允許客戶獨立參與能源交易，具有提高再生能源發電、減少排放和成本、實現可靠電力等優點。</a:t>
            </a:r>
            <a:endParaRPr lang="en-US" altLang="zh-TW" sz="2000" dirty="0">
              <a:ea typeface="微軟正黑體" panose="020B0604030504040204" pitchFamily="34" charset="-120"/>
            </a:endParaRPr>
          </a:p>
          <a:p>
            <a:pPr lvl="1">
              <a:lnSpc>
                <a:spcPct val="150000"/>
              </a:lnSpc>
            </a:pPr>
            <a:r>
              <a:rPr lang="zh-TW" altLang="en-US" sz="2000" dirty="0">
                <a:ea typeface="微軟正黑體" panose="020B0604030504040204" pitchFamily="34" charset="-120"/>
              </a:rPr>
              <a:t>然而，這種新模式也帶來了挑戰，如再生能源不確定性增加和頻率穩定性問題。</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Motivation</a:t>
            </a:r>
          </a:p>
          <a:p>
            <a:pPr lvl="1">
              <a:lnSpc>
                <a:spcPct val="150000"/>
              </a:lnSpc>
            </a:pPr>
            <a:r>
              <a:rPr lang="zh-TW" altLang="en-US" sz="2000" dirty="0">
                <a:ea typeface="微軟正黑體" panose="020B0604030504040204" pitchFamily="34" charset="-120"/>
              </a:rPr>
              <a:t>為了應對這些挑戰，提出基於區塊鏈的去中心化頻率控制</a:t>
            </a:r>
            <a:r>
              <a:rPr lang="en-US" altLang="zh-TW" sz="2000" dirty="0">
                <a:ea typeface="微軟正黑體" panose="020B0604030504040204" pitchFamily="34" charset="-120"/>
              </a:rPr>
              <a:t>(Decentralized Frequency Control)</a:t>
            </a:r>
            <a:r>
              <a:rPr lang="zh-TW" altLang="en-US" sz="2000" dirty="0">
                <a:ea typeface="微軟正黑體" panose="020B0604030504040204" pitchFamily="34" charset="-120"/>
              </a:rPr>
              <a:t>和智能合約參與矩陣</a:t>
            </a:r>
            <a:r>
              <a:rPr lang="en-US" altLang="zh-TW" sz="2000" dirty="0">
                <a:ea typeface="微軟正黑體" panose="020B0604030504040204" pitchFamily="34" charset="-120"/>
              </a:rPr>
              <a:t>(Smart Contract Participation Matrix, SCPM)</a:t>
            </a:r>
            <a:r>
              <a:rPr lang="zh-TW" altLang="en-US" sz="2000" dirty="0">
                <a:ea typeface="微軟正黑體" panose="020B0604030504040204" pitchFamily="34" charset="-120"/>
              </a:rPr>
              <a:t>。</a:t>
            </a:r>
            <a:endParaRPr lang="en-US" altLang="zh-TW" sz="2000" dirty="0">
              <a:ea typeface="微軟正黑體" panose="020B0604030504040204" pitchFamily="34" charset="-120"/>
            </a:endParaRPr>
          </a:p>
          <a:p>
            <a:pPr lvl="1">
              <a:lnSpc>
                <a:spcPct val="150000"/>
              </a:lnSpc>
            </a:pPr>
            <a:r>
              <a:rPr lang="zh-TW" altLang="en-US" sz="2000" dirty="0">
                <a:ea typeface="微軟正黑體" panose="020B0604030504040204" pitchFamily="34" charset="-120"/>
              </a:rPr>
              <a:t>這些技術的引入旨在提高能源市場的交易透明度和安全性，並確保系統的頻率穩定性。</a:t>
            </a:r>
            <a:endParaRPr lang="en-US" altLang="zh-TW" sz="2000" dirty="0">
              <a:ea typeface="微軟正黑體" panose="020B0604030504040204" pitchFamily="34" charset="-120"/>
            </a:endParaRPr>
          </a:p>
          <a:p>
            <a:pPr lvl="1"/>
            <a:endParaRPr lang="zh-TW" altLang="en-US" dirty="0">
              <a:ea typeface="微軟正黑體" panose="020B0604030504040204" pitchFamily="34" charset="-120"/>
            </a:endParaRPr>
          </a:p>
        </p:txBody>
      </p:sp>
      <p:sp>
        <p:nvSpPr>
          <p:cNvPr id="5" name="投影片編號版面配置區 4">
            <a:extLst>
              <a:ext uri="{FF2B5EF4-FFF2-40B4-BE49-F238E27FC236}">
                <a16:creationId xmlns:a16="http://schemas.microsoft.com/office/drawing/2014/main" id="{D9143230-6756-4005-96DB-18DC3C8B2843}"/>
              </a:ext>
            </a:extLst>
          </p:cNvPr>
          <p:cNvSpPr>
            <a:spLocks noGrp="1"/>
          </p:cNvSpPr>
          <p:nvPr>
            <p:ph type="sldNum" sz="quarter" idx="12"/>
          </p:nvPr>
        </p:nvSpPr>
        <p:spPr/>
        <p:txBody>
          <a:bodyPr/>
          <a:lstStyle/>
          <a:p>
            <a:fld id="{C565CF3C-3956-4ED7-ACEB-1A82D83F497B}" type="slidenum">
              <a:rPr lang="zh-TW" altLang="en-US" smtClean="0"/>
              <a:t>2</a:t>
            </a:fld>
            <a:endParaRPr lang="zh-TW" altLang="en-US"/>
          </a:p>
        </p:txBody>
      </p:sp>
    </p:spTree>
    <p:extLst>
      <p:ext uri="{BB962C8B-B14F-4D97-AF65-F5344CB8AC3E}">
        <p14:creationId xmlns:p14="http://schemas.microsoft.com/office/powerpoint/2010/main" val="2294953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Related Works</a:t>
            </a:r>
            <a:endParaRPr lang="zh-TW" altLang="en-US" sz="3600" dirty="0"/>
          </a:p>
        </p:txBody>
      </p:sp>
      <p:sp>
        <p:nvSpPr>
          <p:cNvPr id="5" name="投影片編號版面配置區 4">
            <a:extLst>
              <a:ext uri="{FF2B5EF4-FFF2-40B4-BE49-F238E27FC236}">
                <a16:creationId xmlns:a16="http://schemas.microsoft.com/office/drawing/2014/main" id="{BBA758CB-B7D3-405C-959E-AAEDF72AFC88}"/>
              </a:ext>
            </a:extLst>
          </p:cNvPr>
          <p:cNvSpPr>
            <a:spLocks noGrp="1"/>
          </p:cNvSpPr>
          <p:nvPr>
            <p:ph type="sldNum" sz="quarter" idx="12"/>
          </p:nvPr>
        </p:nvSpPr>
        <p:spPr/>
        <p:txBody>
          <a:bodyPr/>
          <a:lstStyle/>
          <a:p>
            <a:fld id="{C565CF3C-3956-4ED7-ACEB-1A82D83F497B}" type="slidenum">
              <a:rPr lang="zh-TW" altLang="en-US" smtClean="0"/>
              <a:t>3</a:t>
            </a:fld>
            <a:endParaRPr lang="zh-TW" altLang="en-US"/>
          </a:p>
        </p:txBody>
      </p:sp>
      <p:sp>
        <p:nvSpPr>
          <p:cNvPr id="6" name="內容版面配置區 2">
            <a:extLst>
              <a:ext uri="{FF2B5EF4-FFF2-40B4-BE49-F238E27FC236}">
                <a16:creationId xmlns:a16="http://schemas.microsoft.com/office/drawing/2014/main" id="{A2A0CBC8-7540-41E0-9F8E-DC662BD4DE4C}"/>
              </a:ext>
            </a:extLst>
          </p:cNvPr>
          <p:cNvSpPr>
            <a:spLocks noGrp="1"/>
          </p:cNvSpPr>
          <p:nvPr>
            <p:ph idx="1"/>
          </p:nvPr>
        </p:nvSpPr>
        <p:spPr>
          <a:xfrm>
            <a:off x="838200" y="1252151"/>
            <a:ext cx="10515600" cy="4924812"/>
          </a:xfrm>
        </p:spPr>
        <p:txBody>
          <a:bodyPr>
            <a:normAutofit/>
          </a:bodyPr>
          <a:lstStyle/>
          <a:p>
            <a:pPr>
              <a:lnSpc>
                <a:spcPct val="150000"/>
              </a:lnSpc>
            </a:pPr>
            <a:r>
              <a:rPr lang="zh-TW" altLang="en-US" sz="2000" dirty="0">
                <a:latin typeface="微軟正黑體" panose="020B0604030504040204" pitchFamily="34" charset="-120"/>
                <a:ea typeface="微軟正黑體" panose="020B0604030504040204" pitchFamily="34" charset="-120"/>
              </a:rPr>
              <a:t>在微電網中使用多層分層結構來控制頻率和電壓，以確保系統穩定運行。</a:t>
            </a:r>
            <a:endParaRPr lang="en-US" altLang="zh-TW" sz="2000" dirty="0">
              <a:latin typeface="微軟正黑體" panose="020B0604030504040204" pitchFamily="34" charset="-120"/>
              <a:ea typeface="微軟正黑體" panose="020B0604030504040204" pitchFamily="34" charset="-120"/>
            </a:endParaRPr>
          </a:p>
          <a:p>
            <a:pPr>
              <a:lnSpc>
                <a:spcPct val="150000"/>
              </a:lnSpc>
            </a:pPr>
            <a:r>
              <a:rPr lang="zh-TW" altLang="en-US" sz="2000" dirty="0">
                <a:latin typeface="微軟正黑體" panose="020B0604030504040204" pitchFamily="34" charset="-120"/>
                <a:ea typeface="微軟正黑體" panose="020B0604030504040204" pitchFamily="34" charset="-120"/>
              </a:rPr>
              <a:t>傳統的負載頻率控制</a:t>
            </a:r>
            <a:r>
              <a:rPr lang="en-US" altLang="zh-TW" sz="2000" dirty="0">
                <a:ea typeface="微軟正黑體" panose="020B0604030504040204" pitchFamily="34" charset="-120"/>
              </a:rPr>
              <a:t>(Load Frequency Control, LFC)</a:t>
            </a:r>
            <a:r>
              <a:rPr lang="zh-TW" altLang="en-US" sz="2000" dirty="0">
                <a:ea typeface="微軟正黑體" panose="020B0604030504040204" pitchFamily="34" charset="-120"/>
              </a:rPr>
              <a:t>方法存在一些限制</a:t>
            </a:r>
            <a:endParaRPr lang="en-US" altLang="zh-TW" sz="2000" dirty="0">
              <a:ea typeface="微軟正黑體" panose="020B0604030504040204" pitchFamily="34" charset="-120"/>
            </a:endParaRPr>
          </a:p>
          <a:p>
            <a:pPr>
              <a:lnSpc>
                <a:spcPct val="150000"/>
              </a:lnSpc>
            </a:pPr>
            <a:r>
              <a:rPr lang="zh-TW" altLang="en-US" sz="2000" dirty="0">
                <a:ea typeface="微軟正黑體" panose="020B0604030504040204" pitchFamily="34" charset="-120"/>
              </a:rPr>
              <a:t>使用分數階遞歸神經網絡</a:t>
            </a:r>
            <a:r>
              <a:rPr lang="en-US" altLang="zh-TW" sz="2000" dirty="0">
                <a:ea typeface="微軟正黑體" panose="020B0604030504040204" pitchFamily="34" charset="-120"/>
              </a:rPr>
              <a:t>(</a:t>
            </a:r>
            <a:r>
              <a:rPr lang="en-US" altLang="zh-TW" sz="2000" dirty="0">
                <a:effectLst/>
              </a:rPr>
              <a:t>Fractional-Order Recurrent Neural Network, </a:t>
            </a:r>
            <a:r>
              <a:rPr lang="en-US" altLang="zh-TW" sz="2000" dirty="0">
                <a:ea typeface="微軟正黑體" panose="020B0604030504040204" pitchFamily="34" charset="-120"/>
              </a:rPr>
              <a:t>FORNN)</a:t>
            </a:r>
            <a:r>
              <a:rPr lang="zh-TW" altLang="en-US" sz="2000" dirty="0">
                <a:ea typeface="微軟正黑體" panose="020B0604030504040204" pitchFamily="34" charset="-120"/>
              </a:rPr>
              <a:t>和聯邦學習</a:t>
            </a:r>
            <a:r>
              <a:rPr lang="en-US" altLang="zh-TW" sz="2000" dirty="0">
                <a:ea typeface="微軟正黑體" panose="020B0604030504040204" pitchFamily="34" charset="-120"/>
              </a:rPr>
              <a:t>(Federated Learning, FL)</a:t>
            </a:r>
            <a:r>
              <a:rPr lang="zh-TW" altLang="en-US" sz="2000" dirty="0">
                <a:latin typeface="微軟正黑體" panose="020B0604030504040204" pitchFamily="34" charset="-120"/>
                <a:ea typeface="微軟正黑體" panose="020B0604030504040204" pitchFamily="34" charset="-120"/>
              </a:rPr>
              <a:t>的新方法來進行頻率控制，這些方法能夠更好地應對系統動態和不確定性。</a:t>
            </a:r>
          </a:p>
        </p:txBody>
      </p:sp>
    </p:spTree>
    <p:extLst>
      <p:ext uri="{BB962C8B-B14F-4D97-AF65-F5344CB8AC3E}">
        <p14:creationId xmlns:p14="http://schemas.microsoft.com/office/powerpoint/2010/main" val="346251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FORNN</a:t>
            </a:r>
            <a:r>
              <a:rPr lang="zh-TW" altLang="en-US" sz="3600" dirty="0"/>
              <a:t> </a:t>
            </a:r>
            <a:r>
              <a:rPr lang="en-US" altLang="zh-TW" sz="3600" dirty="0"/>
              <a:t>&amp; Federated Learning</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en-US" altLang="zh-TW" sz="2000" dirty="0">
                <a:ea typeface="微軟正黑體" panose="020B0604030504040204" pitchFamily="34" charset="-120"/>
              </a:rPr>
              <a:t>FORNN</a:t>
            </a:r>
            <a:r>
              <a:rPr lang="zh-TW" altLang="en-US" sz="2000" dirty="0">
                <a:ea typeface="微軟正黑體" panose="020B0604030504040204" pitchFamily="34" charset="-120"/>
              </a:rPr>
              <a:t>是一種神經網絡模型，為</a:t>
            </a:r>
            <a:r>
              <a:rPr lang="en-US" altLang="zh-TW" sz="2000" dirty="0">
                <a:ea typeface="微軟正黑體" panose="020B0604030504040204" pitchFamily="34" charset="-120"/>
              </a:rPr>
              <a:t>RNN</a:t>
            </a:r>
            <a:r>
              <a:rPr lang="zh-TW" altLang="en-US" sz="2000" dirty="0">
                <a:ea typeface="微軟正黑體" panose="020B0604030504040204" pitchFamily="34" charset="-120"/>
              </a:rPr>
              <a:t>的延伸，以增強其動態行為和學習能力。</a:t>
            </a:r>
          </a:p>
          <a:p>
            <a:pPr>
              <a:lnSpc>
                <a:spcPct val="150000"/>
              </a:lnSpc>
            </a:pPr>
            <a:r>
              <a:rPr lang="zh-TW" altLang="en-US" sz="2000" dirty="0">
                <a:ea typeface="微軟正黑體" panose="020B0604030504040204" pitchFamily="34" charset="-120"/>
              </a:rPr>
              <a:t>該網絡的能量函數被最小化，以確定</a:t>
            </a:r>
            <a:r>
              <a:rPr lang="en-US" altLang="zh-TW" sz="2000" dirty="0">
                <a:ea typeface="微軟正黑體" panose="020B0604030504040204" pitchFamily="34" charset="-120"/>
              </a:rPr>
              <a:t>FORNN</a:t>
            </a:r>
            <a:r>
              <a:rPr lang="zh-TW" altLang="en-US" sz="2000" dirty="0">
                <a:ea typeface="微軟正黑體" panose="020B0604030504040204" pitchFamily="34" charset="-120"/>
              </a:rPr>
              <a:t>的參數，並且使用線性激活函數優化其性能。</a:t>
            </a:r>
          </a:p>
          <a:p>
            <a:pPr>
              <a:lnSpc>
                <a:spcPct val="150000"/>
              </a:lnSpc>
            </a:pPr>
            <a:r>
              <a:rPr lang="zh-TW" altLang="en-US" sz="2000" dirty="0">
                <a:ea typeface="微軟正黑體" panose="020B0604030504040204" pitchFamily="34" charset="-120"/>
              </a:rPr>
              <a:t>基於</a:t>
            </a:r>
            <a:r>
              <a:rPr lang="en-US" altLang="zh-TW" sz="2000" dirty="0">
                <a:ea typeface="微軟正黑體" panose="020B0604030504040204" pitchFamily="34" charset="-120"/>
              </a:rPr>
              <a:t>FORNN</a:t>
            </a:r>
            <a:r>
              <a:rPr lang="zh-TW" altLang="en-US" sz="2000" dirty="0">
                <a:ea typeface="微軟正黑體" panose="020B0604030504040204" pitchFamily="34" charset="-120"/>
              </a:rPr>
              <a:t>的</a:t>
            </a:r>
            <a:r>
              <a:rPr lang="en-US" altLang="zh-TW" sz="2000" dirty="0">
                <a:ea typeface="微軟正黑體" panose="020B0604030504040204" pitchFamily="34" charset="-120"/>
              </a:rPr>
              <a:t>PID</a:t>
            </a:r>
            <a:r>
              <a:rPr lang="zh-TW" altLang="en-US" sz="2000" dirty="0">
                <a:ea typeface="微軟正黑體" panose="020B0604030504040204" pitchFamily="34" charset="-120"/>
              </a:rPr>
              <a:t>控制器被設計用於調節像分佈式發電器（</a:t>
            </a:r>
            <a:r>
              <a:rPr lang="en-US" altLang="zh-TW" sz="2000" dirty="0">
                <a:ea typeface="微軟正黑體" panose="020B0604030504040204" pitchFamily="34" charset="-120"/>
              </a:rPr>
              <a:t>DGs</a:t>
            </a:r>
            <a:r>
              <a:rPr lang="zh-TW" altLang="en-US" sz="2000" dirty="0">
                <a:ea typeface="微軟正黑體" panose="020B0604030504040204" pitchFamily="34" charset="-120"/>
              </a:rPr>
              <a:t>）這樣的工廠系統，通過在互聯系統中最小化頻率誤差來實現。</a:t>
            </a:r>
          </a:p>
          <a:p>
            <a:pPr>
              <a:lnSpc>
                <a:spcPct val="150000"/>
              </a:lnSpc>
            </a:pPr>
            <a:r>
              <a:rPr lang="zh-TW" altLang="en-US" sz="2000" dirty="0">
                <a:ea typeface="微軟正黑體" panose="020B0604030504040204" pitchFamily="34" charset="-120"/>
              </a:rPr>
              <a:t>計算網絡的動態以調整參數並最小化能量函數，從而增強</a:t>
            </a:r>
            <a:r>
              <a:rPr lang="en-US" altLang="zh-TW" sz="2000" dirty="0">
                <a:ea typeface="微軟正黑體" panose="020B0604030504040204" pitchFamily="34" charset="-120"/>
              </a:rPr>
              <a:t>PID</a:t>
            </a:r>
            <a:r>
              <a:rPr lang="zh-TW" altLang="en-US" sz="2000" dirty="0">
                <a:ea typeface="微軟正黑體" panose="020B0604030504040204" pitchFamily="34" charset="-120"/>
              </a:rPr>
              <a:t>控制器的控制功能。</a:t>
            </a:r>
          </a:p>
          <a:p>
            <a:pPr>
              <a:lnSpc>
                <a:spcPct val="150000"/>
              </a:lnSpc>
            </a:pPr>
            <a:r>
              <a:rPr lang="en-US" altLang="zh-TW" sz="2000" dirty="0">
                <a:ea typeface="微軟正黑體" panose="020B0604030504040204" pitchFamily="34" charset="-120"/>
              </a:rPr>
              <a:t>FORNN</a:t>
            </a:r>
            <a:r>
              <a:rPr lang="zh-TW" altLang="en-US" sz="2000" dirty="0">
                <a:ea typeface="微軟正黑體" panose="020B0604030504040204" pitchFamily="34" charset="-120"/>
              </a:rPr>
              <a:t>的分數梯度行為使其能夠在控制複雜系統中具有更好的適應性和效率</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FL</a:t>
            </a:r>
            <a:r>
              <a:rPr lang="zh-TW" altLang="en-US" sz="2000" dirty="0">
                <a:ea typeface="微軟正黑體" panose="020B0604030504040204" pitchFamily="34" charset="-120"/>
              </a:rPr>
              <a:t>是一種分散式機器學習方法，各個節點在本地儲存和處理自己的數據，然後通過聯邦學習算法共同訓練模型，並共享模型參數。</a:t>
            </a:r>
            <a:endParaRPr lang="en-US" altLang="zh-TW" sz="2000" dirty="0">
              <a:ea typeface="微軟正黑體" panose="020B0604030504040204" pitchFamily="34" charset="-120"/>
            </a:endParaRPr>
          </a:p>
          <a:p>
            <a:pPr>
              <a:lnSpc>
                <a:spcPct val="150000"/>
              </a:lnSpc>
            </a:pPr>
            <a:endParaRPr lang="en-US" altLang="zh-TW" sz="2000" dirty="0">
              <a:ea typeface="微軟正黑體" panose="020B0604030504040204" pitchFamily="34" charset="-120"/>
            </a:endParaRPr>
          </a:p>
          <a:p>
            <a:endParaRPr lang="zh-TW" altLang="en-US"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4</a:t>
            </a:fld>
            <a:endParaRPr lang="zh-TW" altLang="en-US"/>
          </a:p>
        </p:txBody>
      </p:sp>
    </p:spTree>
    <p:extLst>
      <p:ext uri="{BB962C8B-B14F-4D97-AF65-F5344CB8AC3E}">
        <p14:creationId xmlns:p14="http://schemas.microsoft.com/office/powerpoint/2010/main" val="2375398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Contribution</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實現</a:t>
            </a:r>
            <a:r>
              <a:rPr lang="en-US" altLang="zh-TW" sz="2000" dirty="0">
                <a:ea typeface="微軟正黑體" panose="020B0604030504040204" pitchFamily="34" charset="-120"/>
              </a:rPr>
              <a:t>prosumer</a:t>
            </a:r>
            <a:r>
              <a:rPr lang="zh-TW" altLang="en-US" sz="2000" dirty="0">
                <a:ea typeface="微軟正黑體" panose="020B0604030504040204" pitchFamily="34" charset="-120"/>
              </a:rPr>
              <a:t>和</a:t>
            </a:r>
            <a:r>
              <a:rPr lang="en-US" altLang="zh-TW" sz="2000" dirty="0">
                <a:ea typeface="微軟正黑體" panose="020B0604030504040204" pitchFamily="34" charset="-120"/>
              </a:rPr>
              <a:t>consumer</a:t>
            </a:r>
            <a:r>
              <a:rPr lang="zh-TW" altLang="en-US" sz="2000" dirty="0">
                <a:ea typeface="微軟正黑體" panose="020B0604030504040204" pitchFamily="34" charset="-120"/>
              </a:rPr>
              <a:t>之間基於 </a:t>
            </a:r>
            <a:r>
              <a:rPr lang="en-US" altLang="zh-TW" sz="2000" dirty="0" err="1">
                <a:ea typeface="微軟正黑體" panose="020B0604030504040204" pitchFamily="34" charset="-120"/>
              </a:rPr>
              <a:t>PoA</a:t>
            </a:r>
            <a:r>
              <a:rPr lang="en-US" altLang="zh-TW" sz="2000" dirty="0">
                <a:ea typeface="微軟正黑體" panose="020B0604030504040204" pitchFamily="34" charset="-120"/>
              </a:rPr>
              <a:t> </a:t>
            </a:r>
            <a:r>
              <a:rPr lang="zh-TW" altLang="en-US" sz="2000" dirty="0">
                <a:ea typeface="微軟正黑體" panose="020B0604030504040204" pitchFamily="34" charset="-120"/>
              </a:rPr>
              <a:t>的 </a:t>
            </a:r>
            <a:r>
              <a:rPr lang="en-US" altLang="zh-TW" sz="2000" dirty="0">
                <a:ea typeface="微軟正黑體" panose="020B0604030504040204" pitchFamily="34" charset="-120"/>
              </a:rPr>
              <a:t>P2P </a:t>
            </a:r>
            <a:r>
              <a:rPr lang="zh-TW" altLang="en-US" sz="2000" dirty="0">
                <a:ea typeface="微軟正黑體" panose="020B0604030504040204" pitchFamily="34" charset="-120"/>
              </a:rPr>
              <a:t>能源交易的私有區塊鏈網絡</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FORNN + FL</a:t>
            </a:r>
            <a:r>
              <a:rPr lang="zh-TW" altLang="en-US" sz="2000" dirty="0">
                <a:ea typeface="微軟正黑體" panose="020B0604030504040204" pitchFamily="34" charset="-120"/>
              </a:rPr>
              <a:t>的</a:t>
            </a:r>
            <a:r>
              <a:rPr lang="en-US" altLang="zh-TW" sz="2000" dirty="0">
                <a:ea typeface="微軟正黑體" panose="020B0604030504040204" pitchFamily="34" charset="-120"/>
              </a:rPr>
              <a:t>PID </a:t>
            </a:r>
            <a:r>
              <a:rPr lang="zh-TW" altLang="en-US" sz="2000" dirty="0">
                <a:ea typeface="微軟正黑體" panose="020B0604030504040204" pitchFamily="34" charset="-120"/>
              </a:rPr>
              <a:t>控制器增強</a:t>
            </a:r>
            <a:r>
              <a:rPr lang="en-US" altLang="zh-TW" sz="2000" dirty="0">
                <a:ea typeface="微軟正黑體" panose="020B0604030504040204" pitchFamily="34" charset="-120"/>
              </a:rPr>
              <a:t>islanded MG(microgrid)</a:t>
            </a:r>
            <a:r>
              <a:rPr lang="zh-TW" altLang="en-US" sz="2000" dirty="0">
                <a:ea typeface="微軟正黑體" panose="020B0604030504040204" pitchFamily="34" charset="-120"/>
              </a:rPr>
              <a:t>系統的頻率調節</a:t>
            </a:r>
            <a:endParaRPr lang="en-US" altLang="zh-TW" sz="2000" dirty="0">
              <a:ea typeface="微軟正黑體" panose="020B0604030504040204" pitchFamily="34" charset="-120"/>
            </a:endParaRPr>
          </a:p>
          <a:p>
            <a:pPr>
              <a:lnSpc>
                <a:spcPct val="150000"/>
              </a:lnSpc>
            </a:pPr>
            <a:r>
              <a:rPr lang="zh-TW" altLang="en-US" sz="2000" dirty="0">
                <a:ea typeface="微軟正黑體" panose="020B0604030504040204" pitchFamily="34" charset="-120"/>
              </a:rPr>
              <a:t>針對</a:t>
            </a:r>
            <a:r>
              <a:rPr lang="en-US" altLang="zh-TW" sz="2000" dirty="0">
                <a:ea typeface="微軟正黑體" panose="020B0604030504040204" pitchFamily="34" charset="-120"/>
              </a:rPr>
              <a:t>islanded MG</a:t>
            </a:r>
            <a:r>
              <a:rPr lang="zh-TW" altLang="en-US" sz="2000" dirty="0">
                <a:ea typeface="微軟正黑體" panose="020B0604030504040204" pitchFamily="34" charset="-120"/>
              </a:rPr>
              <a:t>系統展示了基於區塊鏈的分散頻率控制的實施</a:t>
            </a:r>
            <a:endParaRPr lang="en-US" altLang="zh-TW" sz="2000" dirty="0">
              <a:ea typeface="微軟正黑體" panose="020B0604030504040204" pitchFamily="34" charset="-120"/>
            </a:endParaRPr>
          </a:p>
          <a:p>
            <a:pPr>
              <a:lnSpc>
                <a:spcPct val="150000"/>
              </a:lnSpc>
            </a:pPr>
            <a:r>
              <a:rPr lang="zh-TW" altLang="en-US" sz="2000" dirty="0">
                <a:ea typeface="微軟正黑體" panose="020B0604030504040204" pitchFamily="34" charset="-120"/>
              </a:rPr>
              <a:t>開發的頻率控制演算法已被驗證，透過 </a:t>
            </a:r>
            <a:r>
              <a:rPr lang="en-US" altLang="zh-TW" sz="2000" dirty="0">
                <a:ea typeface="微軟正黑體" panose="020B0604030504040204" pitchFamily="34" charset="-120"/>
              </a:rPr>
              <a:t>OPAL-RT </a:t>
            </a:r>
            <a:r>
              <a:rPr lang="zh-TW" altLang="en-US" sz="2000" dirty="0">
                <a:ea typeface="微軟正黑體" panose="020B0604030504040204" pitchFamily="34" charset="-120"/>
              </a:rPr>
              <a:t>與 </a:t>
            </a:r>
            <a:r>
              <a:rPr lang="en-US" altLang="zh-TW" sz="2000" dirty="0">
                <a:ea typeface="微軟正黑體" panose="020B0604030504040204" pitchFamily="34" charset="-120"/>
              </a:rPr>
              <a:t>Raspberry Pi </a:t>
            </a:r>
            <a:r>
              <a:rPr lang="zh-TW" altLang="en-US" sz="2000" dirty="0">
                <a:ea typeface="微軟正黑體" panose="020B0604030504040204" pitchFamily="34" charset="-120"/>
              </a:rPr>
              <a:t>。</a:t>
            </a:r>
            <a:endParaRPr lang="en-US" altLang="zh-TW" sz="2000" dirty="0">
              <a:ea typeface="微軟正黑體" panose="020B0604030504040204" pitchFamily="34" charset="-120"/>
            </a:endParaRPr>
          </a:p>
          <a:p>
            <a:pPr>
              <a:lnSpc>
                <a:spcPct val="150000"/>
              </a:lnSpc>
            </a:pPr>
            <a:r>
              <a:rPr lang="zh-TW" altLang="en-US" sz="2000" dirty="0">
                <a:ea typeface="微軟正黑體" panose="020B0604030504040204" pitchFamily="34" charset="-120"/>
              </a:rPr>
              <a:t>所提出的分散控制方案的效能以集中方法和傳統</a:t>
            </a:r>
            <a:r>
              <a:rPr lang="en-US" altLang="zh-TW" sz="2000" dirty="0">
                <a:ea typeface="微軟正黑體" panose="020B0604030504040204" pitchFamily="34" charset="-120"/>
              </a:rPr>
              <a:t>LFC </a:t>
            </a:r>
            <a:r>
              <a:rPr lang="zh-TW" altLang="en-US" sz="2000" dirty="0">
                <a:ea typeface="微軟正黑體" panose="020B0604030504040204" pitchFamily="34" charset="-120"/>
              </a:rPr>
              <a:t>系統為基準</a:t>
            </a:r>
          </a:p>
        </p:txBody>
      </p:sp>
      <p:sp>
        <p:nvSpPr>
          <p:cNvPr id="5" name="投影片編號版面配置區 4">
            <a:extLst>
              <a:ext uri="{FF2B5EF4-FFF2-40B4-BE49-F238E27FC236}">
                <a16:creationId xmlns:a16="http://schemas.microsoft.com/office/drawing/2014/main" id="{DB7B952A-FFEB-4B38-A775-6B1FBE6F78EA}"/>
              </a:ext>
            </a:extLst>
          </p:cNvPr>
          <p:cNvSpPr>
            <a:spLocks noGrp="1"/>
          </p:cNvSpPr>
          <p:nvPr>
            <p:ph type="sldNum" sz="quarter" idx="12"/>
          </p:nvPr>
        </p:nvSpPr>
        <p:spPr/>
        <p:txBody>
          <a:bodyPr/>
          <a:lstStyle/>
          <a:p>
            <a:fld id="{C565CF3C-3956-4ED7-ACEB-1A82D83F497B}" type="slidenum">
              <a:rPr lang="zh-TW" altLang="en-US" smtClean="0"/>
              <a:t>5</a:t>
            </a:fld>
            <a:endParaRPr lang="zh-TW" altLang="en-US"/>
          </a:p>
        </p:txBody>
      </p:sp>
    </p:spTree>
    <p:extLst>
      <p:ext uri="{BB962C8B-B14F-4D97-AF65-F5344CB8AC3E}">
        <p14:creationId xmlns:p14="http://schemas.microsoft.com/office/powerpoint/2010/main" val="550048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Framework</a:t>
            </a:r>
            <a:endParaRPr lang="zh-TW" altLang="en-US" sz="3600" dirty="0"/>
          </a:p>
        </p:txBody>
      </p:sp>
      <p:pic>
        <p:nvPicPr>
          <p:cNvPr id="6" name="內容版面配置區 5">
            <a:extLst>
              <a:ext uri="{FF2B5EF4-FFF2-40B4-BE49-F238E27FC236}">
                <a16:creationId xmlns:a16="http://schemas.microsoft.com/office/drawing/2014/main" id="{1667568C-54A0-400D-BAA0-DCE75E463FF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7456"/>
          <a:stretch/>
        </p:blipFill>
        <p:spPr>
          <a:xfrm>
            <a:off x="1023414" y="907608"/>
            <a:ext cx="10515599" cy="5950392"/>
          </a:xfrm>
        </p:spPr>
      </p:pic>
      <p:sp>
        <p:nvSpPr>
          <p:cNvPr id="5" name="投影片編號版面配置區 4">
            <a:extLst>
              <a:ext uri="{FF2B5EF4-FFF2-40B4-BE49-F238E27FC236}">
                <a16:creationId xmlns:a16="http://schemas.microsoft.com/office/drawing/2014/main" id="{ECFC472A-613C-4691-B75F-575392CE4AC0}"/>
              </a:ext>
            </a:extLst>
          </p:cNvPr>
          <p:cNvSpPr>
            <a:spLocks noGrp="1"/>
          </p:cNvSpPr>
          <p:nvPr>
            <p:ph type="sldNum" sz="quarter" idx="12"/>
          </p:nvPr>
        </p:nvSpPr>
        <p:spPr/>
        <p:txBody>
          <a:bodyPr/>
          <a:lstStyle/>
          <a:p>
            <a:fld id="{C565CF3C-3956-4ED7-ACEB-1A82D83F497B}" type="slidenum">
              <a:rPr lang="zh-TW" altLang="en-US" smtClean="0"/>
              <a:t>6</a:t>
            </a:fld>
            <a:endParaRPr lang="zh-TW" altLang="en-US"/>
          </a:p>
        </p:txBody>
      </p:sp>
    </p:spTree>
    <p:extLst>
      <p:ext uri="{BB962C8B-B14F-4D97-AF65-F5344CB8AC3E}">
        <p14:creationId xmlns:p14="http://schemas.microsoft.com/office/powerpoint/2010/main" val="1872591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POA-Based Private Blockchain</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en-US" altLang="zh-TW" sz="2200" dirty="0" err="1">
                <a:ea typeface="微軟正黑體" panose="020B0604030504040204" pitchFamily="34" charset="-120"/>
              </a:rPr>
              <a:t>PoA</a:t>
            </a:r>
            <a:r>
              <a:rPr lang="zh-TW" altLang="en-US" sz="2200" dirty="0">
                <a:ea typeface="微軟正黑體" panose="020B0604030504040204" pitchFamily="34" charset="-120"/>
              </a:rPr>
              <a:t>（</a:t>
            </a:r>
            <a:r>
              <a:rPr lang="en-US" altLang="zh-TW" sz="2200" dirty="0">
                <a:ea typeface="微軟正黑體" panose="020B0604030504040204" pitchFamily="34" charset="-120"/>
              </a:rPr>
              <a:t>Proof of Authority</a:t>
            </a:r>
            <a:r>
              <a:rPr lang="zh-TW" altLang="en-US" sz="2200" dirty="0">
                <a:ea typeface="微軟正黑體" panose="020B0604030504040204" pitchFamily="34" charset="-120"/>
              </a:rPr>
              <a:t>）用於區塊鏈網絡中確定交易的有效性。</a:t>
            </a:r>
          </a:p>
          <a:p>
            <a:pPr>
              <a:lnSpc>
                <a:spcPct val="150000"/>
              </a:lnSpc>
            </a:pPr>
            <a:r>
              <a:rPr lang="zh-TW" altLang="en-US" sz="2200" dirty="0">
                <a:ea typeface="微軟正黑體" panose="020B0604030504040204" pitchFamily="34" charset="-120"/>
              </a:rPr>
              <a:t>在</a:t>
            </a:r>
            <a:r>
              <a:rPr lang="en-US" altLang="zh-TW" sz="2200" dirty="0" err="1">
                <a:ea typeface="微軟正黑體" panose="020B0604030504040204" pitchFamily="34" charset="-120"/>
              </a:rPr>
              <a:t>PoA</a:t>
            </a:r>
            <a:r>
              <a:rPr lang="zh-TW" altLang="en-US" sz="2200" dirty="0">
                <a:ea typeface="微軟正黑體" panose="020B0604030504040204" pitchFamily="34" charset="-120"/>
              </a:rPr>
              <a:t>中，節點的驗證權威是基於其聲譽而不是計算能力。</a:t>
            </a:r>
          </a:p>
          <a:p>
            <a:pPr>
              <a:lnSpc>
                <a:spcPct val="150000"/>
              </a:lnSpc>
            </a:pPr>
            <a:r>
              <a:rPr lang="zh-TW" altLang="en-US" sz="2200" dirty="0">
                <a:ea typeface="微軟正黑體" panose="020B0604030504040204" pitchFamily="34" charset="-120"/>
              </a:rPr>
              <a:t>這些節點被指定為驗證者，負責維護</a:t>
            </a:r>
            <a:r>
              <a:rPr lang="en-US" altLang="zh-TW" sz="2200" dirty="0" err="1">
                <a:ea typeface="微軟正黑體" panose="020B0604030504040204" pitchFamily="34" charset="-120"/>
              </a:rPr>
              <a:t>PoA</a:t>
            </a:r>
            <a:r>
              <a:rPr lang="zh-TW" altLang="en-US" sz="2200" dirty="0">
                <a:ea typeface="微軟正黑體" panose="020B0604030504040204" pitchFamily="34" charset="-120"/>
              </a:rPr>
              <a:t>區塊鏈的安全性。</a:t>
            </a:r>
          </a:p>
          <a:p>
            <a:pPr>
              <a:lnSpc>
                <a:spcPct val="150000"/>
              </a:lnSpc>
            </a:pPr>
            <a:r>
              <a:rPr lang="en-US" altLang="zh-TW" sz="2200" dirty="0" err="1">
                <a:ea typeface="微軟正黑體" panose="020B0604030504040204" pitchFamily="34" charset="-120"/>
              </a:rPr>
              <a:t>PoA</a:t>
            </a:r>
            <a:r>
              <a:rPr lang="zh-TW" altLang="en-US" sz="2200" dirty="0">
                <a:ea typeface="微軟正黑體" panose="020B0604030504040204" pitchFamily="34" charset="-120"/>
              </a:rPr>
              <a:t>的主要優勢是計算負擔較小</a:t>
            </a:r>
          </a:p>
          <a:p>
            <a:pPr>
              <a:lnSpc>
                <a:spcPct val="150000"/>
              </a:lnSpc>
            </a:pPr>
            <a:r>
              <a:rPr lang="zh-TW" altLang="en-US" sz="2200" dirty="0">
                <a:ea typeface="微軟正黑體" panose="020B0604030504040204" pitchFamily="34" charset="-120"/>
              </a:rPr>
              <a:t>因此，</a:t>
            </a:r>
            <a:r>
              <a:rPr lang="en-US" altLang="zh-TW" sz="2200" dirty="0" err="1">
                <a:ea typeface="微軟正黑體" panose="020B0604030504040204" pitchFamily="34" charset="-120"/>
              </a:rPr>
              <a:t>PoA</a:t>
            </a:r>
            <a:r>
              <a:rPr lang="zh-TW" altLang="en-US" sz="2200" dirty="0">
                <a:ea typeface="微軟正黑體" panose="020B0604030504040204" pitchFamily="34" charset="-120"/>
              </a:rPr>
              <a:t>被廣泛應用於實現去中心化的應用場景。</a:t>
            </a:r>
          </a:p>
          <a:p>
            <a:pPr>
              <a:lnSpc>
                <a:spcPct val="150000"/>
              </a:lnSpc>
            </a:pPr>
            <a:r>
              <a:rPr lang="en-US" altLang="zh-TW" sz="2200" dirty="0" err="1">
                <a:ea typeface="微軟正黑體" panose="020B0604030504040204" pitchFamily="34" charset="-120"/>
              </a:rPr>
              <a:t>PoA</a:t>
            </a:r>
            <a:r>
              <a:rPr lang="zh-TW" altLang="en-US" sz="2200" dirty="0">
                <a:ea typeface="微軟正黑體" panose="020B0604030504040204" pitchFamily="34" charset="-120"/>
              </a:rPr>
              <a:t>區塊鏈的核心是交易帳本，它追蹤所有包含資料交易的區塊，</a:t>
            </a:r>
            <a:r>
              <a:rPr lang="en-US" altLang="zh-TW" sz="2200" dirty="0">
                <a:ea typeface="微軟正黑體" panose="020B0604030504040204" pitchFamily="34" charset="-120"/>
              </a:rPr>
              <a:t>middleware</a:t>
            </a:r>
            <a:r>
              <a:rPr lang="zh-TW" altLang="en-US" sz="2200" dirty="0">
                <a:ea typeface="微軟正黑體" panose="020B0604030504040204" pitchFamily="34" charset="-120"/>
              </a:rPr>
              <a:t>則是應用程式和</a:t>
            </a:r>
            <a:r>
              <a:rPr lang="en-US" altLang="zh-TW" sz="2200" dirty="0" err="1">
                <a:ea typeface="微軟正黑體" panose="020B0604030504040204" pitchFamily="34" charset="-120"/>
              </a:rPr>
              <a:t>PoA</a:t>
            </a:r>
            <a:r>
              <a:rPr lang="zh-TW" altLang="en-US" sz="2200" dirty="0">
                <a:ea typeface="微軟正黑體" panose="020B0604030504040204" pitchFamily="34" charset="-120"/>
              </a:rPr>
              <a:t>區塊鏈之間的橋樑。</a:t>
            </a:r>
            <a:endParaRPr lang="en-US" altLang="zh-TW" sz="2200" dirty="0">
              <a:ea typeface="微軟正黑體" panose="020B0604030504040204" pitchFamily="34" charset="-120"/>
            </a:endParaRPr>
          </a:p>
          <a:p>
            <a:endParaRPr lang="zh-TW" altLang="en-US"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7</a:t>
            </a:fld>
            <a:endParaRPr lang="zh-TW" altLang="en-US"/>
          </a:p>
        </p:txBody>
      </p:sp>
    </p:spTree>
    <p:extLst>
      <p:ext uri="{BB962C8B-B14F-4D97-AF65-F5344CB8AC3E}">
        <p14:creationId xmlns:p14="http://schemas.microsoft.com/office/powerpoint/2010/main" val="384508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Implementation of SCPM</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en-US" altLang="zh-TW" sz="2000" dirty="0">
                <a:ea typeface="微軟正黑體" panose="020B0604030504040204" pitchFamily="34" charset="-120"/>
              </a:rPr>
              <a:t>Step 1: </a:t>
            </a:r>
            <a:r>
              <a:rPr lang="zh-TW" altLang="en-US" sz="2000" dirty="0">
                <a:ea typeface="微軟正黑體" panose="020B0604030504040204" pitchFamily="34" charset="-120"/>
              </a:rPr>
              <a:t>初始化開始區塊鏈的節點</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Step 2: </a:t>
            </a:r>
            <a:r>
              <a:rPr lang="zh-TW" altLang="en-US" sz="2000" dirty="0">
                <a:ea typeface="微軟正黑體" panose="020B0604030504040204" pitchFamily="34" charset="-120"/>
              </a:rPr>
              <a:t>啟動計時器控制循環迴圈</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Step 3: </a:t>
            </a:r>
            <a:r>
              <a:rPr lang="zh-TW" altLang="en-US" sz="2000" dirty="0">
                <a:ea typeface="微軟正黑體" panose="020B0604030504040204" pitchFamily="34" charset="-120"/>
              </a:rPr>
              <a:t>獲取</a:t>
            </a:r>
            <a:r>
              <a:rPr lang="en-US" altLang="zh-TW" sz="2000" dirty="0">
                <a:ea typeface="微軟正黑體" panose="020B0604030504040204" pitchFamily="34" charset="-120"/>
              </a:rPr>
              <a:t>demand data</a:t>
            </a:r>
            <a:r>
              <a:rPr lang="zh-TW" altLang="en-US" sz="2000" dirty="0">
                <a:ea typeface="微軟正黑體" panose="020B0604030504040204" pitchFamily="34" charset="-120"/>
              </a:rPr>
              <a:t>並按</a:t>
            </a:r>
            <a:r>
              <a:rPr lang="en-US" altLang="zh-TW" sz="2000" dirty="0">
                <a:ea typeface="微軟正黑體" panose="020B0604030504040204" pitchFamily="34" charset="-120"/>
              </a:rPr>
              <a:t>bidding price</a:t>
            </a:r>
            <a:r>
              <a:rPr lang="zh-TW" altLang="en-US" sz="2000" dirty="0">
                <a:ea typeface="微軟正黑體" panose="020B0604030504040204" pitchFamily="34" charset="-120"/>
              </a:rPr>
              <a:t>排序</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Step 4: </a:t>
            </a:r>
            <a:r>
              <a:rPr lang="zh-TW" altLang="en-US" sz="2000" dirty="0">
                <a:ea typeface="微軟正黑體" panose="020B0604030504040204" pitchFamily="34" charset="-120"/>
              </a:rPr>
              <a:t>獲取</a:t>
            </a:r>
            <a:r>
              <a:rPr lang="en-US" altLang="zh-TW" sz="2000" dirty="0">
                <a:ea typeface="微軟正黑體" panose="020B0604030504040204" pitchFamily="34" charset="-120"/>
              </a:rPr>
              <a:t>generation data</a:t>
            </a:r>
            <a:r>
              <a:rPr lang="zh-TW" altLang="en-US" sz="2000" dirty="0">
                <a:ea typeface="微軟正黑體" panose="020B0604030504040204" pitchFamily="34" charset="-120"/>
              </a:rPr>
              <a:t>並按</a:t>
            </a:r>
            <a:r>
              <a:rPr lang="en-US" altLang="zh-TW" sz="2000" dirty="0">
                <a:ea typeface="微軟正黑體" panose="020B0604030504040204" pitchFamily="34" charset="-120"/>
              </a:rPr>
              <a:t>selling price</a:t>
            </a:r>
            <a:r>
              <a:rPr lang="zh-TW" altLang="en-US" sz="2000" dirty="0">
                <a:ea typeface="微軟正黑體" panose="020B0604030504040204" pitchFamily="34" charset="-120"/>
              </a:rPr>
              <a:t>排序</a:t>
            </a:r>
            <a:endParaRPr lang="en-US" altLang="zh-TW" sz="2000" dirty="0">
              <a:ea typeface="微軟正黑體" panose="020B0604030504040204" pitchFamily="34" charset="-120"/>
            </a:endParaRPr>
          </a:p>
          <a:p>
            <a:pPr>
              <a:lnSpc>
                <a:spcPct val="150000"/>
              </a:lnSpc>
            </a:pPr>
            <a:r>
              <a:rPr lang="en-US" altLang="zh-TW" sz="2000" dirty="0">
                <a:ea typeface="微軟正黑體" panose="020B0604030504040204" pitchFamily="34" charset="-120"/>
              </a:rPr>
              <a:t>Step 5: </a:t>
            </a:r>
            <a:r>
              <a:rPr lang="zh-TW" altLang="en-US" sz="2000" dirty="0">
                <a:ea typeface="微軟正黑體" panose="020B0604030504040204" pitchFamily="34" charset="-120"/>
              </a:rPr>
              <a:t>計算</a:t>
            </a:r>
            <a:r>
              <a:rPr lang="en-US" altLang="zh-TW" sz="2000" dirty="0">
                <a:ea typeface="微軟正黑體" panose="020B0604030504040204" pitchFamily="34" charset="-120"/>
              </a:rPr>
              <a:t>SCPM</a:t>
            </a:r>
          </a:p>
          <a:p>
            <a:endParaRPr lang="zh-TW" altLang="en-US"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8</a:t>
            </a:fld>
            <a:endParaRPr lang="zh-TW" altLang="en-US"/>
          </a:p>
        </p:txBody>
      </p:sp>
      <p:pic>
        <p:nvPicPr>
          <p:cNvPr id="6" name="圖片 5">
            <a:extLst>
              <a:ext uri="{FF2B5EF4-FFF2-40B4-BE49-F238E27FC236}">
                <a16:creationId xmlns:a16="http://schemas.microsoft.com/office/drawing/2014/main" id="{CE2170F6-FEB6-4685-91C1-EC0C982A5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0146" y="365125"/>
            <a:ext cx="5482062" cy="3714762"/>
          </a:xfrm>
          <a:prstGeom prst="rect">
            <a:avLst/>
          </a:prstGeom>
        </p:spPr>
      </p:pic>
      <p:pic>
        <p:nvPicPr>
          <p:cNvPr id="8" name="圖片 7">
            <a:extLst>
              <a:ext uri="{FF2B5EF4-FFF2-40B4-BE49-F238E27FC236}">
                <a16:creationId xmlns:a16="http://schemas.microsoft.com/office/drawing/2014/main" id="{E81080D5-5F24-4D33-9AA5-587BE024CE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6229" y="4199542"/>
            <a:ext cx="3796757" cy="2521933"/>
          </a:xfrm>
          <a:prstGeom prst="rect">
            <a:avLst/>
          </a:prstGeom>
        </p:spPr>
      </p:pic>
    </p:spTree>
    <p:extLst>
      <p:ext uri="{BB962C8B-B14F-4D97-AF65-F5344CB8AC3E}">
        <p14:creationId xmlns:p14="http://schemas.microsoft.com/office/powerpoint/2010/main" val="3801521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ea typeface="微軟正黑體" panose="020B0604030504040204" pitchFamily="34" charset="-120"/>
              </a:rPr>
              <a:t>Smart Contract Participation Matrix(SCPM)</a:t>
            </a:r>
            <a:endParaRPr lang="zh-TW" altLang="en-US" sz="3600"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9</a:t>
            </a:fld>
            <a:endParaRPr lang="zh-TW" altLang="en-US"/>
          </a:p>
        </p:txBody>
      </p:sp>
      <p:pic>
        <p:nvPicPr>
          <p:cNvPr id="9" name="內容版面配置區 8">
            <a:extLst>
              <a:ext uri="{FF2B5EF4-FFF2-40B4-BE49-F238E27FC236}">
                <a16:creationId xmlns:a16="http://schemas.microsoft.com/office/drawing/2014/main" id="{35062DD3-9ADB-440F-97E7-BD5CD1BE715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0509" r="23978"/>
          <a:stretch/>
        </p:blipFill>
        <p:spPr bwMode="auto">
          <a:xfrm>
            <a:off x="7391400" y="1095632"/>
            <a:ext cx="3962400" cy="1841595"/>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3F889D3E-8854-45E1-8843-7DFE1879E5CD}"/>
              </a:ext>
            </a:extLst>
          </p:cNvPr>
          <p:cNvPicPr>
            <a:picLocks noChangeAspect="1"/>
          </p:cNvPicPr>
          <p:nvPr/>
        </p:nvPicPr>
        <p:blipFill>
          <a:blip r:embed="rId4"/>
          <a:stretch>
            <a:fillRect/>
          </a:stretch>
        </p:blipFill>
        <p:spPr>
          <a:xfrm>
            <a:off x="9553563" y="2902678"/>
            <a:ext cx="171474" cy="171474"/>
          </a:xfrm>
          <a:prstGeom prst="rect">
            <a:avLst/>
          </a:prstGeom>
        </p:spPr>
      </p:pic>
      <p:pic>
        <p:nvPicPr>
          <p:cNvPr id="11" name="圖片 10">
            <a:extLst>
              <a:ext uri="{FF2B5EF4-FFF2-40B4-BE49-F238E27FC236}">
                <a16:creationId xmlns:a16="http://schemas.microsoft.com/office/drawing/2014/main" id="{064140E3-0FFD-42C3-A893-579B3EC4E290}"/>
              </a:ext>
            </a:extLst>
          </p:cNvPr>
          <p:cNvPicPr>
            <a:picLocks noChangeAspect="1"/>
          </p:cNvPicPr>
          <p:nvPr/>
        </p:nvPicPr>
        <p:blipFill>
          <a:blip r:embed="rId4"/>
          <a:stretch>
            <a:fillRect/>
          </a:stretch>
        </p:blipFill>
        <p:spPr>
          <a:xfrm>
            <a:off x="8982063" y="2902678"/>
            <a:ext cx="171474" cy="171474"/>
          </a:xfrm>
          <a:prstGeom prst="rect">
            <a:avLst/>
          </a:prstGeom>
        </p:spPr>
      </p:pic>
      <p:sp>
        <p:nvSpPr>
          <p:cNvPr id="12" name="文字方塊 11">
            <a:extLst>
              <a:ext uri="{FF2B5EF4-FFF2-40B4-BE49-F238E27FC236}">
                <a16:creationId xmlns:a16="http://schemas.microsoft.com/office/drawing/2014/main" id="{35D364AE-7266-4795-BA40-6008E54362B4}"/>
              </a:ext>
            </a:extLst>
          </p:cNvPr>
          <p:cNvSpPr txBox="1"/>
          <p:nvPr/>
        </p:nvSpPr>
        <p:spPr>
          <a:xfrm>
            <a:off x="8915354" y="2533346"/>
            <a:ext cx="304892" cy="369332"/>
          </a:xfrm>
          <a:prstGeom prst="rect">
            <a:avLst/>
          </a:prstGeom>
          <a:noFill/>
        </p:spPr>
        <p:txBody>
          <a:bodyPr wrap="none" rtlCol="0">
            <a:spAutoFit/>
          </a:bodyPr>
          <a:lstStyle/>
          <a:p>
            <a:r>
              <a:rPr lang="en-US" altLang="zh-TW" dirty="0">
                <a:solidFill>
                  <a:srgbClr val="FF0000"/>
                </a:solidFill>
              </a:rPr>
              <a:t>X</a:t>
            </a:r>
            <a:endParaRPr lang="zh-TW" altLang="en-US" dirty="0">
              <a:solidFill>
                <a:srgbClr val="FF0000"/>
              </a:solidFill>
            </a:endParaRPr>
          </a:p>
        </p:txBody>
      </p:sp>
      <p:sp>
        <p:nvSpPr>
          <p:cNvPr id="13" name="文字方塊 12">
            <a:extLst>
              <a:ext uri="{FF2B5EF4-FFF2-40B4-BE49-F238E27FC236}">
                <a16:creationId xmlns:a16="http://schemas.microsoft.com/office/drawing/2014/main" id="{8D175DCE-A1A4-4AB0-A4A4-DF0A7E3DF9E7}"/>
              </a:ext>
            </a:extLst>
          </p:cNvPr>
          <p:cNvSpPr txBox="1"/>
          <p:nvPr/>
        </p:nvSpPr>
        <p:spPr>
          <a:xfrm>
            <a:off x="9486854" y="2486873"/>
            <a:ext cx="304892" cy="369332"/>
          </a:xfrm>
          <a:prstGeom prst="rect">
            <a:avLst/>
          </a:prstGeom>
          <a:noFill/>
        </p:spPr>
        <p:txBody>
          <a:bodyPr wrap="none" rtlCol="0">
            <a:spAutoFit/>
          </a:bodyPr>
          <a:lstStyle/>
          <a:p>
            <a:r>
              <a:rPr lang="en-US" altLang="zh-TW" dirty="0">
                <a:solidFill>
                  <a:srgbClr val="FF0000"/>
                </a:solidFill>
              </a:rPr>
              <a:t>X</a:t>
            </a:r>
            <a:endParaRPr lang="zh-TW" altLang="en-US" dirty="0">
              <a:solidFill>
                <a:srgbClr val="FF0000"/>
              </a:solidFill>
            </a:endParaRPr>
          </a:p>
        </p:txBody>
      </p:sp>
      <p:sp>
        <p:nvSpPr>
          <p:cNvPr id="15" name="內容版面配置區 2">
            <a:extLst>
              <a:ext uri="{FF2B5EF4-FFF2-40B4-BE49-F238E27FC236}">
                <a16:creationId xmlns:a16="http://schemas.microsoft.com/office/drawing/2014/main" id="{9FFE4422-956D-46DF-AA48-A6A2252976C5}"/>
              </a:ext>
            </a:extLst>
          </p:cNvPr>
          <p:cNvSpPr txBox="1">
            <a:spLocks/>
          </p:cNvSpPr>
          <p:nvPr/>
        </p:nvSpPr>
        <p:spPr>
          <a:xfrm>
            <a:off x="838200" y="1252151"/>
            <a:ext cx="6686550" cy="49248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是在</a:t>
            </a:r>
            <a:r>
              <a:rPr lang="en-US" altLang="zh-TW" sz="2000" dirty="0">
                <a:ea typeface="微軟正黑體" panose="020B0604030504040204" pitchFamily="34" charset="-120"/>
              </a:rPr>
              <a:t>P2P</a:t>
            </a:r>
            <a:r>
              <a:rPr lang="zh-TW" altLang="en-US" sz="2000" dirty="0">
                <a:ea typeface="微軟正黑體" panose="020B0604030504040204" pitchFamily="34" charset="-120"/>
              </a:rPr>
              <a:t>能源交易市場中用於可視化合約的一個參數矩陣。</a:t>
            </a:r>
          </a:p>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中的每個行代表消費者，每列代表生產者。</a:t>
            </a:r>
          </a:p>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所有行的總和總是</a:t>
            </a:r>
            <a:r>
              <a:rPr lang="en-US" altLang="zh-TW" sz="2000" dirty="0">
                <a:ea typeface="微軟正黑體" panose="020B0604030504040204" pitchFamily="34" charset="-120"/>
              </a:rPr>
              <a:t>1</a:t>
            </a:r>
            <a:r>
              <a:rPr lang="zh-TW" altLang="en-US" sz="2000" dirty="0">
                <a:ea typeface="微軟正黑體" panose="020B0604030504040204" pitchFamily="34" charset="-120"/>
              </a:rPr>
              <a:t>，代表消費者需求充分滿足。</a:t>
            </a:r>
          </a:p>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在智能合約中建造，並嵌入在區塊鏈網路每個區間創建的區塊中。</a:t>
            </a:r>
          </a:p>
          <a:p>
            <a:pPr>
              <a:lnSpc>
                <a:spcPct val="150000"/>
              </a:lnSpc>
            </a:pPr>
            <a:r>
              <a:rPr lang="en-US" altLang="zh-TW" sz="2000" dirty="0">
                <a:ea typeface="微軟正黑體" panose="020B0604030504040204" pitchFamily="34" charset="-120"/>
              </a:rPr>
              <a:t>SCPM</a:t>
            </a:r>
            <a:r>
              <a:rPr lang="zh-TW" altLang="en-US" sz="2000" dirty="0">
                <a:ea typeface="微軟正黑體" panose="020B0604030504040204" pitchFamily="34" charset="-120"/>
              </a:rPr>
              <a:t>隨著時間的推移形成一條鏈，資訊分佈在整個區塊鏈網路的節點上。</a:t>
            </a:r>
          </a:p>
        </p:txBody>
      </p:sp>
    </p:spTree>
    <p:extLst>
      <p:ext uri="{BB962C8B-B14F-4D97-AF65-F5344CB8AC3E}">
        <p14:creationId xmlns:p14="http://schemas.microsoft.com/office/powerpoint/2010/main" val="200937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SCPM Instance</a:t>
            </a:r>
            <a:endParaRPr lang="zh-TW" altLang="en-US" sz="3600"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10</a:t>
            </a:fld>
            <a:endParaRPr lang="zh-TW" altLang="en-US"/>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46A1A05E-40CD-40F2-8C2A-380F9676CE15}"/>
                  </a:ext>
                </a:extLst>
              </p:cNvPr>
              <p:cNvSpPr txBox="1"/>
              <p:nvPr/>
            </p:nvSpPr>
            <p:spPr>
              <a:xfrm>
                <a:off x="349827" y="1236518"/>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:700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:449</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:482</m:t>
                      </m:r>
                      <m:r>
                        <a:rPr lang="en-US" altLang="zh-TW" b="0" i="1" smtClean="0">
                          <a:latin typeface="Cambria Math" panose="02040503050406030204" pitchFamily="18" charset="0"/>
                        </a:rPr>
                        <m:t>𝑘𝑊</m:t>
                      </m:r>
                    </m:oMath>
                  </m:oMathPara>
                </a14:m>
                <a:endParaRPr lang="zh-TW" altLang="en-US" dirty="0"/>
              </a:p>
            </p:txBody>
          </p:sp>
        </mc:Choice>
        <mc:Fallback>
          <p:sp>
            <p:nvSpPr>
              <p:cNvPr id="4" name="文字方塊 3">
                <a:extLst>
                  <a:ext uri="{FF2B5EF4-FFF2-40B4-BE49-F238E27FC236}">
                    <a16:creationId xmlns:a16="http://schemas.microsoft.com/office/drawing/2014/main" id="{46A1A05E-40CD-40F2-8C2A-380F9676CE15}"/>
                  </a:ext>
                </a:extLst>
              </p:cNvPr>
              <p:cNvSpPr txBox="1">
                <a:spLocks noRot="1" noChangeAspect="1" noMove="1" noResize="1" noEditPoints="1" noAdjustHandles="1" noChangeArrowheads="1" noChangeShapeType="1" noTextEdit="1"/>
              </p:cNvSpPr>
              <p:nvPr/>
            </p:nvSpPr>
            <p:spPr>
              <a:xfrm>
                <a:off x="349827" y="1236518"/>
                <a:ext cx="1288472" cy="1200329"/>
              </a:xfrm>
              <a:prstGeom prst="rect">
                <a:avLst/>
              </a:prstGeom>
              <a:blipFill>
                <a:blip r:embed="rId3"/>
                <a:stretch>
                  <a:fillRect l="-3774" t="-304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7DA2B78D-2215-4A66-9598-A8B2575AF60C}"/>
                  </a:ext>
                </a:extLst>
              </p:cNvPr>
              <p:cNvSpPr txBox="1"/>
              <p:nvPr/>
            </p:nvSpPr>
            <p:spPr>
              <a:xfrm>
                <a:off x="1711036" y="1236518"/>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:225</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:456</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:600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:414</m:t>
                      </m:r>
                      <m:r>
                        <a:rPr lang="en-US" altLang="zh-TW" b="0" i="1" smtClean="0">
                          <a:latin typeface="Cambria Math" panose="02040503050406030204" pitchFamily="18" charset="0"/>
                        </a:rPr>
                        <m:t>𝑘𝑊</m:t>
                      </m:r>
                    </m:oMath>
                  </m:oMathPara>
                </a14:m>
                <a:endParaRPr lang="zh-TW" altLang="en-US" dirty="0"/>
              </a:p>
            </p:txBody>
          </p:sp>
        </mc:Choice>
        <mc:Fallback>
          <p:sp>
            <p:nvSpPr>
              <p:cNvPr id="6" name="文字方塊 5">
                <a:extLst>
                  <a:ext uri="{FF2B5EF4-FFF2-40B4-BE49-F238E27FC236}">
                    <a16:creationId xmlns:a16="http://schemas.microsoft.com/office/drawing/2014/main" id="{7DA2B78D-2215-4A66-9598-A8B2575AF60C}"/>
                  </a:ext>
                </a:extLst>
              </p:cNvPr>
              <p:cNvSpPr txBox="1">
                <a:spLocks noRot="1" noChangeAspect="1" noMove="1" noResize="1" noEditPoints="1" noAdjustHandles="1" noChangeArrowheads="1" noChangeShapeType="1" noTextEdit="1"/>
              </p:cNvSpPr>
              <p:nvPr/>
            </p:nvSpPr>
            <p:spPr>
              <a:xfrm>
                <a:off x="1711036" y="1236518"/>
                <a:ext cx="1288472" cy="1477328"/>
              </a:xfrm>
              <a:prstGeom prst="rect">
                <a:avLst/>
              </a:prstGeom>
              <a:blipFill>
                <a:blip r:embed="rId4"/>
                <a:stretch>
                  <a:fillRect l="-4265" t="-247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 name="文字方塊 7">
                <a:extLst>
                  <a:ext uri="{FF2B5EF4-FFF2-40B4-BE49-F238E27FC236}">
                    <a16:creationId xmlns:a16="http://schemas.microsoft.com/office/drawing/2014/main" id="{7398F606-342E-4803-83A3-7DA283045FC0}"/>
                  </a:ext>
                </a:extLst>
              </p:cNvPr>
              <p:cNvSpPr txBox="1"/>
              <p:nvPr/>
            </p:nvSpPr>
            <p:spPr>
              <a:xfrm>
                <a:off x="4606638" y="1236518"/>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:475</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:449</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:482</m:t>
                      </m:r>
                      <m:r>
                        <a:rPr lang="en-US" altLang="zh-TW" b="0" i="1" smtClean="0">
                          <a:latin typeface="Cambria Math" panose="02040503050406030204" pitchFamily="18" charset="0"/>
                        </a:rPr>
                        <m:t>𝑘𝑊</m:t>
                      </m:r>
                    </m:oMath>
                  </m:oMathPara>
                </a14:m>
                <a:endParaRPr lang="zh-TW" altLang="en-US" dirty="0"/>
              </a:p>
            </p:txBody>
          </p:sp>
        </mc:Choice>
        <mc:Fallback>
          <p:sp>
            <p:nvSpPr>
              <p:cNvPr id="8" name="文字方塊 7">
                <a:extLst>
                  <a:ext uri="{FF2B5EF4-FFF2-40B4-BE49-F238E27FC236}">
                    <a16:creationId xmlns:a16="http://schemas.microsoft.com/office/drawing/2014/main" id="{7398F606-342E-4803-83A3-7DA283045FC0}"/>
                  </a:ext>
                </a:extLst>
              </p:cNvPr>
              <p:cNvSpPr txBox="1">
                <a:spLocks noRot="1" noChangeAspect="1" noMove="1" noResize="1" noEditPoints="1" noAdjustHandles="1" noChangeArrowheads="1" noChangeShapeType="1" noTextEdit="1"/>
              </p:cNvSpPr>
              <p:nvPr/>
            </p:nvSpPr>
            <p:spPr>
              <a:xfrm>
                <a:off x="4606638" y="1236518"/>
                <a:ext cx="1288472" cy="1200329"/>
              </a:xfrm>
              <a:prstGeom prst="rect">
                <a:avLst/>
              </a:prstGeom>
              <a:blipFill>
                <a:blip r:embed="rId5"/>
                <a:stretch>
                  <a:fillRect l="-4265" t="-304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E8CE2E34-C84B-4FC3-8BEE-B0CC427149AF}"/>
                  </a:ext>
                </a:extLst>
              </p:cNvPr>
              <p:cNvSpPr txBox="1"/>
              <p:nvPr/>
            </p:nvSpPr>
            <p:spPr>
              <a:xfrm>
                <a:off x="5967847" y="1236518"/>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:456</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:600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:414</m:t>
                      </m:r>
                      <m:r>
                        <a:rPr lang="en-US" altLang="zh-TW" b="0" i="1" smtClean="0">
                          <a:latin typeface="Cambria Math" panose="02040503050406030204" pitchFamily="18" charset="0"/>
                        </a:rPr>
                        <m:t>𝑘𝑊</m:t>
                      </m:r>
                    </m:oMath>
                  </m:oMathPara>
                </a14:m>
                <a:endParaRPr lang="zh-TW" altLang="en-US" dirty="0"/>
              </a:p>
            </p:txBody>
          </p:sp>
        </mc:Choice>
        <mc:Fallback>
          <p:sp>
            <p:nvSpPr>
              <p:cNvPr id="9" name="文字方塊 8">
                <a:extLst>
                  <a:ext uri="{FF2B5EF4-FFF2-40B4-BE49-F238E27FC236}">
                    <a16:creationId xmlns:a16="http://schemas.microsoft.com/office/drawing/2014/main" id="{E8CE2E34-C84B-4FC3-8BEE-B0CC427149AF}"/>
                  </a:ext>
                </a:extLst>
              </p:cNvPr>
              <p:cNvSpPr txBox="1">
                <a:spLocks noRot="1" noChangeAspect="1" noMove="1" noResize="1" noEditPoints="1" noAdjustHandles="1" noChangeArrowheads="1" noChangeShapeType="1" noTextEdit="1"/>
              </p:cNvSpPr>
              <p:nvPr/>
            </p:nvSpPr>
            <p:spPr>
              <a:xfrm>
                <a:off x="5967847" y="1236518"/>
                <a:ext cx="1288472" cy="1477328"/>
              </a:xfrm>
              <a:prstGeom prst="rect">
                <a:avLst/>
              </a:prstGeom>
              <a:blipFill>
                <a:blip r:embed="rId6"/>
                <a:stretch>
                  <a:fillRect l="-4265" t="-2479"/>
                </a:stretch>
              </a:blipFill>
            </p:spPr>
            <p:txBody>
              <a:bodyPr/>
              <a:lstStyle/>
              <a:p>
                <a:r>
                  <a:rPr lang="zh-TW" altLang="en-US">
                    <a:noFill/>
                  </a:rPr>
                  <a:t> </a:t>
                </a:r>
              </a:p>
            </p:txBody>
          </p:sp>
        </mc:Fallback>
      </mc:AlternateContent>
      <p:cxnSp>
        <p:nvCxnSpPr>
          <p:cNvPr id="11" name="直線單箭頭接點 10">
            <a:extLst>
              <a:ext uri="{FF2B5EF4-FFF2-40B4-BE49-F238E27FC236}">
                <a16:creationId xmlns:a16="http://schemas.microsoft.com/office/drawing/2014/main" id="{85629B7C-BD74-4F1B-90D1-811F5F065EE0}"/>
              </a:ext>
            </a:extLst>
          </p:cNvPr>
          <p:cNvCxnSpPr>
            <a:cxnSpLocks/>
          </p:cNvCxnSpPr>
          <p:nvPr/>
        </p:nvCxnSpPr>
        <p:spPr>
          <a:xfrm>
            <a:off x="3127664" y="1953491"/>
            <a:ext cx="1350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351006C4-2873-48B6-81B9-B62619A60B8C}"/>
                  </a:ext>
                </a:extLst>
              </p:cNvPr>
              <p:cNvSpPr txBox="1"/>
              <p:nvPr/>
            </p:nvSpPr>
            <p:spPr>
              <a:xfrm>
                <a:off x="8863449" y="1236518"/>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:19</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:449</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:482</m:t>
                      </m:r>
                      <m:r>
                        <a:rPr lang="en-US" altLang="zh-TW" b="0" i="1" smtClean="0">
                          <a:latin typeface="Cambria Math" panose="02040503050406030204" pitchFamily="18" charset="0"/>
                        </a:rPr>
                        <m:t>𝑘𝑊</m:t>
                      </m:r>
                    </m:oMath>
                  </m:oMathPara>
                </a14:m>
                <a:endParaRPr lang="zh-TW" altLang="en-US" dirty="0"/>
              </a:p>
            </p:txBody>
          </p:sp>
        </mc:Choice>
        <mc:Fallback>
          <p:sp>
            <p:nvSpPr>
              <p:cNvPr id="13" name="文字方塊 12">
                <a:extLst>
                  <a:ext uri="{FF2B5EF4-FFF2-40B4-BE49-F238E27FC236}">
                    <a16:creationId xmlns:a16="http://schemas.microsoft.com/office/drawing/2014/main" id="{351006C4-2873-48B6-81B9-B62619A60B8C}"/>
                  </a:ext>
                </a:extLst>
              </p:cNvPr>
              <p:cNvSpPr txBox="1">
                <a:spLocks noRot="1" noChangeAspect="1" noMove="1" noResize="1" noEditPoints="1" noAdjustHandles="1" noChangeArrowheads="1" noChangeShapeType="1" noTextEdit="1"/>
              </p:cNvSpPr>
              <p:nvPr/>
            </p:nvSpPr>
            <p:spPr>
              <a:xfrm>
                <a:off x="8863449" y="1236518"/>
                <a:ext cx="1288472" cy="1200329"/>
              </a:xfrm>
              <a:prstGeom prst="rect">
                <a:avLst/>
              </a:prstGeom>
              <a:blipFill>
                <a:blip r:embed="rId7"/>
                <a:stretch>
                  <a:fillRect l="-4265" t="-304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87178F34-5123-4577-821A-71B5CB117D2A}"/>
                  </a:ext>
                </a:extLst>
              </p:cNvPr>
              <p:cNvSpPr txBox="1"/>
              <p:nvPr/>
            </p:nvSpPr>
            <p:spPr>
              <a:xfrm>
                <a:off x="10224658" y="1236518"/>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:600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:414</m:t>
                      </m:r>
                      <m:r>
                        <a:rPr lang="en-US" altLang="zh-TW" b="0" i="1" smtClean="0">
                          <a:latin typeface="Cambria Math" panose="02040503050406030204" pitchFamily="18" charset="0"/>
                        </a:rPr>
                        <m:t>𝑘𝑊</m:t>
                      </m:r>
                    </m:oMath>
                  </m:oMathPara>
                </a14:m>
                <a:endParaRPr lang="zh-TW" altLang="en-US" dirty="0"/>
              </a:p>
            </p:txBody>
          </p:sp>
        </mc:Choice>
        <mc:Fallback>
          <p:sp>
            <p:nvSpPr>
              <p:cNvPr id="14" name="文字方塊 13">
                <a:extLst>
                  <a:ext uri="{FF2B5EF4-FFF2-40B4-BE49-F238E27FC236}">
                    <a16:creationId xmlns:a16="http://schemas.microsoft.com/office/drawing/2014/main" id="{87178F34-5123-4577-821A-71B5CB117D2A}"/>
                  </a:ext>
                </a:extLst>
              </p:cNvPr>
              <p:cNvSpPr txBox="1">
                <a:spLocks noRot="1" noChangeAspect="1" noMove="1" noResize="1" noEditPoints="1" noAdjustHandles="1" noChangeArrowheads="1" noChangeShapeType="1" noTextEdit="1"/>
              </p:cNvSpPr>
              <p:nvPr/>
            </p:nvSpPr>
            <p:spPr>
              <a:xfrm>
                <a:off x="10224658" y="1236518"/>
                <a:ext cx="1288472" cy="1477328"/>
              </a:xfrm>
              <a:prstGeom prst="rect">
                <a:avLst/>
              </a:prstGeom>
              <a:blipFill>
                <a:blip r:embed="rId8"/>
                <a:stretch>
                  <a:fillRect l="-3774" t="-2479"/>
                </a:stretch>
              </a:blipFill>
            </p:spPr>
            <p:txBody>
              <a:bodyPr/>
              <a:lstStyle/>
              <a:p>
                <a:r>
                  <a:rPr lang="zh-TW" altLang="en-US">
                    <a:noFill/>
                  </a:rPr>
                  <a:t> </a:t>
                </a:r>
              </a:p>
            </p:txBody>
          </p:sp>
        </mc:Fallback>
      </mc:AlternateContent>
      <p:cxnSp>
        <p:nvCxnSpPr>
          <p:cNvPr id="15" name="直線單箭頭接點 14">
            <a:extLst>
              <a:ext uri="{FF2B5EF4-FFF2-40B4-BE49-F238E27FC236}">
                <a16:creationId xmlns:a16="http://schemas.microsoft.com/office/drawing/2014/main" id="{A982BC6C-D983-4C90-A8F5-C4C7D9483B2E}"/>
              </a:ext>
            </a:extLst>
          </p:cNvPr>
          <p:cNvCxnSpPr>
            <a:cxnSpLocks/>
          </p:cNvCxnSpPr>
          <p:nvPr/>
        </p:nvCxnSpPr>
        <p:spPr>
          <a:xfrm>
            <a:off x="7384475" y="1953491"/>
            <a:ext cx="1350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4C498D18-86F7-46F2-B297-240856D8A1A0}"/>
                  </a:ext>
                </a:extLst>
              </p:cNvPr>
              <p:cNvSpPr txBox="1"/>
              <p:nvPr/>
            </p:nvSpPr>
            <p:spPr>
              <a:xfrm>
                <a:off x="2887588" y="1323087"/>
                <a:ext cx="1754775" cy="55996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b="0" i="1" smtClean="0">
                              <a:latin typeface="Cambria Math" panose="02040503050406030204" pitchFamily="18" charset="0"/>
                            </a:rPr>
                            <m:t>11</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225</m:t>
                          </m:r>
                        </m:num>
                        <m:den>
                          <m:r>
                            <a:rPr lang="en-US" altLang="zh-TW" sz="1600" b="0" i="1" smtClean="0">
                              <a:latin typeface="Cambria Math" panose="02040503050406030204" pitchFamily="18" charset="0"/>
                            </a:rPr>
                            <m:t>700</m:t>
                          </m:r>
                        </m:den>
                      </m:f>
                      <m:r>
                        <a:rPr lang="en-US" altLang="zh-TW" sz="1600" i="1">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0.32</m:t>
                      </m:r>
                    </m:oMath>
                  </m:oMathPara>
                </a14:m>
                <a:endParaRPr lang="zh-TW" altLang="en-US" sz="1600" dirty="0"/>
              </a:p>
            </p:txBody>
          </p:sp>
        </mc:Choice>
        <mc:Fallback>
          <p:sp>
            <p:nvSpPr>
              <p:cNvPr id="16" name="文字方塊 15">
                <a:extLst>
                  <a:ext uri="{FF2B5EF4-FFF2-40B4-BE49-F238E27FC236}">
                    <a16:creationId xmlns:a16="http://schemas.microsoft.com/office/drawing/2014/main" id="{4C498D18-86F7-46F2-B297-240856D8A1A0}"/>
                  </a:ext>
                </a:extLst>
              </p:cNvPr>
              <p:cNvSpPr txBox="1">
                <a:spLocks noRot="1" noChangeAspect="1" noMove="1" noResize="1" noEditPoints="1" noAdjustHandles="1" noChangeArrowheads="1" noChangeShapeType="1" noTextEdit="1"/>
              </p:cNvSpPr>
              <p:nvPr/>
            </p:nvSpPr>
            <p:spPr>
              <a:xfrm>
                <a:off x="2887588" y="1323087"/>
                <a:ext cx="1754775" cy="559961"/>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9DF46715-52EC-4704-B0E6-94C1EEAC3AC0}"/>
                  </a:ext>
                </a:extLst>
              </p:cNvPr>
              <p:cNvSpPr txBox="1"/>
              <p:nvPr/>
            </p:nvSpPr>
            <p:spPr>
              <a:xfrm>
                <a:off x="7150882" y="1323086"/>
                <a:ext cx="1759521" cy="55996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b="0" i="1" smtClean="0">
                              <a:latin typeface="Cambria Math" panose="02040503050406030204" pitchFamily="18" charset="0"/>
                            </a:rPr>
                            <m:t>21</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456</m:t>
                          </m:r>
                        </m:num>
                        <m:den>
                          <m:r>
                            <a:rPr lang="en-US" altLang="zh-TW" sz="1600" b="0" i="1" smtClean="0">
                              <a:latin typeface="Cambria Math" panose="02040503050406030204" pitchFamily="18" charset="0"/>
                            </a:rPr>
                            <m:t>700</m:t>
                          </m:r>
                        </m:den>
                      </m:f>
                      <m:r>
                        <a:rPr lang="en-US" altLang="zh-TW" sz="1600" i="1">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0.65</m:t>
                      </m:r>
                    </m:oMath>
                  </m:oMathPara>
                </a14:m>
                <a:endParaRPr lang="zh-TW" altLang="en-US" sz="1600" dirty="0"/>
              </a:p>
            </p:txBody>
          </p:sp>
        </mc:Choice>
        <mc:Fallback>
          <p:sp>
            <p:nvSpPr>
              <p:cNvPr id="17" name="文字方塊 16">
                <a:extLst>
                  <a:ext uri="{FF2B5EF4-FFF2-40B4-BE49-F238E27FC236}">
                    <a16:creationId xmlns:a16="http://schemas.microsoft.com/office/drawing/2014/main" id="{9DF46715-52EC-4704-B0E6-94C1EEAC3AC0}"/>
                  </a:ext>
                </a:extLst>
              </p:cNvPr>
              <p:cNvSpPr txBox="1">
                <a:spLocks noRot="1" noChangeAspect="1" noMove="1" noResize="1" noEditPoints="1" noAdjustHandles="1" noChangeArrowheads="1" noChangeShapeType="1" noTextEdit="1"/>
              </p:cNvSpPr>
              <p:nvPr/>
            </p:nvSpPr>
            <p:spPr>
              <a:xfrm>
                <a:off x="7150882" y="1323086"/>
                <a:ext cx="1759521" cy="55996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 name="文字方塊 17">
                <a:extLst>
                  <a:ext uri="{FF2B5EF4-FFF2-40B4-BE49-F238E27FC236}">
                    <a16:creationId xmlns:a16="http://schemas.microsoft.com/office/drawing/2014/main" id="{4108F126-9922-4B8D-8761-0E2EBCDD3913}"/>
                  </a:ext>
                </a:extLst>
              </p:cNvPr>
              <p:cNvSpPr txBox="1"/>
              <p:nvPr/>
            </p:nvSpPr>
            <p:spPr>
              <a:xfrm>
                <a:off x="8865178" y="4688593"/>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m:t>
                      </m:r>
                      <m:r>
                        <a:rPr lang="en-US" altLang="zh-TW" i="1">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:482</m:t>
                      </m:r>
                      <m:r>
                        <a:rPr lang="en-US" altLang="zh-TW" b="0" i="1" smtClean="0">
                          <a:latin typeface="Cambria Math" panose="02040503050406030204" pitchFamily="18" charset="0"/>
                        </a:rPr>
                        <m:t>𝑘𝑊</m:t>
                      </m:r>
                    </m:oMath>
                  </m:oMathPara>
                </a14:m>
                <a:endParaRPr lang="zh-TW" altLang="en-US" dirty="0"/>
              </a:p>
            </p:txBody>
          </p:sp>
        </mc:Choice>
        <mc:Fallback>
          <p:sp>
            <p:nvSpPr>
              <p:cNvPr id="18" name="文字方塊 17">
                <a:extLst>
                  <a:ext uri="{FF2B5EF4-FFF2-40B4-BE49-F238E27FC236}">
                    <a16:creationId xmlns:a16="http://schemas.microsoft.com/office/drawing/2014/main" id="{4108F126-9922-4B8D-8761-0E2EBCDD3913}"/>
                  </a:ext>
                </a:extLst>
              </p:cNvPr>
              <p:cNvSpPr txBox="1">
                <a:spLocks noRot="1" noChangeAspect="1" noMove="1" noResize="1" noEditPoints="1" noAdjustHandles="1" noChangeArrowheads="1" noChangeShapeType="1" noTextEdit="1"/>
              </p:cNvSpPr>
              <p:nvPr/>
            </p:nvSpPr>
            <p:spPr>
              <a:xfrm>
                <a:off x="8865178" y="4688593"/>
                <a:ext cx="1288472" cy="1200329"/>
              </a:xfrm>
              <a:prstGeom prst="rect">
                <a:avLst/>
              </a:prstGeom>
              <a:blipFill>
                <a:blip r:embed="rId11"/>
                <a:stretch>
                  <a:fillRect l="-3774" t="-253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493640A9-2075-4B00-B168-7325F36F79EB}"/>
                  </a:ext>
                </a:extLst>
              </p:cNvPr>
              <p:cNvSpPr txBox="1"/>
              <p:nvPr/>
            </p:nvSpPr>
            <p:spPr>
              <a:xfrm>
                <a:off x="10226387" y="4688593"/>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i="1">
                          <a:latin typeface="Cambria Math" panose="02040503050406030204" pitchFamily="18" charset="0"/>
                        </a:rPr>
                        <m:t>1</m:t>
                      </m:r>
                      <m:r>
                        <a:rPr lang="en-US" altLang="zh-TW" i="1" smtClean="0">
                          <a:latin typeface="Cambria Math" panose="02040503050406030204" pitchFamily="18" charset="0"/>
                        </a:rPr>
                        <m:t>3</m:t>
                      </m:r>
                      <m:r>
                        <a:rPr lang="en-US" altLang="zh-TW" i="1">
                          <a:latin typeface="Cambria Math" panose="02040503050406030204" pitchFamily="18" charset="0"/>
                        </a:rPr>
                        <m:t>2</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:414</m:t>
                      </m:r>
                      <m:r>
                        <a:rPr lang="en-US" altLang="zh-TW" b="0" i="1" smtClean="0">
                          <a:latin typeface="Cambria Math" panose="02040503050406030204" pitchFamily="18" charset="0"/>
                        </a:rPr>
                        <m:t>𝑘𝑊</m:t>
                      </m:r>
                    </m:oMath>
                  </m:oMathPara>
                </a14:m>
                <a:endParaRPr lang="zh-TW" altLang="en-US" dirty="0"/>
              </a:p>
            </p:txBody>
          </p:sp>
        </mc:Choice>
        <mc:Fallback>
          <p:sp>
            <p:nvSpPr>
              <p:cNvPr id="19" name="文字方塊 18">
                <a:extLst>
                  <a:ext uri="{FF2B5EF4-FFF2-40B4-BE49-F238E27FC236}">
                    <a16:creationId xmlns:a16="http://schemas.microsoft.com/office/drawing/2014/main" id="{493640A9-2075-4B00-B168-7325F36F79EB}"/>
                  </a:ext>
                </a:extLst>
              </p:cNvPr>
              <p:cNvSpPr txBox="1">
                <a:spLocks noRot="1" noChangeAspect="1" noMove="1" noResize="1" noEditPoints="1" noAdjustHandles="1" noChangeArrowheads="1" noChangeShapeType="1" noTextEdit="1"/>
              </p:cNvSpPr>
              <p:nvPr/>
            </p:nvSpPr>
            <p:spPr>
              <a:xfrm>
                <a:off x="10226387" y="4688593"/>
                <a:ext cx="1288472" cy="1477328"/>
              </a:xfrm>
              <a:prstGeom prst="rect">
                <a:avLst/>
              </a:prstGeom>
              <a:blipFill>
                <a:blip r:embed="rId12"/>
                <a:stretch>
                  <a:fillRect l="-4265" t="-2066"/>
                </a:stretch>
              </a:blipFill>
            </p:spPr>
            <p:txBody>
              <a:bodyPr/>
              <a:lstStyle/>
              <a:p>
                <a:r>
                  <a:rPr lang="zh-TW" altLang="en-US">
                    <a:noFill/>
                  </a:rPr>
                  <a:t> </a:t>
                </a:r>
              </a:p>
            </p:txBody>
          </p:sp>
        </mc:Fallback>
      </mc:AlternateContent>
      <p:cxnSp>
        <p:nvCxnSpPr>
          <p:cNvPr id="22" name="直線單箭頭接點 21">
            <a:extLst>
              <a:ext uri="{FF2B5EF4-FFF2-40B4-BE49-F238E27FC236}">
                <a16:creationId xmlns:a16="http://schemas.microsoft.com/office/drawing/2014/main" id="{2A286D3D-095B-400D-9C9F-463A2620B2AD}"/>
              </a:ext>
            </a:extLst>
          </p:cNvPr>
          <p:cNvCxnSpPr>
            <a:cxnSpLocks/>
          </p:cNvCxnSpPr>
          <p:nvPr/>
        </p:nvCxnSpPr>
        <p:spPr>
          <a:xfrm>
            <a:off x="10224658" y="2713846"/>
            <a:ext cx="0" cy="1888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文字方塊 25">
                <a:extLst>
                  <a:ext uri="{FF2B5EF4-FFF2-40B4-BE49-F238E27FC236}">
                    <a16:creationId xmlns:a16="http://schemas.microsoft.com/office/drawing/2014/main" id="{42FA7A88-0FCB-4D57-9159-3F9D0EBD2B09}"/>
                  </a:ext>
                </a:extLst>
              </p:cNvPr>
              <p:cNvSpPr txBox="1"/>
              <p:nvPr/>
            </p:nvSpPr>
            <p:spPr>
              <a:xfrm>
                <a:off x="8392400" y="3240894"/>
                <a:ext cx="1759521" cy="55496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i="1">
                              <a:latin typeface="Cambria Math" panose="02040503050406030204" pitchFamily="18" charset="0"/>
                            </a:rPr>
                            <m:t>3</m:t>
                          </m:r>
                          <m:r>
                            <a:rPr lang="en-US" altLang="zh-TW" sz="1600" b="0" i="1" smtClean="0">
                              <a:latin typeface="Cambria Math" panose="02040503050406030204" pitchFamily="18" charset="0"/>
                            </a:rPr>
                            <m:t>1</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i="1">
                              <a:latin typeface="Cambria Math" panose="02040503050406030204" pitchFamily="18" charset="0"/>
                            </a:rPr>
                            <m:t>1</m:t>
                          </m:r>
                          <m:r>
                            <a:rPr lang="en-US" altLang="zh-TW" sz="1600" i="1" smtClean="0">
                              <a:latin typeface="Cambria Math" panose="02040503050406030204" pitchFamily="18" charset="0"/>
                            </a:rPr>
                            <m:t>9</m:t>
                          </m:r>
                        </m:num>
                        <m:den>
                          <m:r>
                            <a:rPr lang="en-US" altLang="zh-TW" sz="1600" b="0" i="1" smtClean="0">
                              <a:latin typeface="Cambria Math" panose="02040503050406030204" pitchFamily="18" charset="0"/>
                            </a:rPr>
                            <m:t>700</m:t>
                          </m:r>
                        </m:den>
                      </m:f>
                      <m:r>
                        <a:rPr lang="en-US" altLang="zh-TW" sz="1600" i="1">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m:t>
                      </m:r>
                      <m:r>
                        <a:rPr lang="en-US" altLang="zh-TW" sz="1600" i="1">
                          <a:latin typeface="Cambria Math" panose="02040503050406030204" pitchFamily="18" charset="0"/>
                          <a:ea typeface="Cambria Math" panose="02040503050406030204" pitchFamily="18" charset="0"/>
                        </a:rPr>
                        <m:t>0</m:t>
                      </m:r>
                      <m:r>
                        <a:rPr lang="en-US" altLang="zh-TW" sz="1600" i="1" smtClean="0">
                          <a:latin typeface="Cambria Math" panose="02040503050406030204" pitchFamily="18" charset="0"/>
                          <a:ea typeface="Cambria Math" panose="02040503050406030204" pitchFamily="18" charset="0"/>
                        </a:rPr>
                        <m:t>3</m:t>
                      </m:r>
                    </m:oMath>
                  </m:oMathPara>
                </a14:m>
                <a:endParaRPr lang="zh-TW" altLang="en-US" sz="1600" dirty="0"/>
              </a:p>
            </p:txBody>
          </p:sp>
        </mc:Choice>
        <mc:Fallback>
          <p:sp>
            <p:nvSpPr>
              <p:cNvPr id="26" name="文字方塊 25">
                <a:extLst>
                  <a:ext uri="{FF2B5EF4-FFF2-40B4-BE49-F238E27FC236}">
                    <a16:creationId xmlns:a16="http://schemas.microsoft.com/office/drawing/2014/main" id="{42FA7A88-0FCB-4D57-9159-3F9D0EBD2B09}"/>
                  </a:ext>
                </a:extLst>
              </p:cNvPr>
              <p:cNvSpPr txBox="1">
                <a:spLocks noRot="1" noChangeAspect="1" noMove="1" noResize="1" noEditPoints="1" noAdjustHandles="1" noChangeArrowheads="1" noChangeShapeType="1" noTextEdit="1"/>
              </p:cNvSpPr>
              <p:nvPr/>
            </p:nvSpPr>
            <p:spPr>
              <a:xfrm>
                <a:off x="8392400" y="3240894"/>
                <a:ext cx="1759521" cy="554960"/>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文字方塊 26">
                <a:extLst>
                  <a:ext uri="{FF2B5EF4-FFF2-40B4-BE49-F238E27FC236}">
                    <a16:creationId xmlns:a16="http://schemas.microsoft.com/office/drawing/2014/main" id="{404CC384-435B-47CE-AA60-939FD83795F1}"/>
                  </a:ext>
                </a:extLst>
              </p:cNvPr>
              <p:cNvSpPr txBox="1"/>
              <p:nvPr/>
            </p:nvSpPr>
            <p:spPr>
              <a:xfrm>
                <a:off x="10224658" y="3240894"/>
                <a:ext cx="1493422" cy="55496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i="1">
                              <a:latin typeface="Cambria Math" panose="02040503050406030204" pitchFamily="18" charset="0"/>
                            </a:rPr>
                            <m:t>3</m:t>
                          </m:r>
                          <m:r>
                            <a:rPr lang="en-US" altLang="zh-TW" sz="1600" b="0" i="1" smtClean="0">
                              <a:latin typeface="Cambria Math" panose="02040503050406030204" pitchFamily="18" charset="0"/>
                            </a:rPr>
                            <m:t>2</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449</m:t>
                          </m:r>
                        </m:num>
                        <m:den>
                          <m:r>
                            <a:rPr lang="en-US" altLang="zh-TW" sz="1600" b="0" i="1" smtClean="0">
                              <a:latin typeface="Cambria Math" panose="02040503050406030204" pitchFamily="18" charset="0"/>
                            </a:rPr>
                            <m:t>449</m:t>
                          </m:r>
                        </m:den>
                      </m:f>
                      <m:r>
                        <a:rPr lang="en-US" altLang="zh-TW" sz="1600" b="0" i="1" smtClean="0">
                          <a:latin typeface="Cambria Math" panose="02040503050406030204" pitchFamily="18" charset="0"/>
                        </a:rPr>
                        <m:t>=1</m:t>
                      </m:r>
                    </m:oMath>
                  </m:oMathPara>
                </a14:m>
                <a:endParaRPr lang="zh-TW" altLang="en-US" sz="1600" dirty="0"/>
              </a:p>
            </p:txBody>
          </p:sp>
        </mc:Choice>
        <mc:Fallback>
          <p:sp>
            <p:nvSpPr>
              <p:cNvPr id="27" name="文字方塊 26">
                <a:extLst>
                  <a:ext uri="{FF2B5EF4-FFF2-40B4-BE49-F238E27FC236}">
                    <a16:creationId xmlns:a16="http://schemas.microsoft.com/office/drawing/2014/main" id="{404CC384-435B-47CE-AA60-939FD83795F1}"/>
                  </a:ext>
                </a:extLst>
              </p:cNvPr>
              <p:cNvSpPr txBox="1">
                <a:spLocks noRot="1" noChangeAspect="1" noMove="1" noResize="1" noEditPoints="1" noAdjustHandles="1" noChangeArrowheads="1" noChangeShapeType="1" noTextEdit="1"/>
              </p:cNvSpPr>
              <p:nvPr/>
            </p:nvSpPr>
            <p:spPr>
              <a:xfrm>
                <a:off x="10224658" y="3240894"/>
                <a:ext cx="1493422" cy="55496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695113AB-60D8-4E1C-BDBE-7B814E647736}"/>
                  </a:ext>
                </a:extLst>
              </p:cNvPr>
              <p:cNvSpPr txBox="1"/>
              <p:nvPr/>
            </p:nvSpPr>
            <p:spPr>
              <a:xfrm>
                <a:off x="4608367" y="4602023"/>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m:t>
                      </m:r>
                      <m:r>
                        <a:rPr lang="en-US" altLang="zh-TW" i="1">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i="1">
                          <a:latin typeface="Cambria Math" panose="02040503050406030204" pitchFamily="18" charset="0"/>
                        </a:rPr>
                        <m:t>3</m:t>
                      </m:r>
                      <m:r>
                        <a:rPr lang="en-US" altLang="zh-TW" i="1" smtClean="0">
                          <a:latin typeface="Cambria Math" panose="02040503050406030204" pitchFamily="18" charset="0"/>
                        </a:rPr>
                        <m:t>5</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zh-TW" altLang="en-US" dirty="0"/>
              </a:p>
            </p:txBody>
          </p:sp>
        </mc:Choice>
        <mc:Fallback>
          <p:sp>
            <p:nvSpPr>
              <p:cNvPr id="28" name="文字方塊 27">
                <a:extLst>
                  <a:ext uri="{FF2B5EF4-FFF2-40B4-BE49-F238E27FC236}">
                    <a16:creationId xmlns:a16="http://schemas.microsoft.com/office/drawing/2014/main" id="{695113AB-60D8-4E1C-BDBE-7B814E647736}"/>
                  </a:ext>
                </a:extLst>
              </p:cNvPr>
              <p:cNvSpPr txBox="1">
                <a:spLocks noRot="1" noChangeAspect="1" noMove="1" noResize="1" noEditPoints="1" noAdjustHandles="1" noChangeArrowheads="1" noChangeShapeType="1" noTextEdit="1"/>
              </p:cNvSpPr>
              <p:nvPr/>
            </p:nvSpPr>
            <p:spPr>
              <a:xfrm>
                <a:off x="4608367" y="4602023"/>
                <a:ext cx="1288472" cy="1200329"/>
              </a:xfrm>
              <a:prstGeom prst="rect">
                <a:avLst/>
              </a:prstGeom>
              <a:blipFill>
                <a:blip r:embed="rId15"/>
                <a:stretch>
                  <a:fillRect l="-4265" t="-304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BE464057-1DB9-4C1F-A3B9-30A975629478}"/>
                  </a:ext>
                </a:extLst>
              </p:cNvPr>
              <p:cNvSpPr txBox="1"/>
              <p:nvPr/>
            </p:nvSpPr>
            <p:spPr>
              <a:xfrm>
                <a:off x="5969576" y="4602023"/>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:414</m:t>
                      </m:r>
                      <m:r>
                        <a:rPr lang="en-US" altLang="zh-TW" b="0" i="1" smtClean="0">
                          <a:latin typeface="Cambria Math" panose="02040503050406030204" pitchFamily="18" charset="0"/>
                        </a:rPr>
                        <m:t>𝑘𝑊</m:t>
                      </m:r>
                    </m:oMath>
                  </m:oMathPara>
                </a14:m>
                <a:endParaRPr lang="zh-TW" altLang="en-US" dirty="0"/>
              </a:p>
            </p:txBody>
          </p:sp>
        </mc:Choice>
        <mc:Fallback>
          <p:sp>
            <p:nvSpPr>
              <p:cNvPr id="29" name="文字方塊 28">
                <a:extLst>
                  <a:ext uri="{FF2B5EF4-FFF2-40B4-BE49-F238E27FC236}">
                    <a16:creationId xmlns:a16="http://schemas.microsoft.com/office/drawing/2014/main" id="{BE464057-1DB9-4C1F-A3B9-30A975629478}"/>
                  </a:ext>
                </a:extLst>
              </p:cNvPr>
              <p:cNvSpPr txBox="1">
                <a:spLocks noRot="1" noChangeAspect="1" noMove="1" noResize="1" noEditPoints="1" noAdjustHandles="1" noChangeArrowheads="1" noChangeShapeType="1" noTextEdit="1"/>
              </p:cNvSpPr>
              <p:nvPr/>
            </p:nvSpPr>
            <p:spPr>
              <a:xfrm>
                <a:off x="5969576" y="4602023"/>
                <a:ext cx="1288472" cy="1477328"/>
              </a:xfrm>
              <a:prstGeom prst="rect">
                <a:avLst/>
              </a:prstGeom>
              <a:blipFill>
                <a:blip r:embed="rId16"/>
                <a:stretch>
                  <a:fillRect l="-3774" t="-2479"/>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9F52F416-B387-4176-B968-F53718E16BE1}"/>
              </a:ext>
            </a:extLst>
          </p:cNvPr>
          <p:cNvCxnSpPr>
            <a:cxnSpLocks/>
          </p:cNvCxnSpPr>
          <p:nvPr/>
        </p:nvCxnSpPr>
        <p:spPr>
          <a:xfrm flipH="1">
            <a:off x="7386204" y="5519518"/>
            <a:ext cx="1350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文字方塊 34">
                <a:extLst>
                  <a:ext uri="{FF2B5EF4-FFF2-40B4-BE49-F238E27FC236}">
                    <a16:creationId xmlns:a16="http://schemas.microsoft.com/office/drawing/2014/main" id="{76CF46FA-5AEB-42C8-9F3F-93CFE684E1F2}"/>
                  </a:ext>
                </a:extLst>
              </p:cNvPr>
              <p:cNvSpPr txBox="1"/>
              <p:nvPr/>
            </p:nvSpPr>
            <p:spPr>
              <a:xfrm>
                <a:off x="7181853" y="4893512"/>
                <a:ext cx="1759521" cy="55496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i="1">
                              <a:latin typeface="Cambria Math" panose="02040503050406030204" pitchFamily="18" charset="0"/>
                            </a:rPr>
                            <m:t>3</m:t>
                          </m:r>
                          <m:r>
                            <a:rPr lang="en-US" altLang="zh-TW" sz="1600" i="1" smtClean="0">
                              <a:latin typeface="Cambria Math" panose="02040503050406030204" pitchFamily="18" charset="0"/>
                            </a:rPr>
                            <m:t>3</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i="1">
                              <a:latin typeface="Cambria Math" panose="02040503050406030204" pitchFamily="18" charset="0"/>
                            </a:rPr>
                            <m:t>1</m:t>
                          </m:r>
                          <m:r>
                            <a:rPr lang="en-US" altLang="zh-TW" sz="1600" i="1" smtClean="0">
                              <a:latin typeface="Cambria Math" panose="02040503050406030204" pitchFamily="18" charset="0"/>
                            </a:rPr>
                            <m:t>3</m:t>
                          </m:r>
                          <m:r>
                            <a:rPr lang="en-US" altLang="zh-TW" sz="1600" i="1">
                              <a:latin typeface="Cambria Math" panose="02040503050406030204" pitchFamily="18" charset="0"/>
                            </a:rPr>
                            <m:t>2</m:t>
                          </m:r>
                        </m:num>
                        <m:den>
                          <m:r>
                            <a:rPr lang="en-US" altLang="zh-TW" sz="1600" i="1">
                              <a:latin typeface="Cambria Math" panose="02040503050406030204" pitchFamily="18" charset="0"/>
                            </a:rPr>
                            <m:t>4</m:t>
                          </m:r>
                          <m:r>
                            <a:rPr lang="en-US" altLang="zh-TW" sz="1600" i="1" smtClean="0">
                              <a:latin typeface="Cambria Math" panose="02040503050406030204" pitchFamily="18" charset="0"/>
                            </a:rPr>
                            <m:t>8</m:t>
                          </m:r>
                          <m:r>
                            <a:rPr lang="en-US" altLang="zh-TW" sz="1600" i="1">
                              <a:latin typeface="Cambria Math" panose="02040503050406030204" pitchFamily="18" charset="0"/>
                            </a:rPr>
                            <m:t>2</m:t>
                          </m:r>
                        </m:den>
                      </m:f>
                      <m:r>
                        <a:rPr lang="en-US" altLang="zh-TW" sz="1600" i="1">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m:t>
                      </m:r>
                      <m:r>
                        <a:rPr lang="en-US" altLang="zh-TW" sz="1600" i="1">
                          <a:latin typeface="Cambria Math" panose="02040503050406030204" pitchFamily="18" charset="0"/>
                          <a:ea typeface="Cambria Math" panose="02040503050406030204" pitchFamily="18" charset="0"/>
                        </a:rPr>
                        <m:t>2</m:t>
                      </m:r>
                      <m:r>
                        <a:rPr lang="en-US" altLang="zh-TW" sz="1600" i="1" smtClean="0">
                          <a:latin typeface="Cambria Math" panose="02040503050406030204" pitchFamily="18" charset="0"/>
                          <a:ea typeface="Cambria Math" panose="02040503050406030204" pitchFamily="18" charset="0"/>
                        </a:rPr>
                        <m:t>7</m:t>
                      </m:r>
                    </m:oMath>
                  </m:oMathPara>
                </a14:m>
                <a:endParaRPr lang="zh-TW" altLang="en-US" sz="1600" dirty="0"/>
              </a:p>
            </p:txBody>
          </p:sp>
        </mc:Choice>
        <mc:Fallback>
          <p:sp>
            <p:nvSpPr>
              <p:cNvPr id="35" name="文字方塊 34">
                <a:extLst>
                  <a:ext uri="{FF2B5EF4-FFF2-40B4-BE49-F238E27FC236}">
                    <a16:creationId xmlns:a16="http://schemas.microsoft.com/office/drawing/2014/main" id="{76CF46FA-5AEB-42C8-9F3F-93CFE684E1F2}"/>
                  </a:ext>
                </a:extLst>
              </p:cNvPr>
              <p:cNvSpPr txBox="1">
                <a:spLocks noRot="1" noChangeAspect="1" noMove="1" noResize="1" noEditPoints="1" noAdjustHandles="1" noChangeArrowheads="1" noChangeShapeType="1" noTextEdit="1"/>
              </p:cNvSpPr>
              <p:nvPr/>
            </p:nvSpPr>
            <p:spPr>
              <a:xfrm>
                <a:off x="7181853" y="4893512"/>
                <a:ext cx="1759521" cy="554960"/>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6" name="文字方塊 35">
                <a:extLst>
                  <a:ext uri="{FF2B5EF4-FFF2-40B4-BE49-F238E27FC236}">
                    <a16:creationId xmlns:a16="http://schemas.microsoft.com/office/drawing/2014/main" id="{E2A33284-B09B-4891-A40A-BA1DAF2F27C5}"/>
                  </a:ext>
                </a:extLst>
              </p:cNvPr>
              <p:cNvSpPr txBox="1"/>
              <p:nvPr/>
            </p:nvSpPr>
            <p:spPr>
              <a:xfrm>
                <a:off x="349827" y="4602023"/>
                <a:ext cx="1288472" cy="1200329"/>
              </a:xfrm>
              <a:prstGeom prst="rect">
                <a:avLst/>
              </a:prstGeom>
              <a:noFill/>
            </p:spPr>
            <p:txBody>
              <a:bodyPr wrap="square" rtlCol="0">
                <a:spAutoFit/>
              </a:bodyPr>
              <a:lstStyle/>
              <a:p>
                <a:r>
                  <a:rPr lang="en-US" altLang="zh-TW" dirty="0"/>
                  <a:t>Consumers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m:t>
                      </m:r>
                      <m:r>
                        <a:rPr lang="en-US" altLang="zh-TW" i="1">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zh-TW" altLang="en-US" dirty="0"/>
              </a:p>
            </p:txBody>
          </p:sp>
        </mc:Choice>
        <mc:Fallback>
          <p:sp>
            <p:nvSpPr>
              <p:cNvPr id="36" name="文字方塊 35">
                <a:extLst>
                  <a:ext uri="{FF2B5EF4-FFF2-40B4-BE49-F238E27FC236}">
                    <a16:creationId xmlns:a16="http://schemas.microsoft.com/office/drawing/2014/main" id="{E2A33284-B09B-4891-A40A-BA1DAF2F27C5}"/>
                  </a:ext>
                </a:extLst>
              </p:cNvPr>
              <p:cNvSpPr txBox="1">
                <a:spLocks noRot="1" noChangeAspect="1" noMove="1" noResize="1" noEditPoints="1" noAdjustHandles="1" noChangeArrowheads="1" noChangeShapeType="1" noTextEdit="1"/>
              </p:cNvSpPr>
              <p:nvPr/>
            </p:nvSpPr>
            <p:spPr>
              <a:xfrm>
                <a:off x="349827" y="4602023"/>
                <a:ext cx="1288472" cy="1200329"/>
              </a:xfrm>
              <a:prstGeom prst="rect">
                <a:avLst/>
              </a:prstGeom>
              <a:blipFill>
                <a:blip r:embed="rId18"/>
                <a:stretch>
                  <a:fillRect l="-3774" t="-304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文字方塊 36">
                <a:extLst>
                  <a:ext uri="{FF2B5EF4-FFF2-40B4-BE49-F238E27FC236}">
                    <a16:creationId xmlns:a16="http://schemas.microsoft.com/office/drawing/2014/main" id="{6E0CFBF7-8AD3-4A1B-A6F5-DC92C60F0404}"/>
                  </a:ext>
                </a:extLst>
              </p:cNvPr>
              <p:cNvSpPr txBox="1"/>
              <p:nvPr/>
            </p:nvSpPr>
            <p:spPr>
              <a:xfrm>
                <a:off x="1711036" y="4602023"/>
                <a:ext cx="1288472" cy="1477328"/>
              </a:xfrm>
              <a:prstGeom prst="rect">
                <a:avLst/>
              </a:prstGeom>
              <a:noFill/>
            </p:spPr>
            <p:txBody>
              <a:bodyPr wrap="square" rtlCol="0">
                <a:spAutoFit/>
              </a:bodyPr>
              <a:lstStyle/>
              <a:p>
                <a:r>
                  <a:rPr lang="en-US" altLang="zh-TW" dirty="0"/>
                  <a:t>Prosumers</a:t>
                </a:r>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2</m:t>
                          </m:r>
                        </m:sub>
                      </m:sSub>
                      <m:r>
                        <a:rPr lang="en-US" altLang="zh-TW" b="0" i="0" smtClean="0">
                          <a:latin typeface="Cambria Math" panose="02040503050406030204" pitchFamily="18" charset="0"/>
                        </a:rPr>
                        <m:t>:0</m:t>
                      </m:r>
                      <m:r>
                        <m:rPr>
                          <m:sty m:val="p"/>
                        </m:rPr>
                        <a:rPr lang="en-US" altLang="zh-TW" b="0" i="0" smtClean="0">
                          <a:latin typeface="Cambria Math" panose="02040503050406030204" pitchFamily="18" charset="0"/>
                        </a:rPr>
                        <m:t>kW</m:t>
                      </m:r>
                    </m:oMath>
                  </m:oMathPara>
                </a14:m>
                <a:endParaRPr lang="en-US" altLang="zh-TW" b="0"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i="1">
                          <a:latin typeface="Cambria Math" panose="02040503050406030204" pitchFamily="18" charset="0"/>
                        </a:rPr>
                        <m:t>0</m:t>
                      </m:r>
                      <m:r>
                        <a:rPr lang="en-US" altLang="zh-TW" b="0" i="1" smtClean="0">
                          <a:latin typeface="Cambria Math" panose="02040503050406030204" pitchFamily="18" charset="0"/>
                        </a:rPr>
                        <m:t>𝑘𝑊</m:t>
                      </m:r>
                    </m:oMath>
                  </m:oMathPara>
                </a14:m>
                <a:endParaRPr lang="en-US" altLang="zh-TW" dirty="0"/>
              </a:p>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m:t>
                      </m:r>
                      <m:r>
                        <a:rPr lang="en-US" altLang="zh-TW" i="1">
                          <a:latin typeface="Cambria Math" panose="02040503050406030204" pitchFamily="18" charset="0"/>
                        </a:rPr>
                        <m:t>6</m:t>
                      </m:r>
                      <m:r>
                        <a:rPr lang="en-US" altLang="zh-TW" i="1" smtClean="0">
                          <a:latin typeface="Cambria Math" panose="02040503050406030204" pitchFamily="18" charset="0"/>
                        </a:rPr>
                        <m:t>4</m:t>
                      </m:r>
                      <m:r>
                        <a:rPr lang="en-US" altLang="zh-TW" b="0" i="1" smtClean="0">
                          <a:latin typeface="Cambria Math" panose="02040503050406030204" pitchFamily="18" charset="0"/>
                        </a:rPr>
                        <m:t>𝑘𝑊</m:t>
                      </m:r>
                    </m:oMath>
                  </m:oMathPara>
                </a14:m>
                <a:endParaRPr lang="zh-TW" altLang="en-US" dirty="0"/>
              </a:p>
            </p:txBody>
          </p:sp>
        </mc:Choice>
        <mc:Fallback>
          <p:sp>
            <p:nvSpPr>
              <p:cNvPr id="37" name="文字方塊 36">
                <a:extLst>
                  <a:ext uri="{FF2B5EF4-FFF2-40B4-BE49-F238E27FC236}">
                    <a16:creationId xmlns:a16="http://schemas.microsoft.com/office/drawing/2014/main" id="{6E0CFBF7-8AD3-4A1B-A6F5-DC92C60F0404}"/>
                  </a:ext>
                </a:extLst>
              </p:cNvPr>
              <p:cNvSpPr txBox="1">
                <a:spLocks noRot="1" noChangeAspect="1" noMove="1" noResize="1" noEditPoints="1" noAdjustHandles="1" noChangeArrowheads="1" noChangeShapeType="1" noTextEdit="1"/>
              </p:cNvSpPr>
              <p:nvPr/>
            </p:nvSpPr>
            <p:spPr>
              <a:xfrm>
                <a:off x="1711036" y="4602023"/>
                <a:ext cx="1288472" cy="1477328"/>
              </a:xfrm>
              <a:prstGeom prst="rect">
                <a:avLst/>
              </a:prstGeom>
              <a:blipFill>
                <a:blip r:embed="rId19"/>
                <a:stretch>
                  <a:fillRect l="-4265" t="-2479"/>
                </a:stretch>
              </a:blipFill>
            </p:spPr>
            <p:txBody>
              <a:bodyPr/>
              <a:lstStyle/>
              <a:p>
                <a:r>
                  <a:rPr lang="zh-TW" altLang="en-US">
                    <a:noFill/>
                  </a:rPr>
                  <a:t> </a:t>
                </a:r>
              </a:p>
            </p:txBody>
          </p:sp>
        </mc:Fallback>
      </mc:AlternateContent>
      <p:cxnSp>
        <p:nvCxnSpPr>
          <p:cNvPr id="38" name="直線單箭頭接點 37">
            <a:extLst>
              <a:ext uri="{FF2B5EF4-FFF2-40B4-BE49-F238E27FC236}">
                <a16:creationId xmlns:a16="http://schemas.microsoft.com/office/drawing/2014/main" id="{9F08FA85-D85A-4FF4-8BA2-170375EAA83C}"/>
              </a:ext>
            </a:extLst>
          </p:cNvPr>
          <p:cNvCxnSpPr>
            <a:cxnSpLocks/>
          </p:cNvCxnSpPr>
          <p:nvPr/>
        </p:nvCxnSpPr>
        <p:spPr>
          <a:xfrm flipH="1">
            <a:off x="3127664" y="5519518"/>
            <a:ext cx="1350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字方塊 38">
                <a:extLst>
                  <a:ext uri="{FF2B5EF4-FFF2-40B4-BE49-F238E27FC236}">
                    <a16:creationId xmlns:a16="http://schemas.microsoft.com/office/drawing/2014/main" id="{36085475-AED3-4C5E-B9BF-5A952788B40A}"/>
                  </a:ext>
                </a:extLst>
              </p:cNvPr>
              <p:cNvSpPr txBox="1"/>
              <p:nvPr/>
            </p:nvSpPr>
            <p:spPr>
              <a:xfrm>
                <a:off x="2997779" y="4959430"/>
                <a:ext cx="1759521" cy="55996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𝑐</m:t>
                          </m:r>
                        </m:e>
                        <m:sub>
                          <m:r>
                            <a:rPr lang="en-US" altLang="zh-TW" sz="1600" i="1">
                              <a:latin typeface="Cambria Math" panose="02040503050406030204" pitchFamily="18" charset="0"/>
                            </a:rPr>
                            <m:t>3</m:t>
                          </m:r>
                          <m:r>
                            <a:rPr lang="en-US" altLang="zh-TW" sz="1600" i="1" smtClean="0">
                              <a:latin typeface="Cambria Math" panose="02040503050406030204" pitchFamily="18" charset="0"/>
                            </a:rPr>
                            <m:t>3</m:t>
                          </m:r>
                        </m:sub>
                      </m:sSub>
                      <m:r>
                        <a:rPr lang="en-US" altLang="zh-TW" sz="1600" b="0" i="1" smtClean="0">
                          <a:latin typeface="Cambria Math" panose="02040503050406030204" pitchFamily="18" charset="0"/>
                        </a:rPr>
                        <m:t>=</m:t>
                      </m:r>
                      <m:f>
                        <m:fPr>
                          <m:ctrlPr>
                            <a:rPr lang="en-US" altLang="zh-TW" sz="1600" b="0" i="1" smtClean="0">
                              <a:latin typeface="Cambria Math" panose="02040503050406030204" pitchFamily="18" charset="0"/>
                            </a:rPr>
                          </m:ctrlPr>
                        </m:fPr>
                        <m:num>
                          <m:r>
                            <a:rPr lang="en-US" altLang="zh-TW" sz="1600" i="1">
                              <a:latin typeface="Cambria Math" panose="02040503050406030204" pitchFamily="18" charset="0"/>
                            </a:rPr>
                            <m:t>3</m:t>
                          </m:r>
                          <m:r>
                            <a:rPr lang="en-US" altLang="zh-TW" sz="1600" i="1" smtClean="0">
                              <a:latin typeface="Cambria Math" panose="02040503050406030204" pitchFamily="18" charset="0"/>
                            </a:rPr>
                            <m:t>5</m:t>
                          </m:r>
                          <m:r>
                            <a:rPr lang="en-US" altLang="zh-TW" sz="1600" i="1">
                              <a:latin typeface="Cambria Math" panose="02040503050406030204" pitchFamily="18" charset="0"/>
                            </a:rPr>
                            <m:t>0</m:t>
                          </m:r>
                        </m:num>
                        <m:den>
                          <m:r>
                            <a:rPr lang="en-US" altLang="zh-TW" sz="1600" i="1">
                              <a:latin typeface="Cambria Math" panose="02040503050406030204" pitchFamily="18" charset="0"/>
                            </a:rPr>
                            <m:t>4</m:t>
                          </m:r>
                          <m:r>
                            <a:rPr lang="en-US" altLang="zh-TW" sz="1600" i="1" smtClean="0">
                              <a:latin typeface="Cambria Math" panose="02040503050406030204" pitchFamily="18" charset="0"/>
                            </a:rPr>
                            <m:t>8</m:t>
                          </m:r>
                          <m:r>
                            <a:rPr lang="en-US" altLang="zh-TW" sz="1600" i="1">
                              <a:latin typeface="Cambria Math" panose="02040503050406030204" pitchFamily="18" charset="0"/>
                            </a:rPr>
                            <m:t>2</m:t>
                          </m:r>
                        </m:den>
                      </m:f>
                      <m:r>
                        <a:rPr lang="en-US" altLang="zh-TW" sz="1600" i="1">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m:t>
                      </m:r>
                      <m:r>
                        <a:rPr lang="en-US" altLang="zh-TW" sz="1600" i="1">
                          <a:latin typeface="Cambria Math" panose="02040503050406030204" pitchFamily="18" charset="0"/>
                          <a:ea typeface="Cambria Math" panose="02040503050406030204" pitchFamily="18" charset="0"/>
                        </a:rPr>
                        <m:t>7</m:t>
                      </m:r>
                      <m:r>
                        <a:rPr lang="en-US" altLang="zh-TW" sz="1600" i="1" smtClean="0">
                          <a:latin typeface="Cambria Math" panose="02040503050406030204" pitchFamily="18" charset="0"/>
                          <a:ea typeface="Cambria Math" panose="02040503050406030204" pitchFamily="18" charset="0"/>
                        </a:rPr>
                        <m:t>3</m:t>
                      </m:r>
                    </m:oMath>
                  </m:oMathPara>
                </a14:m>
                <a:endParaRPr lang="zh-TW" altLang="en-US" sz="1600" dirty="0"/>
              </a:p>
            </p:txBody>
          </p:sp>
        </mc:Choice>
        <mc:Fallback>
          <p:sp>
            <p:nvSpPr>
              <p:cNvPr id="39" name="文字方塊 38">
                <a:extLst>
                  <a:ext uri="{FF2B5EF4-FFF2-40B4-BE49-F238E27FC236}">
                    <a16:creationId xmlns:a16="http://schemas.microsoft.com/office/drawing/2014/main" id="{36085475-AED3-4C5E-B9BF-5A952788B40A}"/>
                  </a:ext>
                </a:extLst>
              </p:cNvPr>
              <p:cNvSpPr txBox="1">
                <a:spLocks noRot="1" noChangeAspect="1" noMove="1" noResize="1" noEditPoints="1" noAdjustHandles="1" noChangeArrowheads="1" noChangeShapeType="1" noTextEdit="1"/>
              </p:cNvSpPr>
              <p:nvPr/>
            </p:nvSpPr>
            <p:spPr>
              <a:xfrm>
                <a:off x="2997779" y="4959430"/>
                <a:ext cx="1759521" cy="559961"/>
              </a:xfrm>
              <a:prstGeom prst="rect">
                <a:avLst/>
              </a:prstGeom>
              <a:blipFill>
                <a:blip r:embed="rId20"/>
                <a:stretch>
                  <a:fillRect/>
                </a:stretch>
              </a:blipFill>
            </p:spPr>
            <p:txBody>
              <a:bodyPr/>
              <a:lstStyle/>
              <a:p>
                <a:r>
                  <a:rPr lang="zh-TW" altLang="en-US">
                    <a:noFill/>
                  </a:rPr>
                  <a:t> </a:t>
                </a:r>
              </a:p>
            </p:txBody>
          </p:sp>
        </mc:Fallback>
      </mc:AlternateContent>
      <p:pic>
        <p:nvPicPr>
          <p:cNvPr id="42" name="圖片 41">
            <a:extLst>
              <a:ext uri="{FF2B5EF4-FFF2-40B4-BE49-F238E27FC236}">
                <a16:creationId xmlns:a16="http://schemas.microsoft.com/office/drawing/2014/main" id="{1D2E71A6-0433-496F-AC43-1B4C8DFE46A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434834" y="2862118"/>
            <a:ext cx="2734057" cy="1314633"/>
          </a:xfrm>
          <a:prstGeom prst="rect">
            <a:avLst/>
          </a:prstGeom>
        </p:spPr>
      </p:pic>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4894DA3B-835F-439B-A6C0-1951D331EC5A}"/>
                  </a:ext>
                </a:extLst>
              </p:cNvPr>
              <p:cNvSpPr txBox="1"/>
              <p:nvPr/>
            </p:nvSpPr>
            <p:spPr>
              <a:xfrm>
                <a:off x="4168891" y="31705"/>
                <a:ext cx="1570357" cy="83099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𝐷</m:t>
                          </m:r>
                        </m:e>
                        <m:sub>
                          <m:r>
                            <a:rPr lang="en-US" altLang="zh-TW" sz="1600" b="0" i="1" smtClean="0">
                              <a:latin typeface="Cambria Math" panose="02040503050406030204" pitchFamily="18" charset="0"/>
                            </a:rPr>
                            <m:t>1</m:t>
                          </m:r>
                        </m:sub>
                      </m:sSub>
                      <m:r>
                        <a:rPr lang="en-US" altLang="zh-TW" sz="1600" b="0" i="1" smtClean="0">
                          <a:latin typeface="Cambria Math" panose="02040503050406030204" pitchFamily="18" charset="0"/>
                        </a:rPr>
                        <m:t>:$0.7/</m:t>
                      </m:r>
                      <m:r>
                        <a:rPr lang="en-US" altLang="zh-TW" sz="1600" b="0" i="1" smtClean="0">
                          <a:latin typeface="Cambria Math" panose="02040503050406030204" pitchFamily="18" charset="0"/>
                        </a:rPr>
                        <m:t>𝑘𝑊h</m:t>
                      </m:r>
                    </m:oMath>
                  </m:oMathPara>
                </a14:m>
                <a:endParaRPr lang="en-US" altLang="zh-TW" sz="1600" dirty="0"/>
              </a:p>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𝐷</m:t>
                          </m:r>
                        </m:e>
                        <m:sub>
                          <m:r>
                            <a:rPr lang="en-US" altLang="zh-TW" sz="1600" b="0" i="1" smtClean="0">
                              <a:latin typeface="Cambria Math" panose="02040503050406030204" pitchFamily="18" charset="0"/>
                            </a:rPr>
                            <m:t>2</m:t>
                          </m:r>
                        </m:sub>
                      </m:sSub>
                      <m:r>
                        <a:rPr lang="en-US" altLang="zh-TW" sz="1600" b="0" i="0" smtClean="0">
                          <a:latin typeface="Cambria Math" panose="02040503050406030204" pitchFamily="18" charset="0"/>
                        </a:rPr>
                        <m:t>:</m:t>
                      </m:r>
                      <m:r>
                        <a:rPr lang="en-US" altLang="zh-TW" sz="1600" b="0" i="1" smtClean="0">
                          <a:latin typeface="Cambria Math" panose="02040503050406030204" pitchFamily="18" charset="0"/>
                        </a:rPr>
                        <m:t>$0.5/</m:t>
                      </m:r>
                      <m:r>
                        <a:rPr lang="en-US" altLang="zh-TW" sz="1600" b="0" i="1" smtClean="0">
                          <a:latin typeface="Cambria Math" panose="02040503050406030204" pitchFamily="18" charset="0"/>
                        </a:rPr>
                        <m:t>𝑘𝑊h</m:t>
                      </m:r>
                    </m:oMath>
                  </m:oMathPara>
                </a14:m>
                <a:endParaRPr lang="en-US" altLang="zh-TW" sz="16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𝐷</m:t>
                          </m:r>
                        </m:e>
                        <m:sub>
                          <m:r>
                            <a:rPr lang="en-US" altLang="zh-TW" sz="1600" b="0" i="1" smtClean="0">
                              <a:latin typeface="Cambria Math" panose="02040503050406030204" pitchFamily="18" charset="0"/>
                            </a:rPr>
                            <m:t>3</m:t>
                          </m:r>
                        </m:sub>
                      </m:sSub>
                      <m:r>
                        <a:rPr lang="en-US" altLang="zh-TW" sz="1600" b="0" i="1" smtClean="0">
                          <a:latin typeface="Cambria Math" panose="02040503050406030204" pitchFamily="18" charset="0"/>
                        </a:rPr>
                        <m:t>:$0.4/</m:t>
                      </m:r>
                      <m:r>
                        <a:rPr lang="en-US" altLang="zh-TW" sz="1600" b="0" i="1" smtClean="0">
                          <a:latin typeface="Cambria Math" panose="02040503050406030204" pitchFamily="18" charset="0"/>
                        </a:rPr>
                        <m:t>𝑘𝑊h</m:t>
                      </m:r>
                    </m:oMath>
                  </m:oMathPara>
                </a14:m>
                <a:endParaRPr lang="zh-TW" altLang="en-US" sz="1600" dirty="0"/>
              </a:p>
            </p:txBody>
          </p:sp>
        </mc:Choice>
        <mc:Fallback>
          <p:sp>
            <p:nvSpPr>
              <p:cNvPr id="44" name="文字方塊 43">
                <a:extLst>
                  <a:ext uri="{FF2B5EF4-FFF2-40B4-BE49-F238E27FC236}">
                    <a16:creationId xmlns:a16="http://schemas.microsoft.com/office/drawing/2014/main" id="{4894DA3B-835F-439B-A6C0-1951D331EC5A}"/>
                  </a:ext>
                </a:extLst>
              </p:cNvPr>
              <p:cNvSpPr txBox="1">
                <a:spLocks noRot="1" noChangeAspect="1" noMove="1" noResize="1" noEditPoints="1" noAdjustHandles="1" noChangeArrowheads="1" noChangeShapeType="1" noTextEdit="1"/>
              </p:cNvSpPr>
              <p:nvPr/>
            </p:nvSpPr>
            <p:spPr>
              <a:xfrm>
                <a:off x="4168891" y="31705"/>
                <a:ext cx="1570357" cy="830997"/>
              </a:xfrm>
              <a:prstGeom prst="rect">
                <a:avLst/>
              </a:prstGeom>
              <a:blipFill>
                <a:blip r:embed="rId22"/>
                <a:stretch>
                  <a:fillRect b="-292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2D90B370-6FFC-45A5-8658-94E5EE96E623}"/>
                  </a:ext>
                </a:extLst>
              </p:cNvPr>
              <p:cNvSpPr txBox="1"/>
              <p:nvPr/>
            </p:nvSpPr>
            <p:spPr>
              <a:xfrm>
                <a:off x="5827968" y="13556"/>
                <a:ext cx="1570357" cy="107721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𝐺</m:t>
                          </m:r>
                        </m:e>
                        <m:sub>
                          <m:r>
                            <a:rPr lang="en-US" altLang="zh-TW" sz="1600" b="0" i="1" smtClean="0">
                              <a:latin typeface="Cambria Math" panose="02040503050406030204" pitchFamily="18" charset="0"/>
                            </a:rPr>
                            <m:t>1</m:t>
                          </m:r>
                        </m:sub>
                      </m:sSub>
                      <m:r>
                        <a:rPr lang="en-US" altLang="zh-TW" sz="1600" b="0" i="1" smtClean="0">
                          <a:latin typeface="Cambria Math" panose="02040503050406030204" pitchFamily="18" charset="0"/>
                        </a:rPr>
                        <m:t>:$0.2/</m:t>
                      </m:r>
                      <m:r>
                        <a:rPr lang="en-US" altLang="zh-TW" sz="1600" b="0" i="1" smtClean="0">
                          <a:latin typeface="Cambria Math" panose="02040503050406030204" pitchFamily="18" charset="0"/>
                        </a:rPr>
                        <m:t>𝑘𝑊h</m:t>
                      </m:r>
                    </m:oMath>
                  </m:oMathPara>
                </a14:m>
                <a:endParaRPr lang="en-US" altLang="zh-TW" sz="1600" dirty="0"/>
              </a:p>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𝐺</m:t>
                          </m:r>
                        </m:e>
                        <m:sub>
                          <m:r>
                            <a:rPr lang="en-US" altLang="zh-TW" sz="1600" b="0" i="1" smtClean="0">
                              <a:latin typeface="Cambria Math" panose="02040503050406030204" pitchFamily="18" charset="0"/>
                            </a:rPr>
                            <m:t>2</m:t>
                          </m:r>
                        </m:sub>
                      </m:sSub>
                      <m:r>
                        <a:rPr lang="en-US" altLang="zh-TW" sz="1600" b="0" i="0" smtClean="0">
                          <a:latin typeface="Cambria Math" panose="02040503050406030204" pitchFamily="18" charset="0"/>
                        </a:rPr>
                        <m:t>:</m:t>
                      </m:r>
                      <m:r>
                        <a:rPr lang="en-US" altLang="zh-TW" sz="1600" b="0" i="1" smtClean="0">
                          <a:latin typeface="Cambria Math" panose="02040503050406030204" pitchFamily="18" charset="0"/>
                        </a:rPr>
                        <m:t>$0.2/</m:t>
                      </m:r>
                      <m:r>
                        <a:rPr lang="en-US" altLang="zh-TW" sz="1600" b="0" i="1" smtClean="0">
                          <a:latin typeface="Cambria Math" panose="02040503050406030204" pitchFamily="18" charset="0"/>
                        </a:rPr>
                        <m:t>𝑘𝑊h</m:t>
                      </m:r>
                    </m:oMath>
                  </m:oMathPara>
                </a14:m>
                <a:endParaRPr lang="en-US" altLang="zh-TW" sz="1600" b="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𝐺</m:t>
                          </m:r>
                        </m:e>
                        <m:sub>
                          <m:r>
                            <a:rPr lang="en-US" altLang="zh-TW" sz="1600" b="0" i="1" smtClean="0">
                              <a:latin typeface="Cambria Math" panose="02040503050406030204" pitchFamily="18" charset="0"/>
                            </a:rPr>
                            <m:t>3</m:t>
                          </m:r>
                        </m:sub>
                      </m:sSub>
                      <m:r>
                        <a:rPr lang="en-US" altLang="zh-TW" sz="1600" b="0" i="1" smtClean="0">
                          <a:latin typeface="Cambria Math" panose="02040503050406030204" pitchFamily="18" charset="0"/>
                        </a:rPr>
                        <m:t>:$0.3/</m:t>
                      </m:r>
                      <m:r>
                        <a:rPr lang="en-US" altLang="zh-TW" sz="1600" b="0" i="1" smtClean="0">
                          <a:latin typeface="Cambria Math" panose="02040503050406030204" pitchFamily="18" charset="0"/>
                        </a:rPr>
                        <m:t>𝑘𝑊h</m:t>
                      </m:r>
                    </m:oMath>
                  </m:oMathPara>
                </a14:m>
                <a:endParaRPr lang="en-US" altLang="zh-TW" sz="1600" dirty="0"/>
              </a:p>
              <a:p>
                <a14:m>
                  <m:oMathPara xmlns:m="http://schemas.openxmlformats.org/officeDocument/2006/math">
                    <m:oMathParaPr>
                      <m:jc m:val="centerGroup"/>
                    </m:oMathParaPr>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𝐺</m:t>
                          </m:r>
                        </m:e>
                        <m:sub>
                          <m:r>
                            <a:rPr lang="en-US" altLang="zh-TW" sz="1600" b="0" i="1" smtClean="0">
                              <a:latin typeface="Cambria Math" panose="02040503050406030204" pitchFamily="18" charset="0"/>
                            </a:rPr>
                            <m:t>4</m:t>
                          </m:r>
                        </m:sub>
                      </m:sSub>
                      <m:r>
                        <a:rPr lang="en-US" altLang="zh-TW" sz="1600" i="1">
                          <a:latin typeface="Cambria Math" panose="02040503050406030204" pitchFamily="18" charset="0"/>
                        </a:rPr>
                        <m:t>:$0.</m:t>
                      </m:r>
                      <m:r>
                        <a:rPr lang="en-US" altLang="zh-TW" sz="1600" b="0" i="1" smtClean="0">
                          <a:latin typeface="Cambria Math" panose="02040503050406030204" pitchFamily="18" charset="0"/>
                        </a:rPr>
                        <m:t>5</m:t>
                      </m:r>
                      <m:r>
                        <a:rPr lang="en-US" altLang="zh-TW" sz="1600" i="1">
                          <a:latin typeface="Cambria Math" panose="02040503050406030204" pitchFamily="18" charset="0"/>
                        </a:rPr>
                        <m:t>/</m:t>
                      </m:r>
                      <m:r>
                        <a:rPr lang="en-US" altLang="zh-TW" sz="1600" i="1">
                          <a:latin typeface="Cambria Math" panose="02040503050406030204" pitchFamily="18" charset="0"/>
                        </a:rPr>
                        <m:t>𝑘𝑊h</m:t>
                      </m:r>
                    </m:oMath>
                  </m:oMathPara>
                </a14:m>
                <a:endParaRPr lang="en-US" altLang="zh-TW" sz="1600" dirty="0"/>
              </a:p>
            </p:txBody>
          </p:sp>
        </mc:Choice>
        <mc:Fallback>
          <p:sp>
            <p:nvSpPr>
              <p:cNvPr id="45" name="文字方塊 44">
                <a:extLst>
                  <a:ext uri="{FF2B5EF4-FFF2-40B4-BE49-F238E27FC236}">
                    <a16:creationId xmlns:a16="http://schemas.microsoft.com/office/drawing/2014/main" id="{2D90B370-6FFC-45A5-8658-94E5EE96E623}"/>
                  </a:ext>
                </a:extLst>
              </p:cNvPr>
              <p:cNvSpPr txBox="1">
                <a:spLocks noRot="1" noChangeAspect="1" noMove="1" noResize="1" noEditPoints="1" noAdjustHandles="1" noChangeArrowheads="1" noChangeShapeType="1" noTextEdit="1"/>
              </p:cNvSpPr>
              <p:nvPr/>
            </p:nvSpPr>
            <p:spPr>
              <a:xfrm>
                <a:off x="5827968" y="13556"/>
                <a:ext cx="1570357" cy="1077218"/>
              </a:xfrm>
              <a:prstGeom prst="rect">
                <a:avLst/>
              </a:prstGeom>
              <a:blipFill>
                <a:blip r:embed="rId23"/>
                <a:stretch>
                  <a:fillRect b="-22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6280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Experimental Setups</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zh-TW" altLang="en-US" sz="2000" dirty="0">
                <a:ea typeface="微軟正黑體" panose="020B0604030504040204" pitchFamily="34" charset="-120"/>
              </a:rPr>
              <a:t>實現頻率控制的軟體和硬體：</a:t>
            </a:r>
            <a:r>
              <a:rPr lang="en-US" altLang="zh-TW" sz="2000" dirty="0" err="1">
                <a:ea typeface="微軟正黑體" panose="020B0604030504040204" pitchFamily="34" charset="-120"/>
              </a:rPr>
              <a:t>Geth</a:t>
            </a:r>
            <a:r>
              <a:rPr lang="en-US" altLang="zh-TW" sz="2000" dirty="0">
                <a:ea typeface="微軟正黑體" panose="020B0604030504040204" pitchFamily="34" charset="-120"/>
              </a:rPr>
              <a:t> (version: 1.10.6) with Node.js (6.14.6), Web3 (5.12.0.py), Solidity smart contract (&gt;= 0.4.22 and MATLAB (R2021a)</a:t>
            </a:r>
          </a:p>
          <a:p>
            <a:pPr>
              <a:lnSpc>
                <a:spcPct val="150000"/>
              </a:lnSpc>
            </a:pPr>
            <a:r>
              <a:rPr lang="en-US" altLang="zh-TW" sz="2000" dirty="0">
                <a:ea typeface="微軟正黑體" panose="020B0604030504040204" pitchFamily="34" charset="-120"/>
              </a:rPr>
              <a:t>MG </a:t>
            </a:r>
            <a:r>
              <a:rPr lang="zh-TW" altLang="en-US" sz="2000" dirty="0">
                <a:ea typeface="微軟正黑體" panose="020B0604030504040204" pitchFamily="34" charset="-120"/>
              </a:rPr>
              <a:t>模型</a:t>
            </a:r>
            <a:r>
              <a:rPr lang="en-US" altLang="zh-TW" sz="2000" dirty="0">
                <a:ea typeface="微軟正黑體" panose="020B0604030504040204" pitchFamily="34" charset="-120"/>
              </a:rPr>
              <a:t>: 4 prosumers +</a:t>
            </a:r>
            <a:r>
              <a:rPr lang="zh-TW" altLang="en-US" sz="2000" dirty="0">
                <a:ea typeface="微軟正黑體" panose="020B0604030504040204" pitchFamily="34" charset="-120"/>
              </a:rPr>
              <a:t> </a:t>
            </a:r>
            <a:r>
              <a:rPr lang="en-US" altLang="zh-TW" sz="2000" dirty="0">
                <a:ea typeface="微軟正黑體" panose="020B0604030504040204" pitchFamily="34" charset="-120"/>
              </a:rPr>
              <a:t>3 consumers</a:t>
            </a:r>
          </a:p>
          <a:p>
            <a:pPr>
              <a:lnSpc>
                <a:spcPct val="150000"/>
              </a:lnSpc>
            </a:pPr>
            <a:r>
              <a:rPr lang="en-US" altLang="zh-TW" sz="2000" dirty="0">
                <a:ea typeface="微軟正黑體" panose="020B0604030504040204" pitchFamily="34" charset="-120"/>
              </a:rPr>
              <a:t>SCPM </a:t>
            </a:r>
            <a:r>
              <a:rPr lang="zh-TW" altLang="en-US" sz="2000" dirty="0">
                <a:ea typeface="微軟正黑體" panose="020B0604030504040204" pitchFamily="34" charset="-120"/>
              </a:rPr>
              <a:t>計算透過 </a:t>
            </a:r>
            <a:r>
              <a:rPr lang="en-US" altLang="zh-TW" sz="2000" dirty="0">
                <a:ea typeface="微軟正黑體" panose="020B0604030504040204" pitchFamily="34" charset="-120"/>
              </a:rPr>
              <a:t>Raspberry Pi (</a:t>
            </a:r>
            <a:r>
              <a:rPr lang="en-US" altLang="zh-TW" sz="2000" dirty="0" err="1">
                <a:ea typeface="微軟正黑體" panose="020B0604030504040204" pitchFamily="34" charset="-120"/>
              </a:rPr>
              <a:t>RPi</a:t>
            </a:r>
            <a:r>
              <a:rPr lang="en-US" altLang="zh-TW" sz="2000" dirty="0">
                <a:ea typeface="微軟正黑體" panose="020B0604030504040204" pitchFamily="34" charset="-120"/>
              </a:rPr>
              <a:t>) </a:t>
            </a:r>
            <a:r>
              <a:rPr lang="zh-TW" altLang="en-US" sz="2000" dirty="0">
                <a:ea typeface="微軟正黑體" panose="020B0604030504040204" pitchFamily="34" charset="-120"/>
              </a:rPr>
              <a:t>實現</a:t>
            </a:r>
            <a:endParaRPr lang="en-US" altLang="zh-TW" sz="2000" dirty="0">
              <a:ea typeface="微軟正黑體" panose="020B0604030504040204" pitchFamily="34" charset="-120"/>
            </a:endParaRPr>
          </a:p>
          <a:p>
            <a:pPr>
              <a:lnSpc>
                <a:spcPct val="150000"/>
              </a:lnSpc>
            </a:pPr>
            <a:r>
              <a:rPr lang="zh-TW" altLang="en-US" sz="2000" dirty="0">
                <a:ea typeface="微軟正黑體" panose="020B0604030504040204" pitchFamily="34" charset="-120"/>
              </a:rPr>
              <a:t>在 </a:t>
            </a:r>
            <a:r>
              <a:rPr lang="en-US" altLang="zh-TW" sz="2000" dirty="0">
                <a:ea typeface="微軟正黑體" panose="020B0604030504040204" pitchFamily="34" charset="-120"/>
              </a:rPr>
              <a:t>MATLAB </a:t>
            </a:r>
            <a:r>
              <a:rPr lang="zh-TW" altLang="en-US" sz="2000" dirty="0">
                <a:ea typeface="微軟正黑體" panose="020B0604030504040204" pitchFamily="34" charset="-120"/>
              </a:rPr>
              <a:t>中使用線性化模型進行建模，並在 </a:t>
            </a:r>
            <a:r>
              <a:rPr lang="en-US" altLang="zh-TW" sz="2000" dirty="0">
                <a:ea typeface="微軟正黑體" panose="020B0604030504040204" pitchFamily="34" charset="-120"/>
              </a:rPr>
              <a:t>OPAL-RT </a:t>
            </a:r>
            <a:r>
              <a:rPr lang="zh-TW" altLang="en-US" sz="2000" dirty="0">
                <a:ea typeface="微軟正黑體" panose="020B0604030504040204" pitchFamily="34" charset="-120"/>
              </a:rPr>
              <a:t>中實現。</a:t>
            </a:r>
            <a:endParaRPr lang="en-US" altLang="zh-TW" sz="2000" dirty="0">
              <a:ea typeface="微軟正黑體" panose="020B0604030504040204" pitchFamily="34" charset="-120"/>
            </a:endParaRPr>
          </a:p>
          <a:p>
            <a:pPr>
              <a:lnSpc>
                <a:spcPct val="150000"/>
              </a:lnSpc>
            </a:pPr>
            <a:r>
              <a:rPr lang="en-US" altLang="zh-TW" sz="2000" dirty="0" err="1">
                <a:ea typeface="微軟正黑體" panose="020B0604030504040204" pitchFamily="34" charset="-120"/>
              </a:rPr>
              <a:t>RPis</a:t>
            </a:r>
            <a:r>
              <a:rPr lang="en-US" altLang="zh-TW" sz="2000" dirty="0">
                <a:ea typeface="微軟正黑體" panose="020B0604030504040204" pitchFamily="34" charset="-120"/>
              </a:rPr>
              <a:t> </a:t>
            </a:r>
            <a:r>
              <a:rPr lang="zh-TW" altLang="en-US" sz="2000" dirty="0">
                <a:ea typeface="微軟正黑體" panose="020B0604030504040204" pitchFamily="34" charset="-120"/>
              </a:rPr>
              <a:t>和 </a:t>
            </a:r>
            <a:r>
              <a:rPr lang="en-US" altLang="zh-TW" sz="2000" dirty="0">
                <a:ea typeface="微軟正黑體" panose="020B0604030504040204" pitchFamily="34" charset="-120"/>
              </a:rPr>
              <a:t>OPAL-RT </a:t>
            </a:r>
            <a:r>
              <a:rPr lang="zh-TW" altLang="en-US" sz="2000" dirty="0">
                <a:ea typeface="微軟正黑體" panose="020B0604030504040204" pitchFamily="34" charset="-120"/>
              </a:rPr>
              <a:t>模型之間進行 </a:t>
            </a:r>
            <a:r>
              <a:rPr lang="en-US" altLang="zh-TW" sz="2000" dirty="0">
                <a:ea typeface="微軟正黑體" panose="020B0604030504040204" pitchFamily="34" charset="-120"/>
              </a:rPr>
              <a:t>UDP </a:t>
            </a:r>
            <a:r>
              <a:rPr lang="zh-TW" altLang="en-US" sz="2000" dirty="0">
                <a:ea typeface="微軟正黑體" panose="020B0604030504040204" pitchFamily="34" charset="-120"/>
              </a:rPr>
              <a:t>通信，以模擬基於區塊鏈的去中心化頻率控制。</a:t>
            </a:r>
            <a:endParaRPr lang="en-US" altLang="zh-TW" sz="2000" dirty="0">
              <a:ea typeface="微軟正黑體" panose="020B0604030504040204" pitchFamily="34" charset="-120"/>
            </a:endParaRPr>
          </a:p>
          <a:p>
            <a:endParaRPr lang="zh-TW" altLang="en-US" dirty="0"/>
          </a:p>
        </p:txBody>
      </p:sp>
      <p:sp>
        <p:nvSpPr>
          <p:cNvPr id="5" name="投影片編號版面配置區 4">
            <a:extLst>
              <a:ext uri="{FF2B5EF4-FFF2-40B4-BE49-F238E27FC236}">
                <a16:creationId xmlns:a16="http://schemas.microsoft.com/office/drawing/2014/main" id="{8A561A2B-D261-471A-9F38-01890EC79EB0}"/>
              </a:ext>
            </a:extLst>
          </p:cNvPr>
          <p:cNvSpPr>
            <a:spLocks noGrp="1"/>
          </p:cNvSpPr>
          <p:nvPr>
            <p:ph type="sldNum" sz="quarter" idx="12"/>
          </p:nvPr>
        </p:nvSpPr>
        <p:spPr/>
        <p:txBody>
          <a:bodyPr/>
          <a:lstStyle/>
          <a:p>
            <a:fld id="{C565CF3C-3956-4ED7-ACEB-1A82D83F497B}" type="slidenum">
              <a:rPr lang="zh-TW" altLang="en-US" smtClean="0"/>
              <a:t>11</a:t>
            </a:fld>
            <a:endParaRPr lang="zh-TW" altLang="en-US"/>
          </a:p>
        </p:txBody>
      </p:sp>
    </p:spTree>
    <p:extLst>
      <p:ext uri="{BB962C8B-B14F-4D97-AF65-F5344CB8AC3E}">
        <p14:creationId xmlns:p14="http://schemas.microsoft.com/office/powerpoint/2010/main" val="2688101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Experimental Results</a:t>
            </a:r>
            <a:endParaRPr lang="zh-TW" altLang="en-US" sz="3600" dirty="0"/>
          </a:p>
        </p:txBody>
      </p:sp>
      <p:sp>
        <p:nvSpPr>
          <p:cNvPr id="5" name="投影片編號版面配置區 4">
            <a:extLst>
              <a:ext uri="{FF2B5EF4-FFF2-40B4-BE49-F238E27FC236}">
                <a16:creationId xmlns:a16="http://schemas.microsoft.com/office/drawing/2014/main" id="{FB3A86A4-DA05-4DB3-A234-CA3C322C5CCF}"/>
              </a:ext>
            </a:extLst>
          </p:cNvPr>
          <p:cNvSpPr>
            <a:spLocks noGrp="1"/>
          </p:cNvSpPr>
          <p:nvPr>
            <p:ph type="sldNum" sz="quarter" idx="12"/>
          </p:nvPr>
        </p:nvSpPr>
        <p:spPr/>
        <p:txBody>
          <a:bodyPr/>
          <a:lstStyle/>
          <a:p>
            <a:fld id="{C565CF3C-3956-4ED7-ACEB-1A82D83F497B}" type="slidenum">
              <a:rPr lang="zh-TW" altLang="en-US" smtClean="0"/>
              <a:t>12</a:t>
            </a:fld>
            <a:endParaRPr lang="zh-TW" altLang="en-US"/>
          </a:p>
        </p:txBody>
      </p:sp>
      <p:pic>
        <p:nvPicPr>
          <p:cNvPr id="7" name="圖片 6">
            <a:extLst>
              <a:ext uri="{FF2B5EF4-FFF2-40B4-BE49-F238E27FC236}">
                <a16:creationId xmlns:a16="http://schemas.microsoft.com/office/drawing/2014/main" id="{8F5F39D6-3811-48C7-9C0D-27D3A8A60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81929"/>
            <a:ext cx="4632945" cy="4320000"/>
          </a:xfrm>
          <a:prstGeom prst="rect">
            <a:avLst/>
          </a:prstGeom>
        </p:spPr>
      </p:pic>
      <p:pic>
        <p:nvPicPr>
          <p:cNvPr id="9" name="圖片 8">
            <a:extLst>
              <a:ext uri="{FF2B5EF4-FFF2-40B4-BE49-F238E27FC236}">
                <a16:creationId xmlns:a16="http://schemas.microsoft.com/office/drawing/2014/main" id="{A7E2936D-025E-4B55-8C9B-8B0A1C17B0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4575" y="1881929"/>
            <a:ext cx="4737356" cy="4320000"/>
          </a:xfrm>
          <a:prstGeom prst="rect">
            <a:avLst/>
          </a:prstGeom>
        </p:spPr>
      </p:pic>
      <p:sp>
        <p:nvSpPr>
          <p:cNvPr id="10" name="文字方塊 9">
            <a:extLst>
              <a:ext uri="{FF2B5EF4-FFF2-40B4-BE49-F238E27FC236}">
                <a16:creationId xmlns:a16="http://schemas.microsoft.com/office/drawing/2014/main" id="{0137DB6A-43D6-40A4-8BB0-C58E45C00FAF}"/>
              </a:ext>
            </a:extLst>
          </p:cNvPr>
          <p:cNvSpPr txBox="1"/>
          <p:nvPr/>
        </p:nvSpPr>
        <p:spPr>
          <a:xfrm>
            <a:off x="5334252" y="642124"/>
            <a:ext cx="3139001" cy="923330"/>
          </a:xfrm>
          <a:prstGeom prst="rect">
            <a:avLst/>
          </a:prstGeom>
          <a:noFill/>
        </p:spPr>
        <p:txBody>
          <a:bodyPr wrap="none" rtlCol="0">
            <a:spAutoFit/>
          </a:bodyPr>
          <a:lstStyle/>
          <a:p>
            <a:r>
              <a:rPr lang="en-US" altLang="zh-TW" dirty="0"/>
              <a:t>Consumer – 1: 350kW ~ 500kW</a:t>
            </a:r>
          </a:p>
          <a:p>
            <a:r>
              <a:rPr lang="en-US" altLang="zh-TW" dirty="0"/>
              <a:t>Consumer – 2: 400kW ~ 550kW</a:t>
            </a:r>
          </a:p>
          <a:p>
            <a:r>
              <a:rPr lang="en-US" altLang="zh-TW" dirty="0"/>
              <a:t>Consumer – 3: 550kW ~ 700kW</a:t>
            </a:r>
            <a:endParaRPr lang="zh-TW" altLang="en-US" dirty="0"/>
          </a:p>
        </p:txBody>
      </p:sp>
      <p:sp>
        <p:nvSpPr>
          <p:cNvPr id="11" name="文字方塊 10">
            <a:extLst>
              <a:ext uri="{FF2B5EF4-FFF2-40B4-BE49-F238E27FC236}">
                <a16:creationId xmlns:a16="http://schemas.microsoft.com/office/drawing/2014/main" id="{35E41BC5-5B88-4A2B-BA6C-49482B69341C}"/>
              </a:ext>
            </a:extLst>
          </p:cNvPr>
          <p:cNvSpPr txBox="1"/>
          <p:nvPr/>
        </p:nvSpPr>
        <p:spPr>
          <a:xfrm>
            <a:off x="8494485" y="365125"/>
            <a:ext cx="3088794" cy="1200329"/>
          </a:xfrm>
          <a:prstGeom prst="rect">
            <a:avLst/>
          </a:prstGeom>
          <a:noFill/>
        </p:spPr>
        <p:txBody>
          <a:bodyPr wrap="none" rtlCol="0">
            <a:spAutoFit/>
          </a:bodyPr>
          <a:lstStyle/>
          <a:p>
            <a:r>
              <a:rPr lang="en-US" altLang="zh-TW" dirty="0"/>
              <a:t>Prosumer – 1: 600kW ~ 700kW</a:t>
            </a:r>
          </a:p>
          <a:p>
            <a:r>
              <a:rPr lang="en-US" altLang="zh-TW" dirty="0"/>
              <a:t>Prosumer – 2: 400kW ~ 500kW</a:t>
            </a:r>
          </a:p>
          <a:p>
            <a:r>
              <a:rPr lang="en-US" altLang="zh-TW" dirty="0"/>
              <a:t>Prosumer – 3: 400kW ~ 500kW</a:t>
            </a:r>
          </a:p>
          <a:p>
            <a:r>
              <a:rPr lang="en-US" altLang="zh-TW" dirty="0"/>
              <a:t>Prosumer – 4: 200kW ~ 300kW</a:t>
            </a:r>
            <a:endParaRPr lang="zh-TW" altLang="en-US" dirty="0"/>
          </a:p>
        </p:txBody>
      </p:sp>
      <p:sp>
        <p:nvSpPr>
          <p:cNvPr id="12" name="文字方塊 11">
            <a:extLst>
              <a:ext uri="{FF2B5EF4-FFF2-40B4-BE49-F238E27FC236}">
                <a16:creationId xmlns:a16="http://schemas.microsoft.com/office/drawing/2014/main" id="{634950B8-43FB-49A0-8D76-00EEF4D805DD}"/>
              </a:ext>
            </a:extLst>
          </p:cNvPr>
          <p:cNvSpPr txBox="1"/>
          <p:nvPr/>
        </p:nvSpPr>
        <p:spPr>
          <a:xfrm>
            <a:off x="838200" y="1198754"/>
            <a:ext cx="3568606" cy="369332"/>
          </a:xfrm>
          <a:prstGeom prst="rect">
            <a:avLst/>
          </a:prstGeom>
          <a:noFill/>
        </p:spPr>
        <p:txBody>
          <a:bodyPr wrap="none" rtlCol="0">
            <a:spAutoFit/>
          </a:bodyPr>
          <a:lstStyle/>
          <a:p>
            <a:r>
              <a:rPr lang="en-US" altLang="zh-TW" dirty="0"/>
              <a:t>Price: $0.2 USD/kWh ~ $1 USD/kWh</a:t>
            </a:r>
            <a:endParaRPr lang="zh-TW" altLang="en-US" dirty="0"/>
          </a:p>
        </p:txBody>
      </p:sp>
    </p:spTree>
    <p:extLst>
      <p:ext uri="{BB962C8B-B14F-4D97-AF65-F5344CB8AC3E}">
        <p14:creationId xmlns:p14="http://schemas.microsoft.com/office/powerpoint/2010/main" val="4139428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Experimental Results</a:t>
            </a:r>
            <a:endParaRPr lang="zh-TW" altLang="en-US" sz="3600" dirty="0"/>
          </a:p>
        </p:txBody>
      </p:sp>
      <p:sp>
        <p:nvSpPr>
          <p:cNvPr id="5" name="投影片編號版面配置區 4">
            <a:extLst>
              <a:ext uri="{FF2B5EF4-FFF2-40B4-BE49-F238E27FC236}">
                <a16:creationId xmlns:a16="http://schemas.microsoft.com/office/drawing/2014/main" id="{FB3A86A4-DA05-4DB3-A234-CA3C322C5CCF}"/>
              </a:ext>
            </a:extLst>
          </p:cNvPr>
          <p:cNvSpPr>
            <a:spLocks noGrp="1"/>
          </p:cNvSpPr>
          <p:nvPr>
            <p:ph type="sldNum" sz="quarter" idx="12"/>
          </p:nvPr>
        </p:nvSpPr>
        <p:spPr/>
        <p:txBody>
          <a:bodyPr/>
          <a:lstStyle/>
          <a:p>
            <a:fld id="{C565CF3C-3956-4ED7-ACEB-1A82D83F497B}" type="slidenum">
              <a:rPr lang="zh-TW" altLang="en-US" smtClean="0"/>
              <a:t>13</a:t>
            </a:fld>
            <a:endParaRPr lang="zh-TW" altLang="en-US"/>
          </a:p>
        </p:txBody>
      </p:sp>
      <p:pic>
        <p:nvPicPr>
          <p:cNvPr id="8" name="圖片 7">
            <a:extLst>
              <a:ext uri="{FF2B5EF4-FFF2-40B4-BE49-F238E27FC236}">
                <a16:creationId xmlns:a16="http://schemas.microsoft.com/office/drawing/2014/main" id="{C195BA3D-69D2-4336-AB79-CDF255FD1ADC}"/>
              </a:ext>
            </a:extLst>
          </p:cNvPr>
          <p:cNvPicPr>
            <a:picLocks noChangeAspect="1"/>
          </p:cNvPicPr>
          <p:nvPr/>
        </p:nvPicPr>
        <p:blipFill rotWithShape="1">
          <a:blip r:embed="rId3">
            <a:extLst>
              <a:ext uri="{28A0092B-C50C-407E-A947-70E740481C1C}">
                <a14:useLocalDpi xmlns:a14="http://schemas.microsoft.com/office/drawing/2010/main" val="0"/>
              </a:ext>
            </a:extLst>
          </a:blip>
          <a:srcRect b="19846"/>
          <a:stretch/>
        </p:blipFill>
        <p:spPr>
          <a:xfrm>
            <a:off x="700047" y="1516602"/>
            <a:ext cx="5400000" cy="1621453"/>
          </a:xfrm>
          <a:prstGeom prst="rect">
            <a:avLst/>
          </a:prstGeom>
        </p:spPr>
      </p:pic>
      <p:pic>
        <p:nvPicPr>
          <p:cNvPr id="10" name="圖片 9">
            <a:extLst>
              <a:ext uri="{FF2B5EF4-FFF2-40B4-BE49-F238E27FC236}">
                <a16:creationId xmlns:a16="http://schemas.microsoft.com/office/drawing/2014/main" id="{D9706E0F-5CF2-44D1-A42F-C0D933E2AEE7}"/>
              </a:ext>
            </a:extLst>
          </p:cNvPr>
          <p:cNvPicPr>
            <a:picLocks noChangeAspect="1"/>
          </p:cNvPicPr>
          <p:nvPr/>
        </p:nvPicPr>
        <p:blipFill rotWithShape="1">
          <a:blip r:embed="rId4">
            <a:extLst>
              <a:ext uri="{28A0092B-C50C-407E-A947-70E740481C1C}">
                <a14:useLocalDpi xmlns:a14="http://schemas.microsoft.com/office/drawing/2010/main" val="0"/>
              </a:ext>
            </a:extLst>
          </a:blip>
          <a:srcRect b="16878"/>
          <a:stretch/>
        </p:blipFill>
        <p:spPr>
          <a:xfrm>
            <a:off x="838200" y="3539538"/>
            <a:ext cx="5400000" cy="2265803"/>
          </a:xfrm>
          <a:prstGeom prst="rect">
            <a:avLst/>
          </a:prstGeom>
        </p:spPr>
      </p:pic>
      <p:pic>
        <p:nvPicPr>
          <p:cNvPr id="14" name="圖片 13">
            <a:extLst>
              <a:ext uri="{FF2B5EF4-FFF2-40B4-BE49-F238E27FC236}">
                <a16:creationId xmlns:a16="http://schemas.microsoft.com/office/drawing/2014/main" id="{0521A725-279C-4AA7-9140-F1C04555A236}"/>
              </a:ext>
            </a:extLst>
          </p:cNvPr>
          <p:cNvPicPr>
            <a:picLocks noChangeAspect="1"/>
          </p:cNvPicPr>
          <p:nvPr/>
        </p:nvPicPr>
        <p:blipFill rotWithShape="1">
          <a:blip r:embed="rId5">
            <a:extLst>
              <a:ext uri="{28A0092B-C50C-407E-A947-70E740481C1C}">
                <a14:useLocalDpi xmlns:a14="http://schemas.microsoft.com/office/drawing/2010/main" val="0"/>
              </a:ext>
            </a:extLst>
          </a:blip>
          <a:srcRect b="12244"/>
          <a:stretch/>
        </p:blipFill>
        <p:spPr>
          <a:xfrm>
            <a:off x="6238200" y="1223739"/>
            <a:ext cx="5400000" cy="2085396"/>
          </a:xfrm>
          <a:prstGeom prst="rect">
            <a:avLst/>
          </a:prstGeom>
        </p:spPr>
      </p:pic>
      <p:pic>
        <p:nvPicPr>
          <p:cNvPr id="16" name="圖片 15">
            <a:extLst>
              <a:ext uri="{FF2B5EF4-FFF2-40B4-BE49-F238E27FC236}">
                <a16:creationId xmlns:a16="http://schemas.microsoft.com/office/drawing/2014/main" id="{ACFFADD0-BD5D-4DF7-AFB8-4695A904B287}"/>
              </a:ext>
            </a:extLst>
          </p:cNvPr>
          <p:cNvPicPr>
            <a:picLocks noChangeAspect="1"/>
          </p:cNvPicPr>
          <p:nvPr/>
        </p:nvPicPr>
        <p:blipFill rotWithShape="1">
          <a:blip r:embed="rId6">
            <a:extLst>
              <a:ext uri="{28A0092B-C50C-407E-A947-70E740481C1C}">
                <a14:useLocalDpi xmlns:a14="http://schemas.microsoft.com/office/drawing/2010/main" val="0"/>
              </a:ext>
            </a:extLst>
          </a:blip>
          <a:srcRect b="12836"/>
          <a:stretch/>
        </p:blipFill>
        <p:spPr>
          <a:xfrm>
            <a:off x="6238200" y="3629741"/>
            <a:ext cx="5400000" cy="2085396"/>
          </a:xfrm>
          <a:prstGeom prst="rect">
            <a:avLst/>
          </a:prstGeom>
        </p:spPr>
      </p:pic>
    </p:spTree>
    <p:extLst>
      <p:ext uri="{BB962C8B-B14F-4D97-AF65-F5344CB8AC3E}">
        <p14:creationId xmlns:p14="http://schemas.microsoft.com/office/powerpoint/2010/main" val="4287876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96207-BFEE-4222-BD9C-B1497D3BCD8F}"/>
              </a:ext>
            </a:extLst>
          </p:cNvPr>
          <p:cNvSpPr>
            <a:spLocks noGrp="1"/>
          </p:cNvSpPr>
          <p:nvPr>
            <p:ph type="title"/>
          </p:nvPr>
        </p:nvSpPr>
        <p:spPr>
          <a:xfrm>
            <a:off x="838200" y="365125"/>
            <a:ext cx="10515600" cy="730507"/>
          </a:xfrm>
        </p:spPr>
        <p:txBody>
          <a:bodyPr>
            <a:normAutofit/>
          </a:bodyPr>
          <a:lstStyle/>
          <a:p>
            <a:r>
              <a:rPr lang="en-US" altLang="zh-TW" sz="3600" dirty="0"/>
              <a:t>Conclusion</a:t>
            </a:r>
            <a:endParaRPr lang="zh-TW" altLang="en-US" sz="3600" dirty="0"/>
          </a:p>
        </p:txBody>
      </p:sp>
      <p:sp>
        <p:nvSpPr>
          <p:cNvPr id="3" name="內容版面配置區 2">
            <a:extLst>
              <a:ext uri="{FF2B5EF4-FFF2-40B4-BE49-F238E27FC236}">
                <a16:creationId xmlns:a16="http://schemas.microsoft.com/office/drawing/2014/main" id="{15779BE2-3C1B-465F-8B05-2FBA27983953}"/>
              </a:ext>
            </a:extLst>
          </p:cNvPr>
          <p:cNvSpPr>
            <a:spLocks noGrp="1"/>
          </p:cNvSpPr>
          <p:nvPr>
            <p:ph idx="1"/>
          </p:nvPr>
        </p:nvSpPr>
        <p:spPr>
          <a:xfrm>
            <a:off x="838200" y="1252151"/>
            <a:ext cx="10515600" cy="4924812"/>
          </a:xfrm>
        </p:spPr>
        <p:txBody>
          <a:bodyPr>
            <a:normAutofit/>
          </a:bodyPr>
          <a:lstStyle/>
          <a:p>
            <a:pPr>
              <a:lnSpc>
                <a:spcPct val="150000"/>
              </a:lnSpc>
            </a:pPr>
            <a:r>
              <a:rPr lang="zh-TW" altLang="en-US" sz="2000" dirty="0">
                <a:ea typeface="微軟正黑體" panose="020B0604030504040204" pitchFamily="34" charset="-120"/>
              </a:rPr>
              <a:t>透過參與能源交易的節點之間的智慧合約來實現開放式 </a:t>
            </a:r>
            <a:r>
              <a:rPr lang="en-US" altLang="zh-TW" sz="2000" dirty="0">
                <a:ea typeface="微軟正黑體" panose="020B0604030504040204" pitchFamily="34" charset="-120"/>
              </a:rPr>
              <a:t>P2P </a:t>
            </a:r>
            <a:r>
              <a:rPr lang="zh-TW" altLang="en-US" sz="2000" dirty="0">
                <a:ea typeface="微軟正黑體" panose="020B0604030504040204" pitchFamily="34" charset="-120"/>
              </a:rPr>
              <a:t>能源市場的去中心化頻率控制 </a:t>
            </a:r>
          </a:p>
          <a:p>
            <a:pPr>
              <a:lnSpc>
                <a:spcPct val="150000"/>
              </a:lnSpc>
            </a:pPr>
            <a:r>
              <a:rPr lang="en-US" altLang="zh-TW" sz="2000" dirty="0">
                <a:ea typeface="微軟正黑體" panose="020B0604030504040204" pitchFamily="34" charset="-120"/>
              </a:rPr>
              <a:t>SCPM </a:t>
            </a:r>
            <a:r>
              <a:rPr lang="zh-TW" altLang="en-US" sz="2000" dirty="0">
                <a:ea typeface="微軟正黑體" panose="020B0604030504040204" pitchFamily="34" charset="-120"/>
              </a:rPr>
              <a:t>的概念已在 </a:t>
            </a:r>
            <a:r>
              <a:rPr lang="en-US" altLang="zh-TW" sz="2000" dirty="0" err="1">
                <a:ea typeface="微軟正黑體" panose="020B0604030504040204" pitchFamily="34" charset="-120"/>
              </a:rPr>
              <a:t>PoA</a:t>
            </a:r>
            <a:r>
              <a:rPr lang="en-US" altLang="zh-TW" sz="2000" dirty="0">
                <a:ea typeface="微軟正黑體" panose="020B0604030504040204" pitchFamily="34" charset="-120"/>
              </a:rPr>
              <a:t> </a:t>
            </a:r>
            <a:r>
              <a:rPr lang="zh-TW" altLang="en-US" sz="2000" dirty="0">
                <a:ea typeface="微軟正黑體" panose="020B0604030504040204" pitchFamily="34" charset="-120"/>
              </a:rPr>
              <a:t>私有鏈中開發和實施</a:t>
            </a:r>
          </a:p>
          <a:p>
            <a:pPr>
              <a:lnSpc>
                <a:spcPct val="150000"/>
              </a:lnSpc>
            </a:pPr>
            <a:r>
              <a:rPr lang="zh-TW" altLang="en-US" sz="2000" dirty="0">
                <a:ea typeface="微軟正黑體" panose="020B0604030504040204" pitchFamily="34" charset="-120"/>
              </a:rPr>
              <a:t>此外，還開發了一種基於聯邦學習的 </a:t>
            </a:r>
            <a:r>
              <a:rPr lang="en-US" altLang="zh-TW" sz="2000" dirty="0">
                <a:ea typeface="微軟正黑體" panose="020B0604030504040204" pitchFamily="34" charset="-120"/>
              </a:rPr>
              <a:t>FORNN </a:t>
            </a:r>
            <a:r>
              <a:rPr lang="zh-TW" altLang="en-US" sz="2000" dirty="0">
                <a:ea typeface="微軟正黑體" panose="020B0604030504040204" pitchFamily="34" charset="-120"/>
              </a:rPr>
              <a:t>設計的自適應 </a:t>
            </a:r>
            <a:r>
              <a:rPr lang="en-US" altLang="zh-TW" sz="2000" dirty="0">
                <a:ea typeface="微軟正黑體" panose="020B0604030504040204" pitchFamily="34" charset="-120"/>
              </a:rPr>
              <a:t>PID </a:t>
            </a:r>
            <a:r>
              <a:rPr lang="zh-TW" altLang="en-US" sz="2000" dirty="0">
                <a:ea typeface="微軟正黑體" panose="020B0604030504040204" pitchFamily="34" charset="-120"/>
              </a:rPr>
              <a:t>控制器。 </a:t>
            </a:r>
          </a:p>
          <a:p>
            <a:pPr>
              <a:lnSpc>
                <a:spcPct val="150000"/>
              </a:lnSpc>
            </a:pPr>
            <a:r>
              <a:rPr lang="zh-TW" altLang="en-US" sz="2000" dirty="0">
                <a:ea typeface="微軟正黑體" panose="020B0604030504040204" pitchFamily="34" charset="-120"/>
              </a:rPr>
              <a:t>所提出的 </a:t>
            </a:r>
            <a:r>
              <a:rPr lang="en-US" altLang="zh-TW" sz="2000" dirty="0">
                <a:ea typeface="微軟正黑體" panose="020B0604030504040204" pitchFamily="34" charset="-120"/>
              </a:rPr>
              <a:t>FL-FORNN </a:t>
            </a:r>
            <a:r>
              <a:rPr lang="zh-TW" altLang="en-US" sz="2000" dirty="0">
                <a:ea typeface="微軟正黑體" panose="020B0604030504040204" pitchFamily="34" charset="-120"/>
              </a:rPr>
              <a:t>控制器的穩健性透過在區塊鏈中設定能源交易和 </a:t>
            </a:r>
            <a:r>
              <a:rPr lang="en-US" altLang="zh-TW" sz="2000" dirty="0">
                <a:ea typeface="微軟正黑體" panose="020B0604030504040204" pitchFamily="34" charset="-120"/>
              </a:rPr>
              <a:t>SCPM </a:t>
            </a:r>
            <a:r>
              <a:rPr lang="zh-TW" altLang="en-US" sz="2000" dirty="0">
                <a:ea typeface="微軟正黑體" panose="020B0604030504040204" pitchFamily="34" charset="-120"/>
              </a:rPr>
              <a:t>計算的硬體在環模擬中透過區塊鏈實現的 </a:t>
            </a:r>
            <a:r>
              <a:rPr lang="en-US" altLang="zh-TW" sz="2000" dirty="0">
                <a:ea typeface="微軟正黑體" panose="020B0604030504040204" pitchFamily="34" charset="-120"/>
              </a:rPr>
              <a:t>FORNN </a:t>
            </a:r>
            <a:r>
              <a:rPr lang="zh-TW" altLang="en-US" sz="2000" dirty="0">
                <a:ea typeface="微軟正黑體" panose="020B0604030504040204" pitchFamily="34" charset="-120"/>
              </a:rPr>
              <a:t>進行驗證。 </a:t>
            </a:r>
          </a:p>
          <a:p>
            <a:pPr>
              <a:lnSpc>
                <a:spcPct val="150000"/>
              </a:lnSpc>
            </a:pPr>
            <a:r>
              <a:rPr lang="zh-TW" altLang="en-US" sz="2000" dirty="0">
                <a:ea typeface="微軟正黑體" panose="020B0604030504040204" pitchFamily="34" charset="-120"/>
              </a:rPr>
              <a:t>結果表明，與集中式方案和傳統 </a:t>
            </a:r>
            <a:r>
              <a:rPr lang="en-US" altLang="zh-TW" sz="2000" dirty="0">
                <a:ea typeface="微軟正黑體" panose="020B0604030504040204" pitchFamily="34" charset="-120"/>
              </a:rPr>
              <a:t>LFC </a:t>
            </a:r>
            <a:r>
              <a:rPr lang="zh-TW" altLang="en-US" sz="2000" dirty="0">
                <a:ea typeface="微軟正黑體" panose="020B0604030504040204" pitchFamily="34" charset="-120"/>
              </a:rPr>
              <a:t>系統相比，所提出的 </a:t>
            </a:r>
            <a:r>
              <a:rPr lang="en-US" altLang="zh-TW" sz="2000" dirty="0">
                <a:ea typeface="微軟正黑體" panose="020B0604030504040204" pitchFamily="34" charset="-120"/>
              </a:rPr>
              <a:t>FL-FORNN </a:t>
            </a:r>
            <a:r>
              <a:rPr lang="zh-TW" altLang="en-US" sz="2000" dirty="0">
                <a:ea typeface="微軟正黑體" panose="020B0604030504040204" pitchFamily="34" charset="-120"/>
              </a:rPr>
              <a:t>方法可以以最小穩態誤差調節頻率。 </a:t>
            </a:r>
          </a:p>
          <a:p>
            <a:pPr>
              <a:lnSpc>
                <a:spcPct val="150000"/>
              </a:lnSpc>
            </a:pPr>
            <a:r>
              <a:rPr lang="en-US" altLang="zh-TW" sz="2000" dirty="0">
                <a:ea typeface="微軟正黑體" panose="020B0604030504040204" pitchFamily="34" charset="-120"/>
              </a:rPr>
              <a:t>Future Work: </a:t>
            </a:r>
            <a:r>
              <a:rPr lang="zh-TW" altLang="en-US" sz="2000" dirty="0">
                <a:ea typeface="微軟正黑體" panose="020B0604030504040204" pitchFamily="34" charset="-120"/>
              </a:rPr>
              <a:t>考慮</a:t>
            </a:r>
            <a:r>
              <a:rPr lang="en-US" altLang="zh-TW" sz="2000" dirty="0">
                <a:ea typeface="微軟正黑體" panose="020B0604030504040204" pitchFamily="34" charset="-120"/>
              </a:rPr>
              <a:t>DG</a:t>
            </a:r>
            <a:r>
              <a:rPr lang="zh-TW" altLang="en-US" sz="2000" dirty="0">
                <a:ea typeface="微軟正黑體" panose="020B0604030504040204" pitchFamily="34" charset="-120"/>
              </a:rPr>
              <a:t>經濟調度的多微電網系統頻率調節的</a:t>
            </a:r>
            <a:r>
              <a:rPr lang="en-US" altLang="zh-TW" sz="2000" dirty="0"/>
              <a:t>neural network advanced learning</a:t>
            </a:r>
            <a:endParaRPr lang="zh-TW" altLang="en-US" sz="2000" dirty="0">
              <a:ea typeface="微軟正黑體" panose="020B0604030504040204" pitchFamily="34" charset="-120"/>
            </a:endParaRPr>
          </a:p>
        </p:txBody>
      </p:sp>
      <p:sp>
        <p:nvSpPr>
          <p:cNvPr id="5" name="投影片編號版面配置區 4">
            <a:extLst>
              <a:ext uri="{FF2B5EF4-FFF2-40B4-BE49-F238E27FC236}">
                <a16:creationId xmlns:a16="http://schemas.microsoft.com/office/drawing/2014/main" id="{FB3A86A4-DA05-4DB3-A234-CA3C322C5CCF}"/>
              </a:ext>
            </a:extLst>
          </p:cNvPr>
          <p:cNvSpPr>
            <a:spLocks noGrp="1"/>
          </p:cNvSpPr>
          <p:nvPr>
            <p:ph type="sldNum" sz="quarter" idx="12"/>
          </p:nvPr>
        </p:nvSpPr>
        <p:spPr/>
        <p:txBody>
          <a:bodyPr/>
          <a:lstStyle/>
          <a:p>
            <a:fld id="{C565CF3C-3956-4ED7-ACEB-1A82D83F497B}" type="slidenum">
              <a:rPr lang="zh-TW" altLang="en-US" smtClean="0"/>
              <a:t>14</a:t>
            </a:fld>
            <a:endParaRPr lang="zh-TW" altLang="en-US"/>
          </a:p>
        </p:txBody>
      </p:sp>
    </p:spTree>
    <p:extLst>
      <p:ext uri="{BB962C8B-B14F-4D97-AF65-F5344CB8AC3E}">
        <p14:creationId xmlns:p14="http://schemas.microsoft.com/office/powerpoint/2010/main" val="292769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C201DE-BEF8-4818-9EEF-22CD4D38B65C}"/>
              </a:ext>
            </a:extLst>
          </p:cNvPr>
          <p:cNvSpPr>
            <a:spLocks noGrp="1"/>
          </p:cNvSpPr>
          <p:nvPr>
            <p:ph type="ctrTitle"/>
          </p:nvPr>
        </p:nvSpPr>
        <p:spPr>
          <a:xfrm>
            <a:off x="1182129" y="3076286"/>
            <a:ext cx="9827741" cy="705427"/>
          </a:xfrm>
        </p:spPr>
        <p:txBody>
          <a:bodyPr>
            <a:normAutofit/>
          </a:bodyPr>
          <a:lstStyle/>
          <a:p>
            <a:r>
              <a:rPr lang="en-US" altLang="zh-TW" sz="4000" b="1" dirty="0">
                <a:effectLst/>
              </a:rPr>
              <a:t>Thanks for listening</a:t>
            </a:r>
            <a:endParaRPr lang="zh-TW" altLang="en-US" sz="4000" dirty="0"/>
          </a:p>
        </p:txBody>
      </p:sp>
      <p:sp>
        <p:nvSpPr>
          <p:cNvPr id="5" name="投影片編號版面配置區 4">
            <a:extLst>
              <a:ext uri="{FF2B5EF4-FFF2-40B4-BE49-F238E27FC236}">
                <a16:creationId xmlns:a16="http://schemas.microsoft.com/office/drawing/2014/main" id="{2FD0B2EB-998D-407F-8D56-83A0964DAEBF}"/>
              </a:ext>
            </a:extLst>
          </p:cNvPr>
          <p:cNvSpPr>
            <a:spLocks noGrp="1"/>
          </p:cNvSpPr>
          <p:nvPr>
            <p:ph type="sldNum" sz="quarter" idx="12"/>
          </p:nvPr>
        </p:nvSpPr>
        <p:spPr/>
        <p:txBody>
          <a:bodyPr/>
          <a:lstStyle/>
          <a:p>
            <a:fld id="{C565CF3C-3956-4ED7-ACEB-1A82D83F497B}" type="slidenum">
              <a:rPr lang="zh-TW" altLang="en-US" smtClean="0"/>
              <a:t>15</a:t>
            </a:fld>
            <a:endParaRPr lang="zh-TW" altLang="en-US"/>
          </a:p>
        </p:txBody>
      </p:sp>
    </p:spTree>
    <p:extLst>
      <p:ext uri="{BB962C8B-B14F-4D97-AF65-F5344CB8AC3E}">
        <p14:creationId xmlns:p14="http://schemas.microsoft.com/office/powerpoint/2010/main" val="286414926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TotalTime>
  <Words>3143</Words>
  <Application>Microsoft Office PowerPoint</Application>
  <PresentationFormat>寬螢幕</PresentationFormat>
  <Paragraphs>237</Paragraphs>
  <Slides>15</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微軟正黑體</vt:lpstr>
      <vt:lpstr>新細明體</vt:lpstr>
      <vt:lpstr>Arial</vt:lpstr>
      <vt:lpstr>Calibri</vt:lpstr>
      <vt:lpstr>Calibri Light</vt:lpstr>
      <vt:lpstr>Cambria Math</vt:lpstr>
      <vt:lpstr>Office 佈景主題</vt:lpstr>
      <vt:lpstr>Blockchain-Based Decentralized Frequency Control of Microgrids Using Federated Learning Fractional-Order Recurrent Neural Network</vt:lpstr>
      <vt:lpstr>Introduction</vt:lpstr>
      <vt:lpstr>Related Works</vt:lpstr>
      <vt:lpstr>FORNN &amp; Federated Learning</vt:lpstr>
      <vt:lpstr>Contribution</vt:lpstr>
      <vt:lpstr>Framework</vt:lpstr>
      <vt:lpstr>POA-Based Private Blockchain</vt:lpstr>
      <vt:lpstr>Implementation of SCPM</vt:lpstr>
      <vt:lpstr>Smart Contract Participation Matrix(SCPM)</vt:lpstr>
      <vt:lpstr>SCPM Instance</vt:lpstr>
      <vt:lpstr>Experimental Setups</vt:lpstr>
      <vt:lpstr>Experimental Results</vt:lpstr>
      <vt:lpstr>Experimental Results</vt:lpstr>
      <vt:lpstr>Conclusion</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Decentralized Frequency Control of Microgrids Using Federated Learning Fractional-Order Recurrent Neural Network</dc:title>
  <dc:creator>Jiang</dc:creator>
  <cp:lastModifiedBy>Jiang</cp:lastModifiedBy>
  <cp:revision>34</cp:revision>
  <dcterms:created xsi:type="dcterms:W3CDTF">2024-05-13T04:11:10Z</dcterms:created>
  <dcterms:modified xsi:type="dcterms:W3CDTF">2024-05-13T15:22:40Z</dcterms:modified>
</cp:coreProperties>
</file>