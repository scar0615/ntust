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28"/>
  </p:notesMasterIdLst>
  <p:sldIdLst>
    <p:sldId id="256" r:id="rId2"/>
    <p:sldId id="257" r:id="rId3"/>
    <p:sldId id="268" r:id="rId4"/>
    <p:sldId id="258" r:id="rId5"/>
    <p:sldId id="269" r:id="rId6"/>
    <p:sldId id="259" r:id="rId7"/>
    <p:sldId id="260" r:id="rId8"/>
    <p:sldId id="266" r:id="rId9"/>
    <p:sldId id="261" r:id="rId10"/>
    <p:sldId id="262" r:id="rId11"/>
    <p:sldId id="263" r:id="rId12"/>
    <p:sldId id="264" r:id="rId13"/>
    <p:sldId id="270" r:id="rId14"/>
    <p:sldId id="265" r:id="rId15"/>
    <p:sldId id="272" r:id="rId16"/>
    <p:sldId id="280" r:id="rId17"/>
    <p:sldId id="281" r:id="rId18"/>
    <p:sldId id="282" r:id="rId19"/>
    <p:sldId id="283" r:id="rId20"/>
    <p:sldId id="275" r:id="rId21"/>
    <p:sldId id="284" r:id="rId22"/>
    <p:sldId id="276" r:id="rId23"/>
    <p:sldId id="279" r:id="rId24"/>
    <p:sldId id="271" r:id="rId25"/>
    <p:sldId id="277" r:id="rId26"/>
    <p:sldId id="278"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E7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00"/>
    <p:restoredTop sz="80827" autoAdjust="0"/>
  </p:normalViewPr>
  <p:slideViewPr>
    <p:cSldViewPr snapToGrid="0">
      <p:cViewPr varScale="1">
        <p:scale>
          <a:sx n="102" d="100"/>
          <a:sy n="102" d="100"/>
        </p:scale>
        <p:origin x="140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4B400F-AFE0-44A6-85FB-DC68D00C4BB4}" type="datetimeFigureOut">
              <a:rPr lang="zh-TW" altLang="en-US" smtClean="0"/>
              <a:t>2023/12/9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3C06FB-4978-463D-9A6C-818618CB0231}" type="slidenum">
              <a:rPr lang="zh-TW" altLang="en-US" smtClean="0"/>
              <a:t>‹#›</a:t>
            </a:fld>
            <a:endParaRPr lang="zh-TW" altLang="en-US"/>
          </a:p>
        </p:txBody>
      </p:sp>
    </p:spTree>
    <p:extLst>
      <p:ext uri="{BB962C8B-B14F-4D97-AF65-F5344CB8AC3E}">
        <p14:creationId xmlns:p14="http://schemas.microsoft.com/office/powerpoint/2010/main" val="4043924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深度神經網路集成</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多個深度神經網路的結合來提高泛化能力和魯棒性</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優勢：故障獨立，集成多樣性 劣勢：佔用空間和時間消耗</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提出了一種分層的深度集成剪枝框架，</a:t>
            </a:r>
            <a:r>
              <a:rPr lang="en-US" altLang="zh-TW" sz="1200" b="0" i="0" kern="1200" dirty="0">
                <a:solidFill>
                  <a:schemeClr val="tx1"/>
                </a:solidFill>
                <a:effectLst/>
                <a:latin typeface="+mn-lt"/>
                <a:ea typeface="+mn-ea"/>
                <a:cs typeface="+mn-cs"/>
              </a:rPr>
              <a:t>HQ</a:t>
            </a:r>
            <a:r>
              <a:rPr lang="zh-TW" altLang="en-US" sz="1200" b="0" i="0" kern="1200" dirty="0">
                <a:solidFill>
                  <a:schemeClr val="tx1"/>
                </a:solidFill>
                <a:effectLst/>
                <a:latin typeface="+mn-lt"/>
                <a:ea typeface="+mn-ea"/>
                <a:cs typeface="+mn-cs"/>
              </a:rPr>
              <a:t>，利用增強的焦點多樣性指標來識別規模小而且高度多樣的深度集成</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結合了三種新的集成選擇技術</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焦點多樣性指標、分層剪枝、多元化共識投票</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3</a:t>
            </a:fld>
            <a:endParaRPr lang="zh-TW" altLang="en-US"/>
          </a:p>
        </p:txBody>
      </p:sp>
    </p:spTree>
    <p:extLst>
      <p:ext uri="{BB962C8B-B14F-4D97-AF65-F5344CB8AC3E}">
        <p14:creationId xmlns:p14="http://schemas.microsoft.com/office/powerpoint/2010/main" val="38268148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考慮一個由</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個個別成員模型</a:t>
            </a:r>
            <a:endParaRPr lang="en-US" altLang="zh-TW" sz="1200" b="0" i="0" kern="1200" dirty="0">
              <a:solidFill>
                <a:schemeClr val="tx1"/>
              </a:solidFill>
              <a:effectLst/>
              <a:latin typeface="+mn-lt"/>
              <a:ea typeface="+mn-ea"/>
              <a:cs typeface="+mn-cs"/>
            </a:endParaRPr>
          </a:p>
          <a:p>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表示由給定的</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個個別模型的任何適當子集組成的大小為</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的所有候選深度集成的集合</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當</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很大時，對</a:t>
            </a:r>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中穷舉搜索不可行，所以需剪枝來自</a:t>
            </a:r>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的重複或低多樣性候選集成</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5</a:t>
            </a:fld>
            <a:endParaRPr lang="zh-TW" altLang="en-US"/>
          </a:p>
        </p:txBody>
      </p:sp>
    </p:spTree>
    <p:extLst>
      <p:ext uri="{BB962C8B-B14F-4D97-AF65-F5344CB8AC3E}">
        <p14:creationId xmlns:p14="http://schemas.microsoft.com/office/powerpoint/2010/main" val="2438315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表</a:t>
            </a:r>
            <a:r>
              <a:rPr lang="en-US" altLang="zh-TW" sz="1200" b="0" i="0" kern="1200" dirty="0">
                <a:solidFill>
                  <a:schemeClr val="tx1"/>
                </a:solidFill>
                <a:effectLst/>
                <a:latin typeface="+mn-lt"/>
                <a:ea typeface="+mn-ea"/>
                <a:cs typeface="+mn-cs"/>
              </a:rPr>
              <a:t>I</a:t>
            </a:r>
            <a:r>
              <a:rPr lang="zh-TW" altLang="en-US" sz="1200" b="0" i="0" kern="1200" dirty="0">
                <a:solidFill>
                  <a:schemeClr val="tx1"/>
                </a:solidFill>
                <a:effectLst/>
                <a:latin typeface="+mn-lt"/>
                <a:ea typeface="+mn-ea"/>
                <a:cs typeface="+mn-cs"/>
              </a:rPr>
              <a:t>列舉了分別針對</a:t>
            </a:r>
            <a:r>
              <a:rPr lang="en-US" altLang="zh-TW" sz="1200" b="0" i="0" kern="1200" dirty="0">
                <a:solidFill>
                  <a:schemeClr val="tx1"/>
                </a:solidFill>
                <a:effectLst/>
                <a:latin typeface="+mn-lt"/>
                <a:ea typeface="+mn-ea"/>
                <a:cs typeface="+mn-cs"/>
              </a:rPr>
              <a:t>CIFAR-10</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ImageNet</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5</a:t>
            </a:r>
            <a:r>
              <a:rPr lang="zh-TW" altLang="en-US" sz="1200" b="0" i="0" kern="1200" dirty="0">
                <a:solidFill>
                  <a:schemeClr val="tx1"/>
                </a:solidFill>
                <a:effectLst/>
                <a:latin typeface="+mn-lt"/>
                <a:ea typeface="+mn-ea"/>
                <a:cs typeface="+mn-cs"/>
              </a:rPr>
              <a:t>個示例深度集成</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與</a:t>
            </a:r>
            <a:r>
              <a:rPr lang="en-US" altLang="zh-TW" sz="1200" b="0" i="0" kern="1200" dirty="0">
                <a:solidFill>
                  <a:schemeClr val="tx1"/>
                </a:solidFill>
                <a:effectLst/>
                <a:latin typeface="+mn-lt"/>
                <a:ea typeface="+mn-ea"/>
                <a:cs typeface="+mn-cs"/>
              </a:rPr>
              <a:t>10</a:t>
            </a:r>
            <a:r>
              <a:rPr lang="zh-TW" altLang="en-US" sz="1200" b="0" i="0" kern="1200" dirty="0">
                <a:solidFill>
                  <a:schemeClr val="tx1"/>
                </a:solidFill>
                <a:effectLst/>
                <a:latin typeface="+mn-lt"/>
                <a:ea typeface="+mn-ea"/>
                <a:cs typeface="+mn-cs"/>
              </a:rPr>
              <a:t>個模型集成團隊相比，我們分層剪枝方法推薦的四個深度集成更小，包含</a:t>
            </a:r>
            <a:r>
              <a:rPr lang="en-US" altLang="zh-TW" sz="1200" b="0" i="0" kern="1200" dirty="0">
                <a:solidFill>
                  <a:schemeClr val="tx1"/>
                </a:solidFill>
                <a:effectLst/>
                <a:latin typeface="+mn-lt"/>
                <a:ea typeface="+mn-ea"/>
                <a:cs typeface="+mn-cs"/>
              </a:rPr>
              <a:t>3</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4</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5</a:t>
            </a:r>
            <a:r>
              <a:rPr lang="zh-TW" altLang="en-US" sz="1200" b="0" i="0" kern="1200" dirty="0">
                <a:solidFill>
                  <a:schemeClr val="tx1"/>
                </a:solidFill>
                <a:effectLst/>
                <a:latin typeface="+mn-lt"/>
                <a:ea typeface="+mn-ea"/>
                <a:cs typeface="+mn-cs"/>
              </a:rPr>
              <a:t>個個別成員模型，同時提供比給定的包含</a:t>
            </a:r>
            <a:r>
              <a:rPr lang="en-US" altLang="zh-TW" sz="1200" b="0" i="0" kern="1200" dirty="0">
                <a:solidFill>
                  <a:schemeClr val="tx1"/>
                </a:solidFill>
                <a:effectLst/>
                <a:latin typeface="+mn-lt"/>
                <a:ea typeface="+mn-ea"/>
                <a:cs typeface="+mn-cs"/>
              </a:rPr>
              <a:t>10</a:t>
            </a:r>
            <a:r>
              <a:rPr lang="zh-TW" altLang="en-US" sz="1200" b="0" i="0" kern="1200" dirty="0">
                <a:solidFill>
                  <a:schemeClr val="tx1"/>
                </a:solidFill>
                <a:effectLst/>
                <a:latin typeface="+mn-lt"/>
                <a:ea typeface="+mn-ea"/>
                <a:cs typeface="+mn-cs"/>
              </a:rPr>
              <a:t>個模型的整個深度集成更好的集成準確性。</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成本計算方式是</a:t>
            </a:r>
            <a:r>
              <a:rPr lang="en-US" altLang="zh-TW" sz="1200" b="0" i="0" kern="1200" dirty="0">
                <a:solidFill>
                  <a:schemeClr val="tx1"/>
                </a:solidFill>
                <a:effectLst/>
                <a:latin typeface="+mn-lt"/>
                <a:ea typeface="+mn-ea"/>
                <a:cs typeface="+mn-cs"/>
              </a:rPr>
              <a:t>size/M</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6</a:t>
            </a:fld>
            <a:endParaRPr lang="zh-TW" altLang="en-US"/>
          </a:p>
        </p:txBody>
      </p:sp>
    </p:spTree>
    <p:extLst>
      <p:ext uri="{BB962C8B-B14F-4D97-AF65-F5344CB8AC3E}">
        <p14:creationId xmlns:p14="http://schemas.microsoft.com/office/powerpoint/2010/main" val="2742109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表</a:t>
            </a:r>
            <a:r>
              <a:rPr lang="en-US" altLang="zh-TW" sz="1200" b="0" i="0" kern="1200" dirty="0">
                <a:solidFill>
                  <a:schemeClr val="tx1"/>
                </a:solidFill>
                <a:effectLst/>
                <a:latin typeface="+mn-lt"/>
                <a:ea typeface="+mn-ea"/>
                <a:cs typeface="+mn-cs"/>
              </a:rPr>
              <a:t>II</a:t>
            </a:r>
            <a:r>
              <a:rPr lang="zh-TW" altLang="en-US" sz="1200" b="0" i="0" kern="1200" dirty="0">
                <a:solidFill>
                  <a:schemeClr val="tx1"/>
                </a:solidFill>
                <a:effectLst/>
                <a:latin typeface="+mn-lt"/>
                <a:ea typeface="+mn-ea"/>
                <a:cs typeface="+mn-cs"/>
              </a:rPr>
              <a:t>中所給的每個數據集的</a:t>
            </a:r>
            <a:r>
              <a:rPr lang="en-US" altLang="zh-TW" sz="1200" b="0" i="0" kern="1200" dirty="0">
                <a:solidFill>
                  <a:schemeClr val="tx1"/>
                </a:solidFill>
                <a:effectLst/>
                <a:latin typeface="+mn-lt"/>
                <a:ea typeface="+mn-ea"/>
                <a:cs typeface="+mn-cs"/>
              </a:rPr>
              <a:t>10</a:t>
            </a:r>
            <a:r>
              <a:rPr lang="zh-TW" altLang="en-US" sz="1200" b="0" i="0" kern="1200" dirty="0">
                <a:solidFill>
                  <a:schemeClr val="tx1"/>
                </a:solidFill>
                <a:effectLst/>
                <a:latin typeface="+mn-lt"/>
                <a:ea typeface="+mn-ea"/>
                <a:cs typeface="+mn-cs"/>
              </a:rPr>
              <a:t>個預訓練模型</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7</a:t>
            </a:fld>
            <a:endParaRPr lang="zh-TW" altLang="en-US"/>
          </a:p>
        </p:txBody>
      </p:sp>
    </p:spTree>
    <p:extLst>
      <p:ext uri="{BB962C8B-B14F-4D97-AF65-F5344CB8AC3E}">
        <p14:creationId xmlns:p14="http://schemas.microsoft.com/office/powerpoint/2010/main" val="1689858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一些評估方法用於深度集成來提高</a:t>
            </a:r>
            <a:r>
              <a:rPr lang="en-US" altLang="zh-TW" sz="1200" b="0" i="0" kern="1200" dirty="0">
                <a:solidFill>
                  <a:schemeClr val="tx1"/>
                </a:solidFill>
                <a:effectLst/>
                <a:latin typeface="+mn-lt"/>
                <a:ea typeface="+mn-ea"/>
                <a:cs typeface="+mn-cs"/>
              </a:rPr>
              <a:t>DNN</a:t>
            </a:r>
            <a:r>
              <a:rPr lang="zh-TW" altLang="en-US" sz="1200" b="0" i="0" kern="1200" dirty="0">
                <a:solidFill>
                  <a:schemeClr val="tx1"/>
                </a:solidFill>
                <a:effectLst/>
                <a:latin typeface="+mn-lt"/>
                <a:ea typeface="+mn-ea"/>
                <a:cs typeface="+mn-cs"/>
              </a:rPr>
              <a:t>模型對抗對抗樣本的魯棒性</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Cohen’s Kappa (CK)</a:t>
            </a:r>
            <a:r>
              <a:rPr lang="zh-TW" altLang="en-US" sz="1200" b="0" i="0" kern="1200" dirty="0">
                <a:solidFill>
                  <a:schemeClr val="tx1"/>
                </a:solidFill>
                <a:effectLst/>
                <a:latin typeface="+mn-lt"/>
                <a:ea typeface="+mn-ea"/>
                <a:cs typeface="+mn-cs"/>
              </a:rPr>
              <a:t>、二元不一致 </a:t>
            </a:r>
            <a:r>
              <a:rPr lang="en-US" altLang="zh-TW" sz="1200" b="0" i="0" kern="1200" dirty="0">
                <a:solidFill>
                  <a:schemeClr val="tx1"/>
                </a:solidFill>
                <a:effectLst/>
                <a:latin typeface="+mn-lt"/>
                <a:ea typeface="+mn-ea"/>
                <a:cs typeface="+mn-cs"/>
              </a:rPr>
              <a:t>(BD)</a:t>
            </a:r>
            <a:r>
              <a:rPr lang="zh-TW" altLang="en-US" sz="1200" b="0" i="0" kern="1200" dirty="0">
                <a:solidFill>
                  <a:schemeClr val="tx1"/>
                </a:solidFill>
                <a:effectLst/>
                <a:latin typeface="+mn-lt"/>
                <a:ea typeface="+mn-ea"/>
                <a:cs typeface="+mn-cs"/>
              </a:rPr>
              <a:t>、</a:t>
            </a:r>
            <a:r>
              <a:rPr lang="en-US" altLang="zh-TW" sz="1200" b="0" i="0" kern="1200" dirty="0" err="1">
                <a:solidFill>
                  <a:schemeClr val="tx1"/>
                </a:solidFill>
                <a:effectLst/>
                <a:latin typeface="+mn-lt"/>
                <a:ea typeface="+mn-ea"/>
                <a:cs typeface="+mn-cs"/>
              </a:rPr>
              <a:t>Kohavi-Wolpert</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變異數 </a:t>
            </a:r>
            <a:r>
              <a:rPr lang="en-US" altLang="zh-TW" sz="1200" b="0" i="0" kern="1200" dirty="0">
                <a:solidFill>
                  <a:schemeClr val="tx1"/>
                </a:solidFill>
                <a:effectLst/>
                <a:latin typeface="+mn-lt"/>
                <a:ea typeface="+mn-ea"/>
                <a:cs typeface="+mn-cs"/>
              </a:rPr>
              <a:t>(KW)</a:t>
            </a:r>
            <a:r>
              <a:rPr lang="zh-TW" altLang="en-US" sz="1200" b="0" i="0" kern="1200" dirty="0">
                <a:solidFill>
                  <a:schemeClr val="tx1"/>
                </a:solidFill>
                <a:effectLst/>
                <a:latin typeface="+mn-lt"/>
                <a:ea typeface="+mn-ea"/>
                <a:cs typeface="+mn-cs"/>
              </a:rPr>
              <a:t>、廣義多樣性 </a:t>
            </a:r>
            <a:r>
              <a:rPr lang="en-US" altLang="zh-TW" sz="1200" b="0" i="0" kern="1200" dirty="0">
                <a:solidFill>
                  <a:schemeClr val="tx1"/>
                </a:solidFill>
                <a:effectLst/>
                <a:latin typeface="+mn-lt"/>
                <a:ea typeface="+mn-ea"/>
                <a:cs typeface="+mn-cs"/>
              </a:rPr>
              <a:t>(GD)</a:t>
            </a:r>
          </a:p>
          <a:p>
            <a:r>
              <a:rPr lang="zh-TW" altLang="en-US" sz="1200" b="0" i="0" kern="1200" dirty="0">
                <a:solidFill>
                  <a:schemeClr val="tx1"/>
                </a:solidFill>
                <a:effectLst/>
                <a:latin typeface="+mn-lt"/>
                <a:ea typeface="+mn-ea"/>
                <a:cs typeface="+mn-cs"/>
              </a:rPr>
              <a:t>多樣性度量都是最初為比較集成而不是選擇集成而設計的</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8</a:t>
            </a:fld>
            <a:endParaRPr lang="zh-TW" altLang="en-US"/>
          </a:p>
        </p:txBody>
      </p:sp>
    </p:spTree>
    <p:extLst>
      <p:ext uri="{BB962C8B-B14F-4D97-AF65-F5344CB8AC3E}">
        <p14:creationId xmlns:p14="http://schemas.microsoft.com/office/powerpoint/2010/main" val="3509750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基線方法可以分為三個步驟的：</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1</a:t>
            </a:r>
            <a:r>
              <a:rPr lang="zh-TW" altLang="en-US" sz="1200" b="0" i="0" kern="1200" dirty="0">
                <a:solidFill>
                  <a:schemeClr val="tx1"/>
                </a:solidFill>
                <a:effectLst/>
                <a:latin typeface="+mn-lt"/>
                <a:ea typeface="+mn-ea"/>
                <a:cs typeface="+mn-cs"/>
              </a:rPr>
              <a:t>）對</a:t>
            </a:r>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中的每個可能的候選深度集成，我們使用</a:t>
            </a:r>
            <a:r>
              <a:rPr lang="en-US" altLang="zh-TW" sz="1200" b="0" i="0" kern="1200" dirty="0">
                <a:solidFill>
                  <a:schemeClr val="tx1"/>
                </a:solidFill>
                <a:effectLst/>
                <a:latin typeface="+mn-lt"/>
                <a:ea typeface="+mn-ea"/>
                <a:cs typeface="+mn-cs"/>
              </a:rPr>
              <a:t>CK</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BD</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KW</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等計算集成多樣性分數</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）計算平均多樣性閾值</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3</a:t>
            </a:r>
            <a:r>
              <a:rPr lang="zh-TW" altLang="en-US" sz="1200" b="0" i="0" kern="1200" dirty="0">
                <a:solidFill>
                  <a:schemeClr val="tx1"/>
                </a:solidFill>
                <a:effectLst/>
                <a:latin typeface="+mn-lt"/>
                <a:ea typeface="+mn-ea"/>
                <a:cs typeface="+mn-cs"/>
              </a:rPr>
              <a:t>）選擇那些在</a:t>
            </a:r>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中其多樣性分數低於閾值（高集成多樣性）的集成</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根據四個指標評估每個深度集成剪枝算法的性能</a:t>
            </a:r>
            <a:r>
              <a:rPr lang="en-US" altLang="zh-TW" sz="1200" b="0" i="0" kern="1200" dirty="0">
                <a:solidFill>
                  <a:schemeClr val="tx1"/>
                </a:solidFill>
                <a:effectLst/>
                <a:latin typeface="+mn-lt"/>
                <a:ea typeface="+mn-ea"/>
                <a:cs typeface="+mn-cs"/>
              </a:rPr>
              <a:t>:</a:t>
            </a:r>
          </a:p>
          <a:p>
            <a:pPr marL="228600" indent="-228600">
              <a:buFont typeface="+mj-lt"/>
              <a:buAutoNum type="arabicParenR"/>
            </a:pPr>
            <a:r>
              <a:rPr lang="zh-TW" altLang="en-US" sz="1200" b="0" i="0" kern="1200" dirty="0">
                <a:solidFill>
                  <a:schemeClr val="tx1"/>
                </a:solidFill>
                <a:effectLst/>
                <a:latin typeface="+mn-lt"/>
                <a:ea typeface="+mn-ea"/>
                <a:cs typeface="+mn-cs"/>
              </a:rPr>
              <a:t>選擇在</a:t>
            </a:r>
            <a:r>
              <a:rPr lang="en-US" altLang="zh-TW" sz="1200" b="0" i="0" kern="1200" dirty="0" err="1">
                <a:solidFill>
                  <a:schemeClr val="tx1"/>
                </a:solidFill>
                <a:effectLst/>
                <a:latin typeface="+mn-lt"/>
                <a:ea typeface="+mn-ea"/>
                <a:cs typeface="+mn-cs"/>
              </a:rPr>
              <a:t>GEnsSet</a:t>
            </a:r>
            <a:r>
              <a:rPr lang="zh-TW" altLang="en-US" sz="1200" b="0" i="0" kern="1200" dirty="0">
                <a:solidFill>
                  <a:schemeClr val="tx1"/>
                </a:solidFill>
                <a:effectLst/>
                <a:latin typeface="+mn-lt"/>
                <a:ea typeface="+mn-ea"/>
                <a:cs typeface="+mn-cs"/>
              </a:rPr>
              <a:t>中的深度集成的集成準確性範圍；</a:t>
            </a:r>
          </a:p>
          <a:p>
            <a:pPr marL="228600" indent="-228600">
              <a:buFont typeface="+mj-lt"/>
              <a:buAutoNum type="arabicParenR"/>
            </a:pPr>
            <a:r>
              <a:rPr lang="zh-TW" altLang="en-US" sz="1200" b="0" i="0" kern="1200" dirty="0">
                <a:solidFill>
                  <a:schemeClr val="tx1"/>
                </a:solidFill>
                <a:effectLst/>
                <a:latin typeface="+mn-lt"/>
                <a:ea typeface="+mn-ea"/>
                <a:cs typeface="+mn-cs"/>
              </a:rPr>
              <a:t>精度，通過選擇的集成中，其集成準確性等於或高於給定整個集成的準確性的集成數量與所有選擇的集成總數的比率；</a:t>
            </a:r>
          </a:p>
          <a:p>
            <a:pPr marL="228600" indent="-228600">
              <a:buFont typeface="+mj-lt"/>
              <a:buAutoNum type="arabicParenR"/>
            </a:pPr>
            <a:r>
              <a:rPr lang="zh-TW" altLang="en-US" sz="1200" b="0" i="0" kern="1200" dirty="0">
                <a:solidFill>
                  <a:schemeClr val="tx1"/>
                </a:solidFill>
                <a:effectLst/>
                <a:latin typeface="+mn-lt"/>
                <a:ea typeface="+mn-ea"/>
                <a:cs typeface="+mn-cs"/>
              </a:rPr>
              <a:t>召回率，通過在</a:t>
            </a:r>
            <a:r>
              <a:rPr lang="en-US" altLang="zh-TW" sz="1200" b="0" i="0" kern="1200" dirty="0" err="1">
                <a:solidFill>
                  <a:schemeClr val="tx1"/>
                </a:solidFill>
                <a:effectLst/>
                <a:latin typeface="+mn-lt"/>
                <a:ea typeface="+mn-ea"/>
                <a:cs typeface="+mn-cs"/>
              </a:rPr>
              <a:t>GEnsSet</a:t>
            </a:r>
            <a:r>
              <a:rPr lang="zh-TW" altLang="en-US" sz="1200" b="0" i="0" kern="1200" dirty="0">
                <a:solidFill>
                  <a:schemeClr val="tx1"/>
                </a:solidFill>
                <a:effectLst/>
                <a:latin typeface="+mn-lt"/>
                <a:ea typeface="+mn-ea"/>
                <a:cs typeface="+mn-cs"/>
              </a:rPr>
              <a:t>中選擇的集成數量與</a:t>
            </a:r>
            <a:r>
              <a:rPr lang="en-US" altLang="zh-TW" sz="1200" b="0" i="0" kern="1200" dirty="0" err="1">
                <a:solidFill>
                  <a:schemeClr val="tx1"/>
                </a:solidFill>
                <a:effectLst/>
                <a:latin typeface="+mn-lt"/>
                <a:ea typeface="+mn-ea"/>
                <a:cs typeface="+mn-cs"/>
              </a:rPr>
              <a:t>EnsSet</a:t>
            </a:r>
            <a:r>
              <a:rPr lang="zh-TW" altLang="en-US" sz="1200" b="0" i="0" kern="1200" dirty="0">
                <a:solidFill>
                  <a:schemeClr val="tx1"/>
                </a:solidFill>
                <a:effectLst/>
                <a:latin typeface="+mn-lt"/>
                <a:ea typeface="+mn-ea"/>
                <a:cs typeface="+mn-cs"/>
              </a:rPr>
              <a:t>中所有候選集成的總數的比率來衡量，這些集成的集成準確性等於或高於整個集成的目標準確性；</a:t>
            </a:r>
          </a:p>
          <a:p>
            <a:pPr marL="228600" indent="-228600">
              <a:buFont typeface="+mj-lt"/>
              <a:buAutoNum type="arabicParenR"/>
            </a:pPr>
            <a:r>
              <a:rPr lang="zh-TW" altLang="en-US" sz="1200" b="0" i="0" kern="1200" dirty="0">
                <a:solidFill>
                  <a:schemeClr val="tx1"/>
                </a:solidFill>
                <a:effectLst/>
                <a:latin typeface="+mn-lt"/>
                <a:ea typeface="+mn-ea"/>
                <a:cs typeface="+mn-cs"/>
              </a:rPr>
              <a:t>成本，通過對整個集成大小</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減去選擇的集成大小的減少來衡量。</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9</a:t>
            </a:fld>
            <a:endParaRPr lang="zh-TW" altLang="en-US"/>
          </a:p>
        </p:txBody>
      </p:sp>
    </p:spTree>
    <p:extLst>
      <p:ext uri="{BB962C8B-B14F-4D97-AF65-F5344CB8AC3E}">
        <p14:creationId xmlns:p14="http://schemas.microsoft.com/office/powerpoint/2010/main" val="42597960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圖</a:t>
            </a:r>
            <a:r>
              <a:rPr lang="en-US" altLang="zh-TW" sz="1200" b="0" i="0" kern="1200" dirty="0">
                <a:solidFill>
                  <a:schemeClr val="tx1"/>
                </a:solidFill>
                <a:effectLst/>
                <a:latin typeface="+mn-lt"/>
                <a:ea typeface="+mn-ea"/>
                <a:cs typeface="+mn-cs"/>
              </a:rPr>
              <a:t>1a</a:t>
            </a:r>
            <a:r>
              <a:rPr lang="zh-TW" altLang="en-US" sz="1200" b="0" i="0" kern="1200" dirty="0">
                <a:solidFill>
                  <a:schemeClr val="tx1"/>
                </a:solidFill>
                <a:effectLst/>
                <a:latin typeface="+mn-lt"/>
                <a:ea typeface="+mn-ea"/>
                <a:cs typeface="+mn-cs"/>
              </a:rPr>
              <a:t>顯示了單純</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分數與所有</a:t>
            </a:r>
            <a:r>
              <a:rPr lang="en-US" altLang="zh-TW" sz="1200" b="0" i="0" kern="1200" dirty="0">
                <a:solidFill>
                  <a:schemeClr val="tx1"/>
                </a:solidFill>
                <a:effectLst/>
                <a:latin typeface="+mn-lt"/>
                <a:ea typeface="+mn-ea"/>
                <a:cs typeface="+mn-cs"/>
              </a:rPr>
              <a:t>1013</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1012 + 1</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CIFAR-10</a:t>
            </a:r>
            <a:r>
              <a:rPr lang="zh-TW" altLang="en-US" sz="1200" b="0" i="0" kern="1200" dirty="0">
                <a:solidFill>
                  <a:schemeClr val="tx1"/>
                </a:solidFill>
                <a:effectLst/>
                <a:latin typeface="+mn-lt"/>
                <a:ea typeface="+mn-ea"/>
                <a:cs typeface="+mn-cs"/>
              </a:rPr>
              <a:t>上的深度集成的集成準確性之間的關係，包括整個深度集成。</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每個點代表一個深度集成團隊，隊伍大小由右側的顏色圖進行了顏色編碼。垂直的紅色虛線代表</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均值閾值為</a:t>
            </a:r>
            <a:r>
              <a:rPr lang="en-US" altLang="zh-TW" sz="1200" b="0" i="0" kern="1200" dirty="0">
                <a:solidFill>
                  <a:schemeClr val="tx1"/>
                </a:solidFill>
                <a:effectLst/>
                <a:latin typeface="+mn-lt"/>
                <a:ea typeface="+mn-ea"/>
                <a:cs typeface="+mn-cs"/>
              </a:rPr>
              <a:t>0.476</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在垂直的紅色線左側的那些深度集成將被基線</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多樣性剪枝選中。</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水平的黑色虛線表示整個深度集成的集成準確性為</a:t>
            </a:r>
            <a:r>
              <a:rPr lang="en-US" altLang="zh-TW" sz="1200" b="0" i="0" kern="1200" dirty="0">
                <a:solidFill>
                  <a:schemeClr val="tx1"/>
                </a:solidFill>
                <a:effectLst/>
                <a:latin typeface="+mn-lt"/>
                <a:ea typeface="+mn-ea"/>
                <a:cs typeface="+mn-cs"/>
              </a:rPr>
              <a:t>96.33%</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M = 10</a:t>
            </a:r>
            <a:r>
              <a:rPr lang="zh-TW" altLang="en-US" sz="1200" b="0" i="0" kern="1200" dirty="0">
                <a:solidFill>
                  <a:schemeClr val="tx1"/>
                </a:solidFill>
                <a:effectLst/>
                <a:latin typeface="+mn-lt"/>
                <a:ea typeface="+mn-ea"/>
                <a:cs typeface="+mn-cs"/>
              </a:rPr>
              <a:t>的給定整個深度集成在這條水平線上用黑色圓圈標記。</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10</a:t>
            </a:fld>
            <a:endParaRPr lang="zh-TW" altLang="en-US"/>
          </a:p>
        </p:txBody>
      </p:sp>
    </p:spTree>
    <p:extLst>
      <p:ext uri="{BB962C8B-B14F-4D97-AF65-F5344CB8AC3E}">
        <p14:creationId xmlns:p14="http://schemas.microsoft.com/office/powerpoint/2010/main" val="438536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在表</a:t>
            </a:r>
            <a:r>
              <a:rPr lang="en-US" altLang="zh-TW" sz="1200" b="0" i="0" kern="1200" dirty="0">
                <a:solidFill>
                  <a:schemeClr val="tx1"/>
                </a:solidFill>
                <a:effectLst/>
                <a:latin typeface="+mn-lt"/>
                <a:ea typeface="+mn-ea"/>
                <a:cs typeface="+mn-cs"/>
              </a:rPr>
              <a:t>III</a:t>
            </a:r>
            <a:r>
              <a:rPr lang="zh-TW" altLang="en-US" sz="1200" b="0" i="0" kern="1200" dirty="0">
                <a:solidFill>
                  <a:schemeClr val="tx1"/>
                </a:solidFill>
                <a:effectLst/>
                <a:latin typeface="+mn-lt"/>
                <a:ea typeface="+mn-ea"/>
                <a:cs typeface="+mn-cs"/>
              </a:rPr>
              <a:t>中，我們展示了基於</a:t>
            </a:r>
            <a:r>
              <a:rPr lang="en-US" altLang="zh-TW" sz="1200" b="0" i="0" kern="1200" dirty="0">
                <a:solidFill>
                  <a:schemeClr val="tx1"/>
                </a:solidFill>
                <a:effectLst/>
                <a:latin typeface="+mn-lt"/>
                <a:ea typeface="+mn-ea"/>
                <a:cs typeface="+mn-cs"/>
              </a:rPr>
              <a:t>BD</a:t>
            </a:r>
            <a:r>
              <a:rPr lang="zh-TW" altLang="en-US" sz="1200" b="0" i="0" kern="1200" dirty="0">
                <a:solidFill>
                  <a:schemeClr val="tx1"/>
                </a:solidFill>
                <a:effectLst/>
                <a:latin typeface="+mn-lt"/>
                <a:ea typeface="+mn-ea"/>
                <a:cs typeface="+mn-cs"/>
              </a:rPr>
              <a:t>的基線剪枝在第</a:t>
            </a:r>
            <a:r>
              <a:rPr lang="en-US" altLang="zh-TW" sz="1200" b="0" i="0" kern="1200" dirty="0">
                <a:solidFill>
                  <a:schemeClr val="tx1"/>
                </a:solidFill>
                <a:effectLst/>
                <a:latin typeface="+mn-lt"/>
                <a:ea typeface="+mn-ea"/>
                <a:cs typeface="+mn-cs"/>
              </a:rPr>
              <a:t>2</a:t>
            </a:r>
            <a:r>
              <a:rPr lang="zh-TW" altLang="en-US" sz="1200" b="0" i="0" kern="1200" dirty="0">
                <a:solidFill>
                  <a:schemeClr val="tx1"/>
                </a:solidFill>
                <a:effectLst/>
                <a:latin typeface="+mn-lt"/>
                <a:ea typeface="+mn-ea"/>
                <a:cs typeface="+mn-cs"/>
              </a:rPr>
              <a:t>列中存在非常低的精度（</a:t>
            </a:r>
            <a:r>
              <a:rPr lang="en-US" altLang="zh-TW" sz="1200" b="0" i="0" kern="1200" dirty="0">
                <a:solidFill>
                  <a:schemeClr val="tx1"/>
                </a:solidFill>
                <a:effectLst/>
                <a:latin typeface="+mn-lt"/>
                <a:ea typeface="+mn-ea"/>
                <a:cs typeface="+mn-cs"/>
              </a:rPr>
              <a:t>6.18%</a:t>
            </a:r>
            <a:r>
              <a:rPr lang="zh-TW" altLang="en-US" sz="1200" b="0" i="0" kern="1200" dirty="0">
                <a:solidFill>
                  <a:schemeClr val="tx1"/>
                </a:solidFill>
                <a:effectLst/>
                <a:latin typeface="+mn-lt"/>
                <a:ea typeface="+mn-ea"/>
                <a:cs typeface="+mn-cs"/>
              </a:rPr>
              <a:t>）和低召回率（</a:t>
            </a:r>
            <a:r>
              <a:rPr lang="en-US" altLang="zh-TW" sz="1200" b="0" i="0" kern="1200" dirty="0">
                <a:solidFill>
                  <a:schemeClr val="tx1"/>
                </a:solidFill>
                <a:effectLst/>
                <a:latin typeface="+mn-lt"/>
                <a:ea typeface="+mn-ea"/>
                <a:cs typeface="+mn-cs"/>
              </a:rPr>
              <a:t>11.72%</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儘管基於</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的基線剪枝精度達到</a:t>
            </a:r>
            <a:r>
              <a:rPr lang="en-US" altLang="zh-TW" sz="1200" b="0" i="0" kern="1200" dirty="0">
                <a:solidFill>
                  <a:schemeClr val="tx1"/>
                </a:solidFill>
                <a:effectLst/>
                <a:latin typeface="+mn-lt"/>
                <a:ea typeface="+mn-ea"/>
                <a:cs typeface="+mn-cs"/>
              </a:rPr>
              <a:t>36.90%</a:t>
            </a:r>
            <a:r>
              <a:rPr lang="zh-TW" altLang="en-US" sz="1200" b="0" i="0" kern="1200" dirty="0">
                <a:solidFill>
                  <a:schemeClr val="tx1"/>
                </a:solidFill>
                <a:effectLst/>
                <a:latin typeface="+mn-lt"/>
                <a:ea typeface="+mn-ea"/>
                <a:cs typeface="+mn-cs"/>
              </a:rPr>
              <a:t>，但仍低於</a:t>
            </a:r>
            <a:r>
              <a:rPr lang="en-US" altLang="zh-TW" sz="1200" b="0" i="0" kern="1200" dirty="0">
                <a:solidFill>
                  <a:schemeClr val="tx1"/>
                </a:solidFill>
                <a:effectLst/>
                <a:latin typeface="+mn-lt"/>
                <a:ea typeface="+mn-ea"/>
                <a:cs typeface="+mn-cs"/>
              </a:rPr>
              <a:t>50%</a:t>
            </a:r>
            <a:r>
              <a:rPr lang="zh-TW" altLang="en-US" sz="1200" b="0" i="0" kern="1200" dirty="0">
                <a:solidFill>
                  <a:schemeClr val="tx1"/>
                </a:solidFill>
                <a:effectLst/>
                <a:latin typeface="+mn-lt"/>
                <a:ea typeface="+mn-ea"/>
                <a:cs typeface="+mn-cs"/>
              </a:rPr>
              <a:t>以上的可接受比率</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此外，兩種基線多樣性剪枝算法都無法確保所有選擇的集成都具有與整個深度集成相同或更好的集成準確度</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dirty="0"/>
              <a:t>TP:</a:t>
            </a:r>
            <a:r>
              <a:rPr lang="zh-TW" altLang="en-US" dirty="0"/>
              <a:t>選擇到的集成中</a:t>
            </a:r>
            <a:r>
              <a:rPr lang="zh-TW" altLang="en-US" sz="1200" b="0" i="0" kern="1200" dirty="0">
                <a:solidFill>
                  <a:schemeClr val="tx1"/>
                </a:solidFill>
                <a:effectLst/>
                <a:latin typeface="+mn-lt"/>
                <a:ea typeface="+mn-ea"/>
                <a:cs typeface="+mn-cs"/>
              </a:rPr>
              <a:t>準確性等於或高於給定整個集成的準確性的集成數量</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TN:</a:t>
            </a:r>
            <a:r>
              <a:rPr lang="zh-TW" altLang="en-US" sz="1200" b="0" i="0" kern="1200" dirty="0">
                <a:solidFill>
                  <a:schemeClr val="tx1"/>
                </a:solidFill>
                <a:effectLst/>
                <a:latin typeface="+mn-lt"/>
                <a:ea typeface="+mn-ea"/>
                <a:cs typeface="+mn-cs"/>
              </a:rPr>
              <a:t>裁</a:t>
            </a:r>
            <a:r>
              <a:rPr lang="zh-TW" altLang="en-US" dirty="0"/>
              <a:t>剪掉的</a:t>
            </a:r>
            <a:r>
              <a:rPr lang="zh-TW" altLang="en-US" sz="1200" b="0" i="0" kern="1200" dirty="0">
                <a:solidFill>
                  <a:schemeClr val="tx1"/>
                </a:solidFill>
                <a:effectLst/>
                <a:latin typeface="+mn-lt"/>
                <a:ea typeface="+mn-ea"/>
                <a:cs typeface="+mn-cs"/>
              </a:rPr>
              <a:t>集成中準確性低於於給定整個集成的準確性的集成數量</a:t>
            </a:r>
            <a:endParaRPr lang="en-US" altLang="zh-TW"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a:t>FP</a:t>
            </a:r>
            <a:r>
              <a:rPr lang="en-US" altLang="zh-TW" sz="1200" b="0" i="0" kern="1200" dirty="0">
                <a:solidFill>
                  <a:schemeClr val="tx1"/>
                </a:solidFill>
                <a:effectLst/>
                <a:latin typeface="+mn-lt"/>
                <a:ea typeface="+mn-ea"/>
                <a:cs typeface="+mn-cs"/>
              </a:rPr>
              <a:t>:</a:t>
            </a:r>
            <a:r>
              <a:rPr lang="zh-TW" altLang="en-US" dirty="0"/>
              <a:t>選擇到的集成中</a:t>
            </a:r>
            <a:r>
              <a:rPr lang="zh-TW" altLang="en-US" sz="1200" b="0" i="0" kern="1200" dirty="0">
                <a:solidFill>
                  <a:schemeClr val="tx1"/>
                </a:solidFill>
                <a:effectLst/>
                <a:latin typeface="+mn-lt"/>
                <a:ea typeface="+mn-ea"/>
                <a:cs typeface="+mn-cs"/>
              </a:rPr>
              <a:t>準確性低於給定整個集成的準確性的集成數量</a:t>
            </a:r>
            <a:endParaRPr lang="en-US" altLang="zh-TW"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FN</a:t>
            </a:r>
            <a:r>
              <a:rPr lang="en-US" altLang="zh-TW" dirty="0"/>
              <a:t>:</a:t>
            </a:r>
            <a:r>
              <a:rPr lang="zh-TW" altLang="en-US" dirty="0"/>
              <a:t>裁剪掉的</a:t>
            </a:r>
            <a:r>
              <a:rPr lang="zh-TW" altLang="en-US" sz="1200" b="0" i="0" kern="1200" dirty="0">
                <a:solidFill>
                  <a:schemeClr val="tx1"/>
                </a:solidFill>
                <a:effectLst/>
                <a:latin typeface="+mn-lt"/>
                <a:ea typeface="+mn-ea"/>
                <a:cs typeface="+mn-cs"/>
              </a:rPr>
              <a:t>集成中準確性等於或高於給定整個集成的準確性的集成數量</a:t>
            </a:r>
            <a:endParaRPr lang="en-US" altLang="zh-TW" sz="1200" b="0" i="0" kern="120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11</a:t>
            </a:fld>
            <a:endParaRPr lang="zh-TW" altLang="en-US"/>
          </a:p>
        </p:txBody>
      </p:sp>
    </p:spTree>
    <p:extLst>
      <p:ext uri="{BB962C8B-B14F-4D97-AF65-F5344CB8AC3E}">
        <p14:creationId xmlns:p14="http://schemas.microsoft.com/office/powerpoint/2010/main" val="2363227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焦點多樣性</a:t>
            </a:r>
            <a:r>
              <a:rPr lang="zh-TW" altLang="en-US" sz="1200" b="0" i="0" kern="1200" dirty="0">
                <a:solidFill>
                  <a:schemeClr val="tx1"/>
                </a:solidFill>
                <a:effectLst/>
                <a:latin typeface="+mn-lt"/>
                <a:ea typeface="+mn-ea"/>
                <a:cs typeface="+mn-cs"/>
              </a:rPr>
              <a:t>概念</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我們的焦點多樣性指標的設計旨在旨在捕捉一個包含</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個模型的集成，針對分類而言基於失敗獨立性的多樣性</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傳統方法從任意一個或多個模型（</a:t>
            </a:r>
            <a:r>
              <a:rPr lang="en-US" altLang="zh-TW" sz="1200" b="0" i="0" kern="1200" dirty="0" err="1">
                <a:solidFill>
                  <a:schemeClr val="tx1"/>
                </a:solidFill>
                <a:effectLst/>
                <a:latin typeface="+mn-lt"/>
                <a:ea typeface="+mn-ea"/>
                <a:cs typeface="+mn-cs"/>
              </a:rPr>
              <a:t>NegSampSet</a:t>
            </a:r>
            <a:r>
              <a:rPr lang="zh-TW" altLang="en-US" sz="1200" b="0" i="0" kern="1200" dirty="0">
                <a:solidFill>
                  <a:schemeClr val="tx1"/>
                </a:solidFill>
                <a:effectLst/>
                <a:latin typeface="+mn-lt"/>
                <a:ea typeface="+mn-ea"/>
                <a:cs typeface="+mn-cs"/>
              </a:rPr>
              <a:t>）中隨機抽取負樣本來評估</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個成員模型的集成，例如單純的多樣性度量</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我們從特定的焦點模型（</a:t>
            </a:r>
            <a:r>
              <a:rPr lang="en-US" altLang="zh-TW" sz="1200" b="0" i="0" kern="1200" dirty="0" err="1">
                <a:solidFill>
                  <a:schemeClr val="tx1"/>
                </a:solidFill>
                <a:effectLst/>
                <a:latin typeface="+mn-lt"/>
                <a:ea typeface="+mn-ea"/>
                <a:cs typeface="+mn-cs"/>
              </a:rPr>
              <a:t>NegSampSet</a:t>
            </a:r>
            <a:r>
              <a:rPr lang="en-US" altLang="zh-TW" sz="1200" b="0" i="0" kern="1200" dirty="0">
                <a:solidFill>
                  <a:schemeClr val="tx1"/>
                </a:solidFill>
                <a:effectLst/>
                <a:latin typeface="+mn-lt"/>
                <a:ea typeface="+mn-ea"/>
                <a:cs typeface="+mn-cs"/>
              </a:rPr>
              <a:t>(</a:t>
            </a:r>
            <a:r>
              <a:rPr lang="en-US" altLang="zh-TW" sz="1200" b="0" i="0" kern="1200" dirty="0" err="1">
                <a:solidFill>
                  <a:schemeClr val="tx1"/>
                </a:solidFill>
                <a:effectLst/>
                <a:latin typeface="+mn-lt"/>
                <a:ea typeface="+mn-ea"/>
                <a:cs typeface="+mn-cs"/>
              </a:rPr>
              <a:t>Ff</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）中隨機選擇負樣本，然後計算基於焦點模型的多樣性分數。</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對於</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個模型的集成，我們將有</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個對應的基於焦點模型的多樣性分數。取平均值將結合最終焦點多樣性分數。</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負樣本</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a:t>
            </a:r>
            <a:r>
              <a:rPr lang="en-US" altLang="zh-TW" sz="1200" b="0" i="0" kern="1200" dirty="0" err="1">
                <a:solidFill>
                  <a:schemeClr val="tx1"/>
                </a:solidFill>
                <a:effectLst/>
                <a:latin typeface="+mn-lt"/>
                <a:ea typeface="+mn-ea"/>
                <a:cs typeface="+mn-cs"/>
              </a:rPr>
              <a:t>NegSampSet</a:t>
            </a:r>
            <a:r>
              <a:rPr lang="zh-TW" altLang="en-US" sz="1200" b="0" i="0" kern="1200" dirty="0">
                <a:solidFill>
                  <a:schemeClr val="tx1"/>
                </a:solidFill>
                <a:effectLst/>
                <a:latin typeface="+mn-lt"/>
                <a:ea typeface="+mn-ea"/>
                <a:cs typeface="+mn-cs"/>
              </a:rPr>
              <a:t>）指的是一組樣本，這些樣本上任一或多個模型進行預測時會出現錯誤。這種設計的目的可能是為了評估深度集成團隊的多樣性，特別是在處理預測錯誤方面。</a:t>
            </a:r>
            <a:endParaRPr lang="en-US" altLang="zh-TW"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13</a:t>
            </a:fld>
            <a:endParaRPr lang="zh-TW" altLang="en-US"/>
          </a:p>
        </p:txBody>
      </p:sp>
    </p:spTree>
    <p:extLst>
      <p:ext uri="{BB962C8B-B14F-4D97-AF65-F5344CB8AC3E}">
        <p14:creationId xmlns:p14="http://schemas.microsoft.com/office/powerpoint/2010/main" val="2386454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圖</a:t>
            </a:r>
            <a:r>
              <a:rPr lang="en-US" altLang="zh-TW" sz="1200" b="0" i="0" kern="1200" dirty="0">
                <a:solidFill>
                  <a:schemeClr val="tx1"/>
                </a:solidFill>
                <a:effectLst/>
                <a:latin typeface="+mn-lt"/>
                <a:ea typeface="+mn-ea"/>
                <a:cs typeface="+mn-cs"/>
              </a:rPr>
              <a:t>1b</a:t>
            </a:r>
            <a:r>
              <a:rPr lang="zh-TW" altLang="en-US" sz="1200" b="0" i="0" kern="1200" dirty="0">
                <a:solidFill>
                  <a:schemeClr val="tx1"/>
                </a:solidFill>
                <a:effectLst/>
                <a:latin typeface="+mn-lt"/>
                <a:ea typeface="+mn-ea"/>
                <a:cs typeface="+mn-cs"/>
              </a:rPr>
              <a:t>展示了使用焦點模型增強的</a:t>
            </a:r>
            <a:r>
              <a:rPr lang="en-US" altLang="zh-TW" sz="1200" b="0" i="0" kern="1200" dirty="0">
                <a:solidFill>
                  <a:schemeClr val="tx1"/>
                </a:solidFill>
                <a:effectLst/>
                <a:latin typeface="+mn-lt"/>
                <a:ea typeface="+mn-ea"/>
                <a:cs typeface="+mn-cs"/>
              </a:rPr>
              <a:t>F-GD</a:t>
            </a:r>
            <a:r>
              <a:rPr lang="zh-TW" altLang="en-US" sz="1200" b="0" i="0" kern="1200" dirty="0">
                <a:solidFill>
                  <a:schemeClr val="tx1"/>
                </a:solidFill>
                <a:effectLst/>
                <a:latin typeface="+mn-lt"/>
                <a:ea typeface="+mn-ea"/>
                <a:cs typeface="+mn-cs"/>
              </a:rPr>
              <a:t>指標與圖</a:t>
            </a:r>
            <a:r>
              <a:rPr lang="en-US" altLang="zh-TW" sz="1200" b="0" i="0" kern="1200" dirty="0">
                <a:solidFill>
                  <a:schemeClr val="tx1"/>
                </a:solidFill>
                <a:effectLst/>
                <a:latin typeface="+mn-lt"/>
                <a:ea typeface="+mn-ea"/>
                <a:cs typeface="+mn-cs"/>
              </a:rPr>
              <a:t>1a</a:t>
            </a:r>
            <a:r>
              <a:rPr lang="zh-TW" altLang="en-US" sz="1200" b="0" i="0" kern="1200" dirty="0">
                <a:solidFill>
                  <a:schemeClr val="tx1"/>
                </a:solidFill>
                <a:effectLst/>
                <a:latin typeface="+mn-lt"/>
                <a:ea typeface="+mn-ea"/>
                <a:cs typeface="+mn-cs"/>
              </a:rPr>
              <a:t>使用單純的</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指標進行比較的可視化結果。</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從視覺上清晰可見，即使使用平均閾值，基於</a:t>
            </a:r>
            <a:r>
              <a:rPr lang="en-US" altLang="zh-TW" sz="1200" b="0" i="0" kern="1200" dirty="0">
                <a:solidFill>
                  <a:schemeClr val="tx1"/>
                </a:solidFill>
                <a:effectLst/>
                <a:latin typeface="+mn-lt"/>
                <a:ea typeface="+mn-ea"/>
                <a:cs typeface="+mn-cs"/>
              </a:rPr>
              <a:t>F-GD</a:t>
            </a:r>
            <a:r>
              <a:rPr lang="zh-TW" altLang="en-US" sz="1200" b="0" i="0" kern="1200" dirty="0">
                <a:solidFill>
                  <a:schemeClr val="tx1"/>
                </a:solidFill>
                <a:effectLst/>
                <a:latin typeface="+mn-lt"/>
                <a:ea typeface="+mn-ea"/>
                <a:cs typeface="+mn-cs"/>
              </a:rPr>
              <a:t>的剪枝在比基於</a:t>
            </a:r>
            <a:r>
              <a:rPr lang="en-US" altLang="zh-TW" sz="1200" b="0" i="0" kern="1200" dirty="0">
                <a:solidFill>
                  <a:schemeClr val="tx1"/>
                </a:solidFill>
                <a:effectLst/>
                <a:latin typeface="+mn-lt"/>
                <a:ea typeface="+mn-ea"/>
                <a:cs typeface="+mn-cs"/>
              </a:rPr>
              <a:t>GD</a:t>
            </a:r>
            <a:r>
              <a:rPr lang="zh-TW" altLang="en-US" sz="1200" b="0" i="0" kern="1200" dirty="0">
                <a:solidFill>
                  <a:schemeClr val="tx1"/>
                </a:solidFill>
                <a:effectLst/>
                <a:latin typeface="+mn-lt"/>
                <a:ea typeface="+mn-ea"/>
                <a:cs typeface="+mn-cs"/>
              </a:rPr>
              <a:t>的基線剪枝更有效，識別出比目標準確度</a:t>
            </a:r>
            <a:r>
              <a:rPr lang="en-US" altLang="zh-TW" sz="1200" b="0" i="0" kern="1200" dirty="0">
                <a:solidFill>
                  <a:schemeClr val="tx1"/>
                </a:solidFill>
                <a:effectLst/>
                <a:latin typeface="+mn-lt"/>
                <a:ea typeface="+mn-ea"/>
                <a:cs typeface="+mn-cs"/>
              </a:rPr>
              <a:t>96.33%</a:t>
            </a:r>
            <a:r>
              <a:rPr lang="zh-TW" altLang="en-US" sz="1200" b="0" i="0" kern="1200" dirty="0">
                <a:solidFill>
                  <a:schemeClr val="tx1"/>
                </a:solidFill>
                <a:effectLst/>
                <a:latin typeface="+mn-lt"/>
                <a:ea typeface="+mn-ea"/>
                <a:cs typeface="+mn-cs"/>
              </a:rPr>
              <a:t>更高的百分比的較小集成。</a:t>
            </a:r>
            <a:endParaRPr lang="zh-TW" altLang="en-US" dirty="0"/>
          </a:p>
        </p:txBody>
      </p:sp>
      <p:sp>
        <p:nvSpPr>
          <p:cNvPr id="4" name="投影片編號版面配置區 3"/>
          <p:cNvSpPr>
            <a:spLocks noGrp="1"/>
          </p:cNvSpPr>
          <p:nvPr>
            <p:ph type="sldNum" sz="quarter" idx="10"/>
          </p:nvPr>
        </p:nvSpPr>
        <p:spPr/>
        <p:txBody>
          <a:bodyPr/>
          <a:lstStyle/>
          <a:p>
            <a:fld id="{9C3C06FB-4978-463D-9A6C-818618CB0231}" type="slidenum">
              <a:rPr lang="zh-TW" altLang="en-US" smtClean="0"/>
              <a:t>14</a:t>
            </a:fld>
            <a:endParaRPr lang="zh-TW" altLang="en-US"/>
          </a:p>
        </p:txBody>
      </p:sp>
    </p:spTree>
    <p:extLst>
      <p:ext uri="{BB962C8B-B14F-4D97-AF65-F5344CB8AC3E}">
        <p14:creationId xmlns:p14="http://schemas.microsoft.com/office/powerpoint/2010/main" val="34868194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為什麼要做</a:t>
            </a:r>
            <a:r>
              <a:rPr lang="en" altLang="zh-TW" sz="1200" b="0" i="0" u="none" strike="noStrike" kern="1200" dirty="0">
                <a:solidFill>
                  <a:schemeClr val="tx1"/>
                </a:solidFill>
                <a:effectLst/>
                <a:latin typeface="+mn-lt"/>
                <a:ea typeface="+mn-ea"/>
                <a:cs typeface="+mn-cs"/>
              </a:rPr>
              <a:t>Hierarchical Pruning</a:t>
            </a:r>
            <a:r>
              <a:rPr lang="zh-TW" altLang="en" sz="1200" b="0" i="0" u="none" strike="noStrike" kern="1200" dirty="0">
                <a:solidFill>
                  <a:schemeClr val="tx1"/>
                </a:solidFill>
                <a:effectLst/>
                <a:latin typeface="+mn-lt"/>
                <a:ea typeface="+mn-ea"/>
                <a:cs typeface="+mn-cs"/>
              </a:rPr>
              <a:t>？</a:t>
            </a:r>
            <a:br>
              <a:rPr lang="en-US" altLang="zh-TW" sz="1200" b="0" i="0" u="none" strike="noStrike" kern="1200" dirty="0">
                <a:solidFill>
                  <a:schemeClr val="tx1"/>
                </a:solidFill>
                <a:effectLst/>
                <a:latin typeface="+mn-lt"/>
                <a:ea typeface="+mn-ea"/>
                <a:cs typeface="+mn-cs"/>
              </a:rPr>
            </a:br>
            <a:r>
              <a:rPr lang="zh-TW" altLang="en-US" sz="1200" b="0" i="0" u="none" strike="noStrike" kern="1200" dirty="0">
                <a:solidFill>
                  <a:schemeClr val="tx1"/>
                </a:solidFill>
                <a:effectLst/>
                <a:latin typeface="+mn-lt"/>
                <a:ea typeface="+mn-ea"/>
                <a:cs typeface="+mn-cs"/>
              </a:rPr>
              <a:t>如果</a:t>
            </a:r>
            <a:r>
              <a:rPr lang="en" altLang="zh-TW" sz="1200" b="0" i="0" u="none" strike="noStrike" kern="1200" dirty="0">
                <a:solidFill>
                  <a:schemeClr val="tx1"/>
                </a:solidFill>
                <a:effectLst/>
                <a:latin typeface="+mn-lt"/>
                <a:ea typeface="+mn-ea"/>
                <a:cs typeface="+mn-cs"/>
              </a:rPr>
              <a:t>S</a:t>
            </a:r>
            <a:r>
              <a:rPr lang="zh-TW" altLang="en-US" sz="1200" b="0" i="0" u="none" strike="noStrike" kern="1200" dirty="0">
                <a:solidFill>
                  <a:schemeClr val="tx1"/>
                </a:solidFill>
                <a:effectLst/>
                <a:latin typeface="+mn-lt"/>
                <a:ea typeface="+mn-ea"/>
                <a:cs typeface="+mn-cs"/>
              </a:rPr>
              <a:t>個成員模型的</a:t>
            </a:r>
            <a:r>
              <a:rPr lang="en"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具有較大的</a:t>
            </a:r>
            <a:r>
              <a:rPr lang="en" altLang="zh-TW" sz="1200" b="0" i="0" u="none" strike="noStrike" kern="1200" dirty="0">
                <a:solidFill>
                  <a:schemeClr val="tx1"/>
                </a:solidFill>
                <a:effectLst/>
                <a:latin typeface="+mn-lt"/>
                <a:ea typeface="+mn-ea"/>
                <a:cs typeface="+mn-cs"/>
              </a:rPr>
              <a:t>F-GD</a:t>
            </a:r>
            <a:r>
              <a:rPr lang="zh-TW" altLang="en-US" sz="1200" b="0" i="0" u="none" strike="noStrike" kern="1200" dirty="0">
                <a:solidFill>
                  <a:schemeClr val="tx1"/>
                </a:solidFill>
                <a:effectLst/>
                <a:latin typeface="+mn-lt"/>
                <a:ea typeface="+mn-ea"/>
                <a:cs typeface="+mn-cs"/>
              </a:rPr>
              <a:t>多樣性分數（例如</a:t>
            </a:r>
            <a:r>
              <a:rPr lang="en-US" altLang="zh-TW" sz="1200" b="0" i="0" u="none" strike="noStrike" kern="1200" dirty="0">
                <a:solidFill>
                  <a:schemeClr val="tx1"/>
                </a:solidFill>
                <a:effectLst/>
                <a:latin typeface="+mn-lt"/>
                <a:ea typeface="+mn-ea"/>
                <a:cs typeface="+mn-cs"/>
              </a:rPr>
              <a:t>[</a:t>
            </a:r>
            <a:r>
              <a:rPr lang="en" altLang="zh-TW" sz="1200" b="0" i="0" u="none" strike="noStrike" kern="1200" dirty="0">
                <a:solidFill>
                  <a:schemeClr val="tx1"/>
                </a:solidFill>
                <a:effectLst/>
                <a:latin typeface="+mn-lt"/>
                <a:ea typeface="+mn-ea"/>
                <a:cs typeface="+mn-cs"/>
              </a:rPr>
              <a:t>F5</a:t>
            </a:r>
            <a:r>
              <a:rPr lang="zh-TW" altLang="en" sz="1200" b="0" i="0" u="none" strike="noStrike" kern="1200" dirty="0">
                <a:solidFill>
                  <a:schemeClr val="tx1"/>
                </a:solidFill>
                <a:effectLst/>
                <a:latin typeface="+mn-lt"/>
                <a:ea typeface="+mn-ea"/>
                <a:cs typeface="+mn-cs"/>
              </a:rPr>
              <a:t>，</a:t>
            </a:r>
            <a:r>
              <a:rPr lang="en" altLang="zh-TW" sz="1200" b="0" i="0" u="none" strike="noStrike" kern="1200" dirty="0">
                <a:solidFill>
                  <a:schemeClr val="tx1"/>
                </a:solidFill>
                <a:effectLst/>
                <a:latin typeface="+mn-lt"/>
                <a:ea typeface="+mn-ea"/>
                <a:cs typeface="+mn-cs"/>
              </a:rPr>
              <a:t>F6]</a:t>
            </a:r>
            <a:r>
              <a:rPr lang="zh-TW" altLang="en"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通常表示</a:t>
            </a:r>
            <a:r>
              <a:rPr lang="en"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的多樣性不足，預測誤差的相關性較高。</a:t>
            </a:r>
            <a:endParaRPr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而這些</a:t>
            </a:r>
            <a:r>
              <a:rPr lang="en"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的</a:t>
            </a:r>
            <a:r>
              <a:rPr lang="en" altLang="zh-TW" sz="1200" b="0" i="0" u="none" strike="noStrike" kern="1200" dirty="0">
                <a:solidFill>
                  <a:schemeClr val="tx1"/>
                </a:solidFill>
                <a:effectLst/>
                <a:latin typeface="+mn-lt"/>
                <a:ea typeface="+mn-ea"/>
                <a:cs typeface="+mn-cs"/>
              </a:rPr>
              <a:t>superset</a:t>
            </a:r>
            <a:r>
              <a:rPr lang="zh-TW" altLang="en-US" sz="1200" b="0" i="0" u="none" strike="noStrike" kern="1200" dirty="0">
                <a:solidFill>
                  <a:schemeClr val="tx1"/>
                </a:solidFill>
                <a:effectLst/>
                <a:latin typeface="+mn-lt"/>
                <a:ea typeface="+mn-ea"/>
                <a:cs typeface="+mn-cs"/>
              </a:rPr>
              <a:t>也會繼承低多樣性</a:t>
            </a:r>
            <a:endParaRPr lang="en-US" altLang="zh-TW" sz="1200" b="0" i="0" u="none" strike="noStrike" kern="1200" dirty="0">
              <a:solidFill>
                <a:schemeClr val="tx1"/>
              </a:solidFill>
              <a:effectLst/>
              <a:latin typeface="+mn-lt"/>
              <a:ea typeface="+mn-ea"/>
              <a:cs typeface="+mn-cs"/>
            </a:endParaRPr>
          </a:p>
          <a:p>
            <a:endParaRPr kumimoji="1"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所以促使作者設計一個基於分層焦點多樣性的剪枝演算法。</a:t>
            </a:r>
            <a:endParaRPr kumimoji="1" lang="zh-TW" altLang="en-US" dirty="0"/>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15</a:t>
            </a:fld>
            <a:endParaRPr lang="zh-TW" altLang="en-US"/>
          </a:p>
        </p:txBody>
      </p:sp>
    </p:spTree>
    <p:extLst>
      <p:ext uri="{BB962C8B-B14F-4D97-AF65-F5344CB8AC3E}">
        <p14:creationId xmlns:p14="http://schemas.microsoft.com/office/powerpoint/2010/main" val="2634093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備忘稿版面配置區 2"/>
              <p:cNvSpPr>
                <a:spLocks noGrp="1"/>
              </p:cNvSpPr>
              <p:nvPr>
                <p:ph type="body" idx="1"/>
              </p:nvPr>
            </p:nvSpPr>
            <p:spPr/>
            <p:txBody>
              <a:bodyPr/>
              <a:lstStyle/>
              <a:p>
                <a:r>
                  <a:rPr lang="zh-TW" altLang="en-US" sz="1200" b="0" i="0" u="none" strike="noStrike" kern="1200" dirty="0">
                    <a:solidFill>
                      <a:schemeClr val="tx1"/>
                    </a:solidFill>
                    <a:effectLst/>
                    <a:latin typeface="+mn-lt"/>
                    <a:ea typeface="+mn-ea"/>
                    <a:cs typeface="+mn-cs"/>
                  </a:rPr>
                  <a:t>這張圖是一個分層結構，一開始有</a:t>
                </a:r>
                <a:r>
                  <a:rPr lang="en" altLang="zh-TW" sz="1200" b="0" i="0" u="none" strike="noStrike" kern="1200" dirty="0">
                    <a:solidFill>
                      <a:schemeClr val="tx1"/>
                    </a:solidFill>
                    <a:effectLst/>
                    <a:latin typeface="+mn-lt"/>
                    <a:ea typeface="+mn-ea"/>
                    <a:cs typeface="+mn-cs"/>
                  </a:rPr>
                  <a:t>M</a:t>
                </a:r>
                <a:r>
                  <a:rPr lang="zh-TW" altLang="en-US" sz="1200" b="0" i="0" u="none" strike="noStrike" kern="1200" dirty="0">
                    <a:solidFill>
                      <a:schemeClr val="tx1"/>
                    </a:solidFill>
                    <a:effectLst/>
                    <a:latin typeface="+mn-lt"/>
                    <a:ea typeface="+mn-ea"/>
                    <a:cs typeface="+mn-cs"/>
                  </a:rPr>
                  <a:t>個模型位於頂部，每一層我們多集合一個模型，這樣所有規模為</a:t>
                </a:r>
                <a:r>
                  <a:rPr lang="en" altLang="zh-TW" sz="1200" b="0" i="0" u="none" strike="noStrike" kern="1200" dirty="0">
                    <a:solidFill>
                      <a:schemeClr val="tx1"/>
                    </a:solidFill>
                    <a:effectLst/>
                    <a:latin typeface="+mn-lt"/>
                    <a:ea typeface="+mn-ea"/>
                    <a:cs typeface="+mn-cs"/>
                  </a:rPr>
                  <a:t>S+1</a:t>
                </a:r>
                <a:r>
                  <a:rPr lang="zh-TW" altLang="en-US" sz="1200" b="0" i="0" u="none" strike="noStrike" kern="1200" dirty="0">
                    <a:solidFill>
                      <a:schemeClr val="tx1"/>
                    </a:solidFill>
                    <a:effectLst/>
                    <a:latin typeface="+mn-lt"/>
                    <a:ea typeface="+mn-ea"/>
                    <a:cs typeface="+mn-cs"/>
                  </a:rPr>
                  <a:t>的</a:t>
                </a:r>
                <a:r>
                  <a:rPr lang="en-US"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都被放置在下一層。</a:t>
                </a:r>
                <a:endParaRPr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這種建立</a:t>
                </a:r>
                <a:r>
                  <a:rPr lang="en-US" altLang="zh-TW" sz="1200" b="0" i="0" u="none" strike="noStrike" kern="1200" dirty="0">
                    <a:solidFill>
                      <a:schemeClr val="tx1"/>
                    </a:solidFill>
                    <a:effectLst/>
                    <a:latin typeface="+mn-lt"/>
                    <a:ea typeface="+mn-ea"/>
                    <a:cs typeface="+mn-cs"/>
                  </a:rPr>
                  <a:t>deep ensemble</a:t>
                </a:r>
                <a:r>
                  <a:rPr lang="zh-TW" altLang="en-US" sz="1200" b="0" i="0" u="none" strike="noStrike" kern="1200" dirty="0">
                    <a:solidFill>
                      <a:schemeClr val="tx1"/>
                    </a:solidFill>
                    <a:effectLst/>
                    <a:latin typeface="+mn-lt"/>
                    <a:ea typeface="+mn-ea"/>
                    <a:cs typeface="+mn-cs"/>
                  </a:rPr>
                  <a:t>的方式可以剔除低多樣性的</a:t>
                </a:r>
                <a:r>
                  <a:rPr lang="en-US"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a:t>
                </a:r>
                <a:endParaRPr lang="en-US" altLang="zh-TW" sz="1200" b="0" i="0" u="none" strike="noStrike"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那像是</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5</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6</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focal</a:t>
                </a:r>
                <a:r>
                  <a:rPr lang="en-US" altLang="zh-TW" sz="1200" kern="1200" baseline="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diversity</a:t>
                </a:r>
                <a:r>
                  <a:rPr lang="zh-TW" altLang="en-US" sz="1200" kern="1200" dirty="0">
                    <a:solidFill>
                      <a:schemeClr val="tx1"/>
                    </a:solidFill>
                    <a:effectLst/>
                    <a:latin typeface="+mn-lt"/>
                    <a:ea typeface="+mn-ea"/>
                    <a:cs typeface="+mn-cs"/>
                  </a:rPr>
                  <a:t>分數</a:t>
                </a:r>
                <a:r>
                  <a:rPr lang="zh-TW" altLang="zh-TW" sz="1200" kern="1200" dirty="0">
                    <a:solidFill>
                      <a:schemeClr val="tx1"/>
                    </a:solidFill>
                    <a:effectLst/>
                    <a:latin typeface="+mn-lt"/>
                    <a:ea typeface="+mn-ea"/>
                    <a:cs typeface="+mn-cs"/>
                  </a:rPr>
                  <a:t>較高，則</a:t>
                </a:r>
                <a:r>
                  <a:rPr lang="zh-TW" altLang="en-US" sz="1200" kern="1200" dirty="0">
                    <a:solidFill>
                      <a:schemeClr val="tx1"/>
                    </a:solidFill>
                    <a:effectLst/>
                    <a:latin typeface="+mn-lt"/>
                    <a:ea typeface="+mn-ea"/>
                    <a:cs typeface="+mn-cs"/>
                  </a:rPr>
                  <a:t>它的</a:t>
                </a:r>
                <a:r>
                  <a:rPr lang="en-US" altLang="zh-TW" sz="1200" kern="1200" dirty="0">
                    <a:solidFill>
                      <a:schemeClr val="tx1"/>
                    </a:solidFill>
                    <a:effectLst/>
                    <a:latin typeface="+mn-lt"/>
                    <a:ea typeface="+mn-ea"/>
                    <a:cs typeface="+mn-cs"/>
                  </a:rPr>
                  <a:t>superset F</a:t>
                </a:r>
                <a:r>
                  <a:rPr lang="en-US" altLang="zh-TW" sz="1200" kern="1200" baseline="-25000" dirty="0">
                    <a:solidFill>
                      <a:schemeClr val="tx1"/>
                    </a:solidFill>
                    <a:effectLst/>
                    <a:latin typeface="+mn-lt"/>
                    <a:ea typeface="+mn-ea"/>
                    <a:cs typeface="+mn-cs"/>
                  </a:rPr>
                  <a:t>0</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5</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6</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focal</a:t>
                </a:r>
                <a:r>
                  <a:rPr lang="en-US" altLang="zh-TW" sz="1200" kern="1200" baseline="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diversity</a:t>
                </a:r>
                <a:r>
                  <a:rPr lang="zh-TW" altLang="en-US" sz="1200" kern="1200" dirty="0">
                    <a:solidFill>
                      <a:schemeClr val="tx1"/>
                    </a:solidFill>
                    <a:effectLst/>
                    <a:latin typeface="+mn-lt"/>
                    <a:ea typeface="+mn-ea"/>
                    <a:cs typeface="+mn-cs"/>
                  </a:rPr>
                  <a:t>分數</a:t>
                </a:r>
                <a:r>
                  <a:rPr lang="zh-TW" altLang="zh-TW" sz="1200" kern="1200" dirty="0">
                    <a:solidFill>
                      <a:schemeClr val="tx1"/>
                    </a:solidFill>
                    <a:effectLst/>
                    <a:latin typeface="+mn-lt"/>
                    <a:ea typeface="+mn-ea"/>
                    <a:cs typeface="+mn-cs"/>
                  </a:rPr>
                  <a:t>也高。</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那一開始</a:t>
                </a:r>
                <a:r>
                  <a:rPr lang="zh-TW" altLang="zh-TW" sz="1200" kern="1200" dirty="0">
                    <a:solidFill>
                      <a:schemeClr val="tx1"/>
                    </a:solidFill>
                    <a:effectLst/>
                    <a:latin typeface="+mn-lt"/>
                    <a:ea typeface="+mn-ea"/>
                    <a:cs typeface="+mn-cs"/>
                  </a:rPr>
                  <a:t>我們先選出所有含有</a:t>
                </a:r>
                <a:r>
                  <a:rPr lang="en-US" altLang="zh-TW" sz="1200" kern="1200" dirty="0">
                    <a:solidFill>
                      <a:schemeClr val="tx1"/>
                    </a:solidFill>
                    <a:effectLst/>
                    <a:latin typeface="+mn-lt"/>
                    <a:ea typeface="+mn-ea"/>
                    <a:cs typeface="+mn-cs"/>
                  </a:rPr>
                  <a:t>2</a:t>
                </a:r>
                <a:r>
                  <a:rPr lang="zh-TW" altLang="zh-TW" sz="1200" kern="1200" dirty="0">
                    <a:solidFill>
                      <a:schemeClr val="tx1"/>
                    </a:solidFill>
                    <a:effectLst/>
                    <a:latin typeface="+mn-lt"/>
                    <a:ea typeface="+mn-ea"/>
                    <a:cs typeface="+mn-cs"/>
                  </a:rPr>
                  <a:t>個</a:t>
                </a:r>
                <a:r>
                  <a:rPr lang="en-US" altLang="zh-TW" sz="1200" kern="1200" dirty="0">
                    <a:solidFill>
                      <a:schemeClr val="tx1"/>
                    </a:solidFill>
                    <a:effectLst/>
                    <a:latin typeface="+mn-lt"/>
                    <a:ea typeface="+mn-ea"/>
                    <a:cs typeface="+mn-cs"/>
                  </a:rPr>
                  <a:t>model</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ensemble</a:t>
                </a:r>
                <a:r>
                  <a:rPr lang="zh-TW" altLang="zh-TW" sz="1200" kern="1200" dirty="0">
                    <a:solidFill>
                      <a:schemeClr val="tx1"/>
                    </a:solidFill>
                    <a:effectLst/>
                    <a:latin typeface="+mn-lt"/>
                    <a:ea typeface="+mn-ea"/>
                    <a:cs typeface="+mn-cs"/>
                  </a:rPr>
                  <a:t>，共</a:t>
                </a:r>
                <a14:m>
                  <m:oMath xmlns:m="http://schemas.openxmlformats.org/officeDocument/2006/math">
                    <m:d>
                      <m:dPr>
                        <m:ctrlPr>
                          <a:rPr lang="zh-TW" altLang="zh-TW" sz="1200" i="1" kern="1200">
                            <a:solidFill>
                              <a:schemeClr val="tx1"/>
                            </a:solidFill>
                            <a:effectLst/>
                            <a:latin typeface="+mn-lt"/>
                            <a:ea typeface="+mn-ea"/>
                            <a:cs typeface="+mn-cs"/>
                          </a:rPr>
                        </m:ctrlPr>
                      </m:dPr>
                      <m:e>
                        <m:f>
                          <m:fPr>
                            <m:type m:val="noBar"/>
                            <m:ctrlPr>
                              <a:rPr lang="zh-TW" altLang="zh-TW" sz="1200" i="1" kern="1200">
                                <a:solidFill>
                                  <a:schemeClr val="tx1"/>
                                </a:solidFill>
                                <a:effectLst/>
                                <a:latin typeface="+mn-lt"/>
                                <a:ea typeface="+mn-ea"/>
                                <a:cs typeface="+mn-cs"/>
                              </a:rPr>
                            </m:ctrlPr>
                          </m:fPr>
                          <m:num>
                            <m:r>
                              <a:rPr lang="en-US" altLang="zh-TW" sz="1200" b="0" i="1" kern="1200" smtClean="0">
                                <a:solidFill>
                                  <a:schemeClr val="tx1"/>
                                </a:solidFill>
                                <a:effectLst/>
                                <a:latin typeface="Cambria Math" panose="02040503050406030204" pitchFamily="18" charset="0"/>
                                <a:ea typeface="+mn-ea"/>
                                <a:cs typeface="+mn-cs"/>
                              </a:rPr>
                              <m:t>𝑀</m:t>
                            </m:r>
                          </m:num>
                          <m:den>
                            <m:r>
                              <a:rPr lang="en-US" altLang="zh-TW" sz="1200" i="1" kern="1200">
                                <a:solidFill>
                                  <a:schemeClr val="tx1"/>
                                </a:solidFill>
                                <a:effectLst/>
                                <a:latin typeface="+mn-lt"/>
                                <a:ea typeface="+mn-ea"/>
                                <a:cs typeface="+mn-cs"/>
                              </a:rPr>
                              <m:t>2</m:t>
                            </m:r>
                          </m:den>
                        </m:f>
                      </m:e>
                    </m:d>
                  </m:oMath>
                </a14:m>
                <a:r>
                  <a:rPr lang="zh-TW" altLang="zh-TW" sz="1200" kern="1200" dirty="0">
                    <a:solidFill>
                      <a:schemeClr val="tx1"/>
                    </a:solidFill>
                    <a:effectLst/>
                    <a:latin typeface="+mn-lt"/>
                    <a:ea typeface="+mn-ea"/>
                    <a:cs typeface="+mn-cs"/>
                  </a:rPr>
                  <a:t>個，並依</a:t>
                </a:r>
                <a:r>
                  <a:rPr lang="en-US" altLang="zh-TW" sz="1200" kern="1200" dirty="0">
                    <a:solidFill>
                      <a:schemeClr val="tx1"/>
                    </a:solidFill>
                    <a:effectLst/>
                    <a:latin typeface="+mn-lt"/>
                    <a:ea typeface="+mn-ea"/>
                    <a:cs typeface="+mn-cs"/>
                  </a:rPr>
                  <a:t>diversity score</a:t>
                </a:r>
                <a:r>
                  <a:rPr lang="zh-TW" altLang="en-US" sz="1200" kern="1200" dirty="0">
                    <a:solidFill>
                      <a:schemeClr val="tx1"/>
                    </a:solidFill>
                    <a:effectLst/>
                    <a:latin typeface="+mn-lt"/>
                    <a:ea typeface="+mn-ea"/>
                    <a:cs typeface="+mn-cs"/>
                  </a:rPr>
                  <a:t>從高到低</a:t>
                </a:r>
                <a:r>
                  <a:rPr lang="zh-TW" altLang="zh-TW" sz="1200" kern="1200" dirty="0">
                    <a:solidFill>
                      <a:schemeClr val="tx1"/>
                    </a:solidFill>
                    <a:effectLst/>
                    <a:latin typeface="+mn-lt"/>
                    <a:ea typeface="+mn-ea"/>
                    <a:cs typeface="+mn-cs"/>
                  </a:rPr>
                  <a:t>排列，將</a:t>
                </a:r>
                <a:r>
                  <a:rPr lang="en-US" altLang="zh-TW" sz="1200" kern="1200" dirty="0">
                    <a:solidFill>
                      <a:schemeClr val="tx1"/>
                    </a:solidFill>
                    <a:effectLst/>
                    <a:latin typeface="+mn-lt"/>
                    <a:ea typeface="+mn-ea"/>
                    <a:cs typeface="+mn-cs"/>
                  </a:rPr>
                  <a:t>diversity score</a:t>
                </a:r>
                <a:r>
                  <a:rPr lang="zh-TW" altLang="zh-TW" sz="1200" kern="1200" dirty="0">
                    <a:solidFill>
                      <a:schemeClr val="tx1"/>
                    </a:solidFill>
                    <a:effectLst/>
                    <a:latin typeface="+mn-lt"/>
                    <a:ea typeface="+mn-ea"/>
                    <a:cs typeface="+mn-cs"/>
                  </a:rPr>
                  <a:t>最高的</a:t>
                </a:r>
                <a:r>
                  <a:rPr lang="en-US" altLang="zh-TW" sz="1200" kern="1200" dirty="0">
                    <a:solidFill>
                      <a:schemeClr val="tx1"/>
                    </a:solidFill>
                    <a:effectLst/>
                    <a:latin typeface="+mn-lt"/>
                    <a:ea typeface="+mn-ea"/>
                    <a:cs typeface="+mn-cs"/>
                  </a:rPr>
                  <a:t>10%</a:t>
                </a:r>
                <a:r>
                  <a:rPr lang="zh-TW" altLang="zh-TW" sz="1200" kern="1200" dirty="0">
                    <a:solidFill>
                      <a:schemeClr val="tx1"/>
                    </a:solidFill>
                    <a:effectLst/>
                    <a:latin typeface="+mn-lt"/>
                    <a:ea typeface="+mn-ea"/>
                    <a:cs typeface="+mn-cs"/>
                  </a:rPr>
                  <a:t>去掉。</a:t>
                </a:r>
                <a:r>
                  <a:rPr lang="zh-TW" altLang="zh-TW" dirty="0">
                    <a:effectLst/>
                  </a:rPr>
                  <a:t> </a:t>
                </a:r>
                <a:endParaRPr kumimoji="1" lang="zh-TW" altLang="en-US" dirty="0"/>
              </a:p>
            </p:txBody>
          </p:sp>
        </mc:Choice>
        <mc:Fallback>
          <p:sp>
            <p:nvSpPr>
              <p:cNvPr id="3" name="備忘稿版面配置區 2"/>
              <p:cNvSpPr>
                <a:spLocks noGrp="1"/>
              </p:cNvSpPr>
              <p:nvPr>
                <p:ph type="body" idx="1"/>
              </p:nvPr>
            </p:nvSpPr>
            <p:spPr/>
            <p:txBody>
              <a:bodyPr/>
              <a:lstStyle/>
              <a:p>
                <a:r>
                  <a:rPr lang="zh-TW" altLang="en-US" sz="1200" b="0" i="0" u="none" strike="noStrike" kern="1200" dirty="0">
                    <a:solidFill>
                      <a:schemeClr val="tx1"/>
                    </a:solidFill>
                    <a:effectLst/>
                    <a:latin typeface="+mn-lt"/>
                    <a:ea typeface="+mn-ea"/>
                    <a:cs typeface="+mn-cs"/>
                  </a:rPr>
                  <a:t>這張圖是一個分層結構，一開始有</a:t>
                </a:r>
                <a:r>
                  <a:rPr lang="en" altLang="zh-TW" sz="1200" b="0" i="0" u="none" strike="noStrike" kern="1200" dirty="0">
                    <a:solidFill>
                      <a:schemeClr val="tx1"/>
                    </a:solidFill>
                    <a:effectLst/>
                    <a:latin typeface="+mn-lt"/>
                    <a:ea typeface="+mn-ea"/>
                    <a:cs typeface="+mn-cs"/>
                  </a:rPr>
                  <a:t>M</a:t>
                </a:r>
                <a:r>
                  <a:rPr lang="zh-TW" altLang="en-US" sz="1200" b="0" i="0" u="none" strike="noStrike" kern="1200" dirty="0">
                    <a:solidFill>
                      <a:schemeClr val="tx1"/>
                    </a:solidFill>
                    <a:effectLst/>
                    <a:latin typeface="+mn-lt"/>
                    <a:ea typeface="+mn-ea"/>
                    <a:cs typeface="+mn-cs"/>
                  </a:rPr>
                  <a:t>個模型位於頂部，每一層我們多集合一個模型，這樣所有規模為</a:t>
                </a:r>
                <a:r>
                  <a:rPr lang="en" altLang="zh-TW" sz="1200" b="0" i="0" u="none" strike="noStrike" kern="1200" dirty="0">
                    <a:solidFill>
                      <a:schemeClr val="tx1"/>
                    </a:solidFill>
                    <a:effectLst/>
                    <a:latin typeface="+mn-lt"/>
                    <a:ea typeface="+mn-ea"/>
                    <a:cs typeface="+mn-cs"/>
                  </a:rPr>
                  <a:t>S+1</a:t>
                </a:r>
                <a:r>
                  <a:rPr lang="zh-TW" altLang="en-US" sz="1200" b="0" i="0" u="none" strike="noStrike" kern="1200" dirty="0">
                    <a:solidFill>
                      <a:schemeClr val="tx1"/>
                    </a:solidFill>
                    <a:effectLst/>
                    <a:latin typeface="+mn-lt"/>
                    <a:ea typeface="+mn-ea"/>
                    <a:cs typeface="+mn-cs"/>
                  </a:rPr>
                  <a:t>的</a:t>
                </a:r>
                <a:r>
                  <a:rPr lang="en-US"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都被放置在下一層。</a:t>
                </a:r>
                <a:endParaRPr lang="en-US" altLang="zh-TW" sz="1200" b="0" i="0" u="none" strike="noStrike" kern="1200" dirty="0">
                  <a:solidFill>
                    <a:schemeClr val="tx1"/>
                  </a:solidFill>
                  <a:effectLst/>
                  <a:latin typeface="+mn-lt"/>
                  <a:ea typeface="+mn-ea"/>
                  <a:cs typeface="+mn-cs"/>
                </a:endParaRPr>
              </a:p>
              <a:p>
                <a:r>
                  <a:rPr lang="zh-TW" altLang="en-US" sz="1200" b="0" i="0" u="none" strike="noStrike" kern="1200" dirty="0">
                    <a:solidFill>
                      <a:schemeClr val="tx1"/>
                    </a:solidFill>
                    <a:effectLst/>
                    <a:latin typeface="+mn-lt"/>
                    <a:ea typeface="+mn-ea"/>
                    <a:cs typeface="+mn-cs"/>
                  </a:rPr>
                  <a:t>這種建立</a:t>
                </a:r>
                <a:r>
                  <a:rPr lang="en-US" altLang="zh-TW" sz="1200" b="0" i="0" u="none" strike="noStrike" kern="1200" dirty="0">
                    <a:solidFill>
                      <a:schemeClr val="tx1"/>
                    </a:solidFill>
                    <a:effectLst/>
                    <a:latin typeface="+mn-lt"/>
                    <a:ea typeface="+mn-ea"/>
                    <a:cs typeface="+mn-cs"/>
                  </a:rPr>
                  <a:t>deep ensemble</a:t>
                </a:r>
                <a:r>
                  <a:rPr lang="zh-TW" altLang="en-US" sz="1200" b="0" i="0" u="none" strike="noStrike" kern="1200" dirty="0">
                    <a:solidFill>
                      <a:schemeClr val="tx1"/>
                    </a:solidFill>
                    <a:effectLst/>
                    <a:latin typeface="+mn-lt"/>
                    <a:ea typeface="+mn-ea"/>
                    <a:cs typeface="+mn-cs"/>
                  </a:rPr>
                  <a:t>的方式可以剔除低多樣性的</a:t>
                </a:r>
                <a:r>
                  <a:rPr lang="en-US"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a:t>
                </a:r>
                <a:endParaRPr lang="en-US" altLang="zh-TW" sz="1200" b="0" i="0" u="none" strike="noStrike"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那像是</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5</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6</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focal</a:t>
                </a:r>
                <a:r>
                  <a:rPr lang="en-US" altLang="zh-TW" sz="1200" kern="1200" baseline="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diversity</a:t>
                </a:r>
                <a:r>
                  <a:rPr lang="zh-TW" altLang="en-US" sz="1200" kern="1200" dirty="0">
                    <a:solidFill>
                      <a:schemeClr val="tx1"/>
                    </a:solidFill>
                    <a:effectLst/>
                    <a:latin typeface="+mn-lt"/>
                    <a:ea typeface="+mn-ea"/>
                    <a:cs typeface="+mn-cs"/>
                  </a:rPr>
                  <a:t>分數</a:t>
                </a:r>
                <a:r>
                  <a:rPr lang="zh-TW" altLang="zh-TW" sz="1200" kern="1200" dirty="0">
                    <a:solidFill>
                      <a:schemeClr val="tx1"/>
                    </a:solidFill>
                    <a:effectLst/>
                    <a:latin typeface="+mn-lt"/>
                    <a:ea typeface="+mn-ea"/>
                    <a:cs typeface="+mn-cs"/>
                  </a:rPr>
                  <a:t>較高，則</a:t>
                </a:r>
                <a:r>
                  <a:rPr lang="zh-TW" altLang="en-US" sz="1200" kern="1200" dirty="0">
                    <a:solidFill>
                      <a:schemeClr val="tx1"/>
                    </a:solidFill>
                    <a:effectLst/>
                    <a:latin typeface="+mn-lt"/>
                    <a:ea typeface="+mn-ea"/>
                    <a:cs typeface="+mn-cs"/>
                  </a:rPr>
                  <a:t>它的</a:t>
                </a:r>
                <a:r>
                  <a:rPr lang="en-US" altLang="zh-TW" sz="1200" kern="1200" dirty="0">
                    <a:solidFill>
                      <a:schemeClr val="tx1"/>
                    </a:solidFill>
                    <a:effectLst/>
                    <a:latin typeface="+mn-lt"/>
                    <a:ea typeface="+mn-ea"/>
                    <a:cs typeface="+mn-cs"/>
                  </a:rPr>
                  <a:t>superset F</a:t>
                </a:r>
                <a:r>
                  <a:rPr lang="en-US" altLang="zh-TW" sz="1200" kern="1200" baseline="-25000" dirty="0">
                    <a:solidFill>
                      <a:schemeClr val="tx1"/>
                    </a:solidFill>
                    <a:effectLst/>
                    <a:latin typeface="+mn-lt"/>
                    <a:ea typeface="+mn-ea"/>
                    <a:cs typeface="+mn-cs"/>
                  </a:rPr>
                  <a:t>0</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5</a:t>
                </a:r>
                <a:r>
                  <a:rPr lang="en-US" altLang="zh-TW" sz="1200" kern="1200" dirty="0">
                    <a:solidFill>
                      <a:schemeClr val="tx1"/>
                    </a:solidFill>
                    <a:effectLst/>
                    <a:latin typeface="+mn-lt"/>
                    <a:ea typeface="+mn-ea"/>
                    <a:cs typeface="+mn-cs"/>
                  </a:rPr>
                  <a:t>F</a:t>
                </a:r>
                <a:r>
                  <a:rPr lang="en-US" altLang="zh-TW" sz="1200" kern="1200" baseline="-25000" dirty="0">
                    <a:solidFill>
                      <a:schemeClr val="tx1"/>
                    </a:solidFill>
                    <a:effectLst/>
                    <a:latin typeface="+mn-lt"/>
                    <a:ea typeface="+mn-ea"/>
                    <a:cs typeface="+mn-cs"/>
                  </a:rPr>
                  <a:t>6</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focal</a:t>
                </a:r>
                <a:r>
                  <a:rPr lang="en-US" altLang="zh-TW" sz="1200" kern="1200" baseline="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diversity</a:t>
                </a:r>
                <a:r>
                  <a:rPr lang="zh-TW" altLang="en-US" sz="1200" kern="1200" dirty="0">
                    <a:solidFill>
                      <a:schemeClr val="tx1"/>
                    </a:solidFill>
                    <a:effectLst/>
                    <a:latin typeface="+mn-lt"/>
                    <a:ea typeface="+mn-ea"/>
                    <a:cs typeface="+mn-cs"/>
                  </a:rPr>
                  <a:t>分數</a:t>
                </a:r>
                <a:r>
                  <a:rPr lang="zh-TW" altLang="zh-TW" sz="1200" kern="1200" dirty="0">
                    <a:solidFill>
                      <a:schemeClr val="tx1"/>
                    </a:solidFill>
                    <a:effectLst/>
                    <a:latin typeface="+mn-lt"/>
                    <a:ea typeface="+mn-ea"/>
                    <a:cs typeface="+mn-cs"/>
                  </a:rPr>
                  <a:t>也高。</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那一開始</a:t>
                </a:r>
                <a:r>
                  <a:rPr lang="zh-TW" altLang="zh-TW" sz="1200" kern="1200" dirty="0">
                    <a:solidFill>
                      <a:schemeClr val="tx1"/>
                    </a:solidFill>
                    <a:effectLst/>
                    <a:latin typeface="+mn-lt"/>
                    <a:ea typeface="+mn-ea"/>
                    <a:cs typeface="+mn-cs"/>
                  </a:rPr>
                  <a:t>我們先選出所有含有</a:t>
                </a:r>
                <a:r>
                  <a:rPr lang="en-US" altLang="zh-TW" sz="1200" kern="1200" dirty="0">
                    <a:solidFill>
                      <a:schemeClr val="tx1"/>
                    </a:solidFill>
                    <a:effectLst/>
                    <a:latin typeface="+mn-lt"/>
                    <a:ea typeface="+mn-ea"/>
                    <a:cs typeface="+mn-cs"/>
                  </a:rPr>
                  <a:t>2</a:t>
                </a:r>
                <a:r>
                  <a:rPr lang="zh-TW" altLang="zh-TW" sz="1200" kern="1200" dirty="0">
                    <a:solidFill>
                      <a:schemeClr val="tx1"/>
                    </a:solidFill>
                    <a:effectLst/>
                    <a:latin typeface="+mn-lt"/>
                    <a:ea typeface="+mn-ea"/>
                    <a:cs typeface="+mn-cs"/>
                  </a:rPr>
                  <a:t>個</a:t>
                </a:r>
                <a:r>
                  <a:rPr lang="en-US" altLang="zh-TW" sz="1200" kern="1200" dirty="0">
                    <a:solidFill>
                      <a:schemeClr val="tx1"/>
                    </a:solidFill>
                    <a:effectLst/>
                    <a:latin typeface="+mn-lt"/>
                    <a:ea typeface="+mn-ea"/>
                    <a:cs typeface="+mn-cs"/>
                  </a:rPr>
                  <a:t>model</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ensemble</a:t>
                </a:r>
                <a:r>
                  <a:rPr lang="zh-TW" altLang="zh-TW" sz="1200" kern="1200" dirty="0">
                    <a:solidFill>
                      <a:schemeClr val="tx1"/>
                    </a:solidFill>
                    <a:effectLst/>
                    <a:latin typeface="+mn-lt"/>
                    <a:ea typeface="+mn-ea"/>
                    <a:cs typeface="+mn-cs"/>
                  </a:rPr>
                  <a:t>，共</a:t>
                </a:r>
                <a:r>
                  <a:rPr lang="zh-TW" altLang="zh-TW" sz="1200" i="0" kern="1200">
                    <a:solidFill>
                      <a:schemeClr val="tx1"/>
                    </a:solidFill>
                    <a:effectLst/>
                    <a:latin typeface="+mn-lt"/>
                    <a:ea typeface="+mn-ea"/>
                    <a:cs typeface="+mn-cs"/>
                  </a:rPr>
                  <a:t>(</a:t>
                </a:r>
                <a:r>
                  <a:rPr lang="en-US" altLang="zh-TW" sz="1200" b="0" i="0" kern="1200">
                    <a:solidFill>
                      <a:schemeClr val="tx1"/>
                    </a:solidFill>
                    <a:effectLst/>
                    <a:latin typeface="Cambria Math" panose="02040503050406030204" pitchFamily="18" charset="0"/>
                    <a:ea typeface="+mn-ea"/>
                    <a:cs typeface="+mn-cs"/>
                  </a:rPr>
                  <a:t>𝑀</a:t>
                </a:r>
                <a:r>
                  <a:rPr lang="zh-TW" altLang="zh-TW" sz="1200" b="0" i="0" kern="1200">
                    <a:solidFill>
                      <a:schemeClr val="tx1"/>
                    </a:solidFill>
                    <a:effectLst/>
                    <a:latin typeface="+mn-lt"/>
                    <a:ea typeface="+mn-ea"/>
                    <a:cs typeface="+mn-cs"/>
                  </a:rPr>
                  <a:t>¦</a:t>
                </a:r>
                <a:r>
                  <a:rPr lang="en-US" altLang="zh-TW" sz="1200" i="0" kern="1200">
                    <a:solidFill>
                      <a:schemeClr val="tx1"/>
                    </a:solidFill>
                    <a:effectLst/>
                    <a:latin typeface="+mn-lt"/>
                    <a:ea typeface="+mn-ea"/>
                    <a:cs typeface="+mn-cs"/>
                  </a:rPr>
                  <a:t>2)</a:t>
                </a:r>
                <a:r>
                  <a:rPr lang="zh-TW" altLang="zh-TW" sz="1200" kern="1200" dirty="0">
                    <a:solidFill>
                      <a:schemeClr val="tx1"/>
                    </a:solidFill>
                    <a:effectLst/>
                    <a:latin typeface="+mn-lt"/>
                    <a:ea typeface="+mn-ea"/>
                    <a:cs typeface="+mn-cs"/>
                  </a:rPr>
                  <a:t>個，並依</a:t>
                </a:r>
                <a:r>
                  <a:rPr lang="en-US" altLang="zh-TW" sz="1200" kern="1200" dirty="0">
                    <a:solidFill>
                      <a:schemeClr val="tx1"/>
                    </a:solidFill>
                    <a:effectLst/>
                    <a:latin typeface="+mn-lt"/>
                    <a:ea typeface="+mn-ea"/>
                    <a:cs typeface="+mn-cs"/>
                  </a:rPr>
                  <a:t>diversity score</a:t>
                </a:r>
                <a:r>
                  <a:rPr lang="zh-TW" altLang="en-US" sz="1200" kern="1200" dirty="0">
                    <a:solidFill>
                      <a:schemeClr val="tx1"/>
                    </a:solidFill>
                    <a:effectLst/>
                    <a:latin typeface="+mn-lt"/>
                    <a:ea typeface="+mn-ea"/>
                    <a:cs typeface="+mn-cs"/>
                  </a:rPr>
                  <a:t>從高到低</a:t>
                </a:r>
                <a:r>
                  <a:rPr lang="zh-TW" altLang="zh-TW" sz="1200" kern="1200" dirty="0">
                    <a:solidFill>
                      <a:schemeClr val="tx1"/>
                    </a:solidFill>
                    <a:effectLst/>
                    <a:latin typeface="+mn-lt"/>
                    <a:ea typeface="+mn-ea"/>
                    <a:cs typeface="+mn-cs"/>
                  </a:rPr>
                  <a:t>排列，將</a:t>
                </a:r>
                <a:r>
                  <a:rPr lang="en-US" altLang="zh-TW" sz="1200" kern="1200" dirty="0">
                    <a:solidFill>
                      <a:schemeClr val="tx1"/>
                    </a:solidFill>
                    <a:effectLst/>
                    <a:latin typeface="+mn-lt"/>
                    <a:ea typeface="+mn-ea"/>
                    <a:cs typeface="+mn-cs"/>
                  </a:rPr>
                  <a:t>diversity score</a:t>
                </a:r>
                <a:r>
                  <a:rPr lang="zh-TW" altLang="zh-TW" sz="1200" kern="1200" dirty="0">
                    <a:solidFill>
                      <a:schemeClr val="tx1"/>
                    </a:solidFill>
                    <a:effectLst/>
                    <a:latin typeface="+mn-lt"/>
                    <a:ea typeface="+mn-ea"/>
                    <a:cs typeface="+mn-cs"/>
                  </a:rPr>
                  <a:t>最高的</a:t>
                </a:r>
                <a:r>
                  <a:rPr lang="en-US" altLang="zh-TW" sz="1200" kern="1200" dirty="0">
                    <a:solidFill>
                      <a:schemeClr val="tx1"/>
                    </a:solidFill>
                    <a:effectLst/>
                    <a:latin typeface="+mn-lt"/>
                    <a:ea typeface="+mn-ea"/>
                    <a:cs typeface="+mn-cs"/>
                  </a:rPr>
                  <a:t>10%</a:t>
                </a:r>
                <a:r>
                  <a:rPr lang="zh-TW" altLang="zh-TW" sz="1200" kern="1200" dirty="0">
                    <a:solidFill>
                      <a:schemeClr val="tx1"/>
                    </a:solidFill>
                    <a:effectLst/>
                    <a:latin typeface="+mn-lt"/>
                    <a:ea typeface="+mn-ea"/>
                    <a:cs typeface="+mn-cs"/>
                  </a:rPr>
                  <a:t>去掉。</a:t>
                </a:r>
                <a:r>
                  <a:rPr lang="zh-TW" altLang="zh-TW" dirty="0">
                    <a:effectLst/>
                  </a:rPr>
                  <a:t> </a:t>
                </a:r>
                <a:endParaRPr kumimoji="1" lang="zh-TW" altLang="en-US" dirty="0"/>
              </a:p>
            </p:txBody>
          </p:sp>
        </mc:Fallback>
      </mc:AlternateContent>
      <p:sp>
        <p:nvSpPr>
          <p:cNvPr id="4" name="投影片編號版面配置區 3"/>
          <p:cNvSpPr>
            <a:spLocks noGrp="1"/>
          </p:cNvSpPr>
          <p:nvPr>
            <p:ph type="sldNum" sz="quarter" idx="5"/>
          </p:nvPr>
        </p:nvSpPr>
        <p:spPr/>
        <p:txBody>
          <a:bodyPr/>
          <a:lstStyle/>
          <a:p>
            <a:fld id="{9C3C06FB-4978-463D-9A6C-818618CB0231}" type="slidenum">
              <a:rPr lang="zh-TW" altLang="en-US" smtClean="0"/>
              <a:t>16</a:t>
            </a:fld>
            <a:endParaRPr lang="zh-TW" altLang="en-US"/>
          </a:p>
        </p:txBody>
      </p:sp>
    </p:spTree>
    <p:extLst>
      <p:ext uri="{BB962C8B-B14F-4D97-AF65-F5344CB8AC3E}">
        <p14:creationId xmlns:p14="http://schemas.microsoft.com/office/powerpoint/2010/main" val="315750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3</a:t>
            </a:r>
            <a:r>
              <a:rPr lang="zh-TW" altLang="zh-TW" sz="1200" kern="1200" dirty="0">
                <a:solidFill>
                  <a:schemeClr val="tx1"/>
                </a:solidFill>
                <a:effectLst/>
                <a:latin typeface="+mn-lt"/>
                <a:ea typeface="+mn-ea"/>
                <a:cs typeface="+mn-cs"/>
              </a:rPr>
              <a:t>為根據上述方法的實作結果，我們可以從中發現一些特性</a:t>
            </a:r>
            <a:r>
              <a:rPr lang="en-US" altLang="zh-TW"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(1)</a:t>
            </a:r>
            <a:r>
              <a:rPr lang="zh-TW" altLang="zh-TW" sz="1200" kern="1200" dirty="0">
                <a:solidFill>
                  <a:schemeClr val="tx1"/>
                </a:solidFill>
                <a:effectLst/>
                <a:latin typeface="+mn-lt"/>
                <a:ea typeface="+mn-ea"/>
                <a:cs typeface="+mn-cs"/>
              </a:rPr>
              <a:t>在</a:t>
            </a:r>
            <a:r>
              <a:rPr lang="en-US" altLang="zh-TW" sz="1200" kern="1200" dirty="0">
                <a:solidFill>
                  <a:schemeClr val="tx1"/>
                </a:solidFill>
                <a:effectLst/>
                <a:latin typeface="+mn-lt"/>
                <a:ea typeface="+mn-ea"/>
                <a:cs typeface="+mn-cs"/>
              </a:rPr>
              <a:t>model</a:t>
            </a:r>
            <a:r>
              <a:rPr lang="zh-TW" altLang="zh-TW" sz="1200" kern="1200" dirty="0">
                <a:solidFill>
                  <a:schemeClr val="tx1"/>
                </a:solidFill>
                <a:effectLst/>
                <a:latin typeface="+mn-lt"/>
                <a:ea typeface="+mn-ea"/>
                <a:cs typeface="+mn-cs"/>
              </a:rPr>
              <a:t>數量相同的</a:t>
            </a:r>
            <a:r>
              <a:rPr lang="en-US" altLang="zh-TW" sz="1200" kern="1200" dirty="0">
                <a:solidFill>
                  <a:schemeClr val="tx1"/>
                </a:solidFill>
                <a:effectLst/>
                <a:latin typeface="+mn-lt"/>
                <a:ea typeface="+mn-ea"/>
                <a:cs typeface="+mn-cs"/>
              </a:rPr>
              <a:t>ensemble</a:t>
            </a:r>
            <a:r>
              <a:rPr lang="zh-TW" altLang="zh-TW" sz="1200" kern="1200" dirty="0">
                <a:solidFill>
                  <a:schemeClr val="tx1"/>
                </a:solidFill>
                <a:effectLst/>
                <a:latin typeface="+mn-lt"/>
                <a:ea typeface="+mn-ea"/>
                <a:cs typeface="+mn-cs"/>
              </a:rPr>
              <a:t>中，</a:t>
            </a:r>
            <a:r>
              <a:rPr lang="en-US" altLang="zh-TW" sz="1200" kern="1200" dirty="0">
                <a:solidFill>
                  <a:schemeClr val="tx1"/>
                </a:solidFill>
                <a:effectLst/>
                <a:latin typeface="+mn-lt"/>
                <a:ea typeface="+mn-ea"/>
                <a:cs typeface="+mn-cs"/>
              </a:rPr>
              <a:t>focal diversity score</a:t>
            </a:r>
            <a:r>
              <a:rPr lang="zh-TW" altLang="zh-TW" sz="1200" kern="1200" dirty="0">
                <a:solidFill>
                  <a:schemeClr val="tx1"/>
                </a:solidFill>
                <a:effectLst/>
                <a:latin typeface="+mn-lt"/>
                <a:ea typeface="+mn-ea"/>
                <a:cs typeface="+mn-cs"/>
              </a:rPr>
              <a:t>越低的</a:t>
            </a:r>
            <a:r>
              <a:rPr lang="en-US" altLang="zh-TW" sz="1200" kern="1200" dirty="0">
                <a:solidFill>
                  <a:schemeClr val="tx1"/>
                </a:solidFill>
                <a:effectLst/>
                <a:latin typeface="+mn-lt"/>
                <a:ea typeface="+mn-ea"/>
                <a:cs typeface="+mn-cs"/>
              </a:rPr>
              <a:t>ensemble</a:t>
            </a:r>
            <a:r>
              <a:rPr lang="zh-TW" altLang="en-US" sz="1200" kern="1200" dirty="0">
                <a:solidFill>
                  <a:schemeClr val="tx1"/>
                </a:solidFill>
                <a:effectLst/>
                <a:latin typeface="+mn-lt"/>
                <a:ea typeface="+mn-ea"/>
                <a:cs typeface="+mn-cs"/>
              </a:rPr>
              <a:t>（也就是橫軸越左邊的點）</a:t>
            </a:r>
            <a:r>
              <a:rPr lang="zh-TW" altLang="zh-TW" sz="1200" kern="1200" dirty="0">
                <a:solidFill>
                  <a:schemeClr val="tx1"/>
                </a:solidFill>
                <a:effectLst/>
                <a:latin typeface="+mn-lt"/>
                <a:ea typeface="+mn-ea"/>
                <a:cs typeface="+mn-cs"/>
              </a:rPr>
              <a:t>擁有</a:t>
            </a:r>
            <a:r>
              <a:rPr lang="zh-TW" altLang="en-US" sz="1200" kern="1200" dirty="0">
                <a:solidFill>
                  <a:schemeClr val="tx1"/>
                </a:solidFill>
                <a:effectLst/>
                <a:latin typeface="+mn-lt"/>
                <a:ea typeface="+mn-ea"/>
                <a:cs typeface="+mn-cs"/>
              </a:rPr>
              <a:t>越</a:t>
            </a:r>
            <a:r>
              <a:rPr lang="zh-TW" altLang="zh-TW" sz="1200" kern="1200" dirty="0">
                <a:solidFill>
                  <a:schemeClr val="tx1"/>
                </a:solidFill>
                <a:effectLst/>
                <a:latin typeface="+mn-lt"/>
                <a:ea typeface="+mn-ea"/>
                <a:cs typeface="+mn-cs"/>
              </a:rPr>
              <a:t>高的</a:t>
            </a:r>
            <a:r>
              <a:rPr lang="en-US" altLang="zh-TW" sz="1200" kern="1200" dirty="0">
                <a:solidFill>
                  <a:schemeClr val="tx1"/>
                </a:solidFill>
                <a:effectLst/>
                <a:latin typeface="+mn-lt"/>
                <a:ea typeface="+mn-ea"/>
                <a:cs typeface="+mn-cs"/>
              </a:rPr>
              <a:t>ensemble accuracy;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(2)</a:t>
            </a:r>
            <a:r>
              <a:rPr lang="zh-TW" altLang="zh-TW" sz="1200" kern="1200" dirty="0">
                <a:solidFill>
                  <a:schemeClr val="tx1"/>
                </a:solidFill>
                <a:effectLst/>
                <a:latin typeface="+mn-lt"/>
                <a:ea typeface="+mn-ea"/>
                <a:cs typeface="+mn-cs"/>
              </a:rPr>
              <a:t>由於基於</a:t>
            </a:r>
            <a:r>
              <a:rPr lang="en-US" altLang="zh-TW" sz="1200" kern="1200" dirty="0">
                <a:solidFill>
                  <a:schemeClr val="tx1"/>
                </a:solidFill>
                <a:effectLst/>
                <a:latin typeface="+mn-lt"/>
                <a:ea typeface="+mn-ea"/>
                <a:cs typeface="+mn-cs"/>
              </a:rPr>
              <a:t>focal diversity</a:t>
            </a:r>
            <a:r>
              <a:rPr lang="zh-TW" altLang="zh-TW" sz="1200" kern="1200" dirty="0">
                <a:solidFill>
                  <a:schemeClr val="tx1"/>
                </a:solidFill>
                <a:effectLst/>
                <a:latin typeface="+mn-lt"/>
                <a:ea typeface="+mn-ea"/>
                <a:cs typeface="+mn-cs"/>
              </a:rPr>
              <a:t>的</a:t>
            </a:r>
            <a:r>
              <a:rPr lang="en-US" altLang="zh-TW" sz="1200" kern="1200" dirty="0">
                <a:solidFill>
                  <a:schemeClr val="tx1"/>
                </a:solidFill>
                <a:effectLst/>
                <a:latin typeface="+mn-lt"/>
                <a:ea typeface="+mn-ea"/>
                <a:cs typeface="+mn-cs"/>
              </a:rPr>
              <a:t>hierarchical pruning</a:t>
            </a:r>
            <a:r>
              <a:rPr lang="zh-TW" altLang="zh-TW" sz="1200" kern="1200" dirty="0">
                <a:solidFill>
                  <a:schemeClr val="tx1"/>
                </a:solidFill>
                <a:effectLst/>
                <a:latin typeface="+mn-lt"/>
                <a:ea typeface="+mn-ea"/>
                <a:cs typeface="+mn-cs"/>
              </a:rPr>
              <a:t>更著重於相同大小</a:t>
            </a:r>
            <a:r>
              <a:rPr lang="en-US" altLang="zh-TW" sz="1200" kern="1200" dirty="0">
                <a:solidFill>
                  <a:schemeClr val="tx1"/>
                </a:solidFill>
                <a:effectLst/>
                <a:latin typeface="+mn-lt"/>
                <a:ea typeface="+mn-ea"/>
                <a:cs typeface="+mn-cs"/>
              </a:rPr>
              <a:t>ensemble</a:t>
            </a:r>
            <a:r>
              <a:rPr lang="zh-TW" altLang="zh-TW" sz="1200" kern="1200" dirty="0">
                <a:solidFill>
                  <a:schemeClr val="tx1"/>
                </a:solidFill>
                <a:effectLst/>
                <a:latin typeface="+mn-lt"/>
                <a:ea typeface="+mn-ea"/>
                <a:cs typeface="+mn-cs"/>
              </a:rPr>
              <a:t>之間的比較，</a:t>
            </a:r>
            <a:r>
              <a:rPr lang="zh-TW" altLang="en-US" sz="1200" kern="1200" dirty="0">
                <a:solidFill>
                  <a:schemeClr val="tx1"/>
                </a:solidFill>
                <a:effectLst/>
                <a:latin typeface="+mn-lt"/>
                <a:ea typeface="+mn-ea"/>
                <a:cs typeface="+mn-cs"/>
              </a:rPr>
              <a:t>所以</a:t>
            </a:r>
            <a:r>
              <a:rPr lang="zh-TW" altLang="zh-TW" sz="1200" kern="1200" dirty="0">
                <a:solidFill>
                  <a:schemeClr val="tx1"/>
                </a:solidFill>
                <a:effectLst/>
                <a:latin typeface="+mn-lt"/>
                <a:ea typeface="+mn-ea"/>
                <a:cs typeface="+mn-cs"/>
              </a:rPr>
              <a:t>提高</a:t>
            </a:r>
            <a:r>
              <a:rPr lang="zh-TW" altLang="en-US" sz="1200" kern="1200" dirty="0">
                <a:solidFill>
                  <a:schemeClr val="tx1"/>
                </a:solidFill>
                <a:effectLst/>
                <a:latin typeface="+mn-lt"/>
                <a:ea typeface="+mn-ea"/>
                <a:cs typeface="+mn-cs"/>
              </a:rPr>
              <a:t>了</a:t>
            </a:r>
            <a:r>
              <a:rPr lang="en-US" altLang="zh-TW" sz="1200" kern="1200" dirty="0">
                <a:solidFill>
                  <a:schemeClr val="tx1"/>
                </a:solidFill>
                <a:effectLst/>
                <a:latin typeface="+mn-lt"/>
                <a:ea typeface="+mn-ea"/>
                <a:cs typeface="+mn-cs"/>
              </a:rPr>
              <a:t>pruning</a:t>
            </a:r>
            <a:r>
              <a:rPr lang="zh-TW" altLang="zh-TW" sz="1200" kern="1200" dirty="0">
                <a:solidFill>
                  <a:schemeClr val="tx1"/>
                </a:solidFill>
                <a:effectLst/>
                <a:latin typeface="+mn-lt"/>
                <a:ea typeface="+mn-ea"/>
                <a:cs typeface="+mn-cs"/>
              </a:rPr>
              <a:t>的效率</a:t>
            </a:r>
            <a:r>
              <a:rPr lang="en-US" altLang="zh-TW" sz="120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a:solidFill>
                  <a:schemeClr val="tx1"/>
                </a:solidFill>
                <a:effectLst/>
                <a:latin typeface="+mn-lt"/>
                <a:ea typeface="+mn-ea"/>
                <a:cs typeface="+mn-cs"/>
              </a:rPr>
              <a:t>(3)</a:t>
            </a:r>
            <a:r>
              <a:rPr lang="zh-TW" altLang="zh-TW" sz="1200" kern="1200" dirty="0">
                <a:solidFill>
                  <a:schemeClr val="tx1"/>
                </a:solidFill>
                <a:effectLst/>
                <a:latin typeface="+mn-lt"/>
                <a:ea typeface="+mn-ea"/>
                <a:cs typeface="+mn-cs"/>
              </a:rPr>
              <a:t>可以限制</a:t>
            </a:r>
            <a:r>
              <a:rPr lang="zh-TW" altLang="en-US" sz="1200" kern="1200" dirty="0">
                <a:solidFill>
                  <a:schemeClr val="tx1"/>
                </a:solidFill>
                <a:effectLst/>
                <a:latin typeface="+mn-lt"/>
                <a:ea typeface="+mn-ea"/>
                <a:cs typeface="+mn-cs"/>
              </a:rPr>
              <a:t>最多能有多少個</a:t>
            </a:r>
            <a:r>
              <a:rPr lang="en-US" altLang="zh-TW" sz="1200" kern="1200" dirty="0">
                <a:solidFill>
                  <a:schemeClr val="tx1"/>
                </a:solidFill>
                <a:effectLst/>
                <a:latin typeface="+mn-lt"/>
                <a:ea typeface="+mn-ea"/>
                <a:cs typeface="+mn-cs"/>
              </a:rPr>
              <a:t>model</a:t>
            </a:r>
            <a:r>
              <a:rPr lang="zh-CN" altLang="en-US" sz="1200" kern="1200" dirty="0">
                <a:solidFill>
                  <a:schemeClr val="tx1"/>
                </a:solidFill>
                <a:effectLst/>
                <a:latin typeface="+mn-lt"/>
                <a:ea typeface="+mn-ea"/>
                <a:cs typeface="+mn-cs"/>
              </a:rPr>
              <a:t>做</a:t>
            </a:r>
            <a:r>
              <a:rPr lang="en-US" altLang="zh-CN" sz="1200" kern="1200" dirty="0">
                <a:solidFill>
                  <a:schemeClr val="tx1"/>
                </a:solidFill>
                <a:effectLst/>
                <a:latin typeface="+mn-lt"/>
                <a:ea typeface="+mn-ea"/>
                <a:cs typeface="+mn-cs"/>
              </a:rPr>
              <a:t>ensemble</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並以此</a:t>
            </a:r>
            <a:r>
              <a:rPr lang="zh-TW" altLang="en-US" sz="1200" b="0" i="0" u="none" strike="noStrike" kern="1200" dirty="0">
                <a:solidFill>
                  <a:schemeClr val="tx1"/>
                </a:solidFill>
                <a:effectLst/>
                <a:latin typeface="+mn-lt"/>
                <a:ea typeface="+mn-ea"/>
                <a:cs typeface="+mn-cs"/>
              </a:rPr>
              <a:t>限制我們的</a:t>
            </a:r>
            <a:r>
              <a:rPr lang="en-US" altLang="zh-TW" sz="1200" kern="1200" dirty="0">
                <a:solidFill>
                  <a:schemeClr val="tx1"/>
                </a:solidFill>
                <a:effectLst/>
                <a:latin typeface="+mn-lt"/>
                <a:ea typeface="+mn-ea"/>
                <a:cs typeface="+mn-cs"/>
              </a:rPr>
              <a:t>hierarchical pruning</a:t>
            </a:r>
            <a:r>
              <a:rPr lang="zh-TW" altLang="en-US" sz="1200" b="0" i="0" u="none" strike="noStrike" kern="1200" dirty="0">
                <a:solidFill>
                  <a:schemeClr val="tx1"/>
                </a:solidFill>
                <a:effectLst/>
                <a:latin typeface="+mn-lt"/>
                <a:ea typeface="+mn-ea"/>
                <a:cs typeface="+mn-cs"/>
              </a:rPr>
              <a:t>演算法做</a:t>
            </a:r>
            <a:r>
              <a:rPr lang="en-US"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的時間及空間複雜度。</a:t>
            </a:r>
            <a:endParaRPr lang="zh-TW"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17</a:t>
            </a:fld>
            <a:endParaRPr lang="zh-TW" altLang="en-US"/>
          </a:p>
        </p:txBody>
      </p:sp>
    </p:spTree>
    <p:extLst>
      <p:ext uri="{BB962C8B-B14F-4D97-AF65-F5344CB8AC3E}">
        <p14:creationId xmlns:p14="http://schemas.microsoft.com/office/powerpoint/2010/main" val="7074077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使用不同的</a:t>
            </a:r>
            <a:r>
              <a:rPr lang="en" altLang="zh-TW" sz="1200" kern="1200" dirty="0">
                <a:solidFill>
                  <a:schemeClr val="tx1"/>
                </a:solidFill>
                <a:effectLst/>
                <a:latin typeface="+mn-lt"/>
                <a:ea typeface="+mn-ea"/>
                <a:cs typeface="+mn-cs"/>
              </a:rPr>
              <a:t>focal diversity metrics </a:t>
            </a:r>
            <a:r>
              <a:rPr lang="en-US" altLang="zh-TW" dirty="0"/>
              <a:t>(</a:t>
            </a:r>
            <a:r>
              <a:rPr lang="zh-CN" altLang="en-US" dirty="0"/>
              <a:t>像是</a:t>
            </a:r>
            <a:r>
              <a:rPr lang="en" altLang="zh-TW" dirty="0"/>
              <a:t>F-CK</a:t>
            </a:r>
            <a:r>
              <a:rPr lang="zh-TW" altLang="en" dirty="0"/>
              <a:t>、</a:t>
            </a:r>
            <a:r>
              <a:rPr lang="en" altLang="zh-TW" dirty="0"/>
              <a:t>F-BD</a:t>
            </a:r>
            <a:r>
              <a:rPr lang="zh-TW" altLang="en" dirty="0"/>
              <a:t>、</a:t>
            </a:r>
            <a:r>
              <a:rPr lang="en" altLang="zh-TW" dirty="0"/>
              <a:t>F-KW</a:t>
            </a:r>
            <a:r>
              <a:rPr lang="zh-TW" altLang="en" dirty="0"/>
              <a:t>、</a:t>
            </a:r>
            <a:r>
              <a:rPr lang="en" altLang="zh-TW" dirty="0"/>
              <a:t>F-GD</a:t>
            </a:r>
            <a:r>
              <a:rPr lang="en-US" altLang="zh-TW" dirty="0"/>
              <a:t>)</a:t>
            </a:r>
            <a:r>
              <a:rPr lang="zh-CN" altLang="en-US" dirty="0"/>
              <a:t>進行</a:t>
            </a:r>
            <a:r>
              <a:rPr lang="en-US" altLang="zh-CN" dirty="0"/>
              <a:t>focal </a:t>
            </a:r>
            <a:r>
              <a:rPr lang="en" altLang="zh-TW" dirty="0"/>
              <a:t>diversity pruning</a:t>
            </a:r>
            <a:r>
              <a:rPr lang="zh-TW" altLang="en-US" dirty="0"/>
              <a:t>會做出不同的</a:t>
            </a:r>
            <a:r>
              <a:rPr lang="en-US" altLang="zh-TW" dirty="0"/>
              <a:t>set of ensemble</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而且由所有的或大多數</a:t>
            </a:r>
            <a:r>
              <a:rPr lang="en" altLang="zh-TW" sz="1200" kern="1200" dirty="0">
                <a:solidFill>
                  <a:schemeClr val="tx1"/>
                </a:solidFill>
                <a:effectLst/>
                <a:latin typeface="+mn-lt"/>
                <a:ea typeface="+mn-ea"/>
                <a:cs typeface="+mn-cs"/>
              </a:rPr>
              <a:t>focal diversity pruning</a:t>
            </a:r>
            <a:r>
              <a:rPr lang="zh-TW" altLang="en-US" dirty="0"/>
              <a:t>演算法選擇的那些</a:t>
            </a:r>
            <a:r>
              <a:rPr lang="en-US" altLang="zh-TW" dirty="0"/>
              <a:t>set</a:t>
            </a:r>
            <a:r>
              <a:rPr lang="zh-TW" altLang="en-US" dirty="0"/>
              <a:t>往往具有更一致的表現。</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這促使作者執行</a:t>
            </a:r>
            <a:r>
              <a:rPr lang="en" altLang="zh-TW" dirty="0"/>
              <a:t>HQ</a:t>
            </a:r>
            <a:r>
              <a:rPr lang="zh-CN" altLang="en-US" dirty="0"/>
              <a:t>這個</a:t>
            </a:r>
            <a:r>
              <a:rPr lang="en-US" altLang="zh-TW" sz="1200" dirty="0">
                <a:latin typeface="+mn-lt"/>
              </a:rPr>
              <a:t>deep ensemble pruning</a:t>
            </a:r>
            <a:r>
              <a:rPr lang="zh-CN" altLang="en-US" sz="1200" dirty="0">
                <a:latin typeface="+mn-lt"/>
              </a:rPr>
              <a:t>的框架</a:t>
            </a:r>
            <a:r>
              <a:rPr lang="zh-TW" altLang="en-US" sz="1200" dirty="0">
                <a:latin typeface="+mn-lt"/>
              </a:rPr>
              <a:t>的</a:t>
            </a:r>
            <a:r>
              <a:rPr lang="zh-TW" altLang="en-US" dirty="0"/>
              <a:t>第三步，該框架透過多數決整合不同</a:t>
            </a:r>
            <a:r>
              <a:rPr lang="en-US" altLang="zh-CN" dirty="0"/>
              <a:t>focal </a:t>
            </a:r>
            <a:r>
              <a:rPr lang="en" altLang="zh-TW" dirty="0"/>
              <a:t>diversity pruning</a:t>
            </a:r>
            <a:r>
              <a:rPr lang="zh-TW" altLang="en-US" dirty="0"/>
              <a:t>演算法推薦的</a:t>
            </a:r>
            <a:r>
              <a:rPr lang="en-US" altLang="zh-TW" dirty="0"/>
              <a:t>ensemble</a:t>
            </a:r>
            <a:r>
              <a:rPr lang="zh-TW" altLang="en-US" dirty="0"/>
              <a:t>，然後根據這些</a:t>
            </a:r>
            <a:r>
              <a:rPr lang="en" altLang="zh-TW" sz="1200" kern="1200" dirty="0">
                <a:solidFill>
                  <a:schemeClr val="tx1"/>
                </a:solidFill>
                <a:effectLst/>
                <a:latin typeface="+mn-lt"/>
                <a:ea typeface="+mn-ea"/>
                <a:cs typeface="+mn-cs"/>
              </a:rPr>
              <a:t>focal diversity metrics</a:t>
            </a:r>
            <a:r>
              <a:rPr lang="zh-TW" altLang="en-US" dirty="0"/>
              <a:t>不同的</a:t>
            </a:r>
            <a:r>
              <a:rPr lang="en-US" altLang="zh-TW" dirty="0"/>
              <a:t>strength</a:t>
            </a:r>
            <a:r>
              <a:rPr lang="zh-TW" altLang="en-US" dirty="0"/>
              <a:t>進行</a:t>
            </a:r>
            <a:r>
              <a:rPr lang="en-US" altLang="zh-TW" dirty="0"/>
              <a:t>ensemble pruning</a:t>
            </a:r>
            <a:r>
              <a:rPr lang="zh-TW" altLang="en-US"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如果</a:t>
            </a:r>
            <a:r>
              <a:rPr lang="en" altLang="zh-TW" dirty="0"/>
              <a:t>Sd</a:t>
            </a:r>
            <a:r>
              <a:rPr lang="zh-CN" altLang="en-US" dirty="0"/>
              <a:t>個模型的</a:t>
            </a:r>
            <a:r>
              <a:rPr lang="en-US" altLang="zh-CN" dirty="0"/>
              <a:t>ensemble</a:t>
            </a:r>
            <a:r>
              <a:rPr lang="zh-CN" altLang="en-US" dirty="0"/>
              <a:t>在</a:t>
            </a:r>
            <a:r>
              <a:rPr lang="en" altLang="zh-TW" sz="1200" kern="1200" dirty="0">
                <a:solidFill>
                  <a:schemeClr val="tx1"/>
                </a:solidFill>
                <a:effectLst/>
                <a:latin typeface="+mn-lt"/>
                <a:ea typeface="+mn-ea"/>
                <a:cs typeface="+mn-cs"/>
              </a:rPr>
              <a:t>hierarchical pruning</a:t>
            </a:r>
            <a:r>
              <a:rPr lang="zh-CN" altLang="en-US" sz="1200" kern="1200" dirty="0">
                <a:solidFill>
                  <a:schemeClr val="tx1"/>
                </a:solidFill>
                <a:effectLst/>
                <a:latin typeface="+mn-lt"/>
                <a:ea typeface="+mn-ea"/>
                <a:cs typeface="+mn-cs"/>
              </a:rPr>
              <a:t>的時候</a:t>
            </a:r>
            <a:r>
              <a:rPr lang="zh-TW" altLang="en-US" dirty="0"/>
              <a:t>至少被三個</a:t>
            </a:r>
            <a:r>
              <a:rPr lang="en" altLang="zh-TW" sz="1200" kern="1200" dirty="0">
                <a:solidFill>
                  <a:schemeClr val="tx1"/>
                </a:solidFill>
                <a:effectLst/>
                <a:latin typeface="+mn-lt"/>
                <a:ea typeface="+mn-ea"/>
                <a:cs typeface="+mn-cs"/>
              </a:rPr>
              <a:t>focal diversity metrics</a:t>
            </a:r>
            <a:r>
              <a:rPr lang="zh-TW" altLang="en-US" dirty="0"/>
              <a:t>選擇，則將其添加到最終選擇。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a:p>
            <a:r>
              <a:rPr lang="zh-TW" altLang="en-US" dirty="0"/>
              <a:t>這個第三步驟進一步提高了基於</a:t>
            </a:r>
            <a:r>
              <a:rPr lang="en" altLang="zh-TW" dirty="0"/>
              <a:t>focal diversity</a:t>
            </a:r>
            <a:r>
              <a:rPr lang="zh-TW" altLang="en-US" dirty="0"/>
              <a:t>的</a:t>
            </a:r>
            <a:r>
              <a:rPr lang="en" altLang="zh-TW" dirty="0"/>
              <a:t>hierarchical ensemble pruning</a:t>
            </a:r>
            <a:r>
              <a:rPr lang="zh-TW" altLang="en-US" dirty="0"/>
              <a:t>在</a:t>
            </a:r>
            <a:r>
              <a:rPr lang="en-US" altLang="zh-TW" dirty="0"/>
              <a:t>ensemble</a:t>
            </a:r>
            <a:r>
              <a:rPr lang="zh-CN" altLang="en-US" dirty="0"/>
              <a:t>的</a:t>
            </a:r>
            <a:r>
              <a:rPr lang="zh-TW" altLang="en-US" dirty="0"/>
              <a:t>準確性和穩健性以及</a:t>
            </a:r>
            <a:r>
              <a:rPr lang="zh-CN" altLang="en-US" dirty="0"/>
              <a:t>執行</a:t>
            </a:r>
            <a:r>
              <a:rPr lang="zh-TW" altLang="en-US" dirty="0"/>
              <a:t>方面的效率。</a:t>
            </a:r>
          </a:p>
          <a:p>
            <a:endParaRPr kumimoji="1" lang="zh-TW" altLang="en-US" dirty="0"/>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18</a:t>
            </a:fld>
            <a:endParaRPr lang="zh-TW" altLang="en-US"/>
          </a:p>
        </p:txBody>
      </p:sp>
    </p:spTree>
    <p:extLst>
      <p:ext uri="{BB962C8B-B14F-4D97-AF65-F5344CB8AC3E}">
        <p14:creationId xmlns:p14="http://schemas.microsoft.com/office/powerpoint/2010/main" val="3635862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kern="1200" dirty="0">
                <a:solidFill>
                  <a:schemeClr val="tx1"/>
                </a:solidFill>
                <a:effectLst/>
                <a:latin typeface="+mn-lt"/>
                <a:ea typeface="+mn-ea"/>
                <a:cs typeface="+mn-cs"/>
              </a:rPr>
              <a:t>在兩個資料集</a:t>
            </a:r>
            <a:r>
              <a:rPr lang="en" altLang="zh-TW" sz="1200" b="0" kern="1200" dirty="0">
                <a:solidFill>
                  <a:schemeClr val="tx1"/>
                </a:solidFill>
                <a:effectLst/>
                <a:latin typeface="+mn-lt"/>
                <a:ea typeface="+mn-ea"/>
                <a:cs typeface="+mn-cs"/>
              </a:rPr>
              <a:t>CIFAR-10 </a:t>
            </a:r>
            <a:r>
              <a:rPr lang="zh-TW" altLang="en-US" sz="1200" b="0" kern="1200" dirty="0">
                <a:solidFill>
                  <a:schemeClr val="tx1"/>
                </a:solidFill>
                <a:effectLst/>
                <a:latin typeface="+mn-lt"/>
                <a:ea typeface="+mn-ea"/>
                <a:cs typeface="+mn-cs"/>
              </a:rPr>
              <a:t>和 </a:t>
            </a:r>
            <a:r>
              <a:rPr lang="en" altLang="zh-TW" sz="1200" b="0" kern="1200" dirty="0">
                <a:solidFill>
                  <a:schemeClr val="tx1"/>
                </a:solidFill>
                <a:effectLst/>
                <a:latin typeface="+mn-lt"/>
                <a:ea typeface="+mn-ea"/>
                <a:cs typeface="+mn-cs"/>
              </a:rPr>
              <a:t>ImageNet</a:t>
            </a:r>
            <a:r>
              <a:rPr lang="zh-TW" altLang="en-US" sz="1200" b="0" kern="1200" dirty="0">
                <a:solidFill>
                  <a:schemeClr val="tx1"/>
                </a:solidFill>
                <a:effectLst/>
                <a:latin typeface="+mn-lt"/>
                <a:ea typeface="+mn-ea"/>
                <a:cs typeface="+mn-cs"/>
              </a:rPr>
              <a:t>上進行了廣泛的實驗，每個資料集都有 </a:t>
            </a:r>
            <a:r>
              <a:rPr lang="en-US" altLang="zh-TW" sz="1200" b="0" kern="1200" dirty="0">
                <a:solidFill>
                  <a:schemeClr val="tx1"/>
                </a:solidFill>
                <a:effectLst/>
                <a:latin typeface="+mn-lt"/>
                <a:ea typeface="+mn-ea"/>
                <a:cs typeface="+mn-cs"/>
              </a:rPr>
              <a:t>10 </a:t>
            </a:r>
            <a:r>
              <a:rPr lang="zh-TW" altLang="en-US" sz="1200" b="0" kern="1200" dirty="0">
                <a:solidFill>
                  <a:schemeClr val="tx1"/>
                </a:solidFill>
                <a:effectLst/>
                <a:latin typeface="+mn-lt"/>
                <a:ea typeface="+mn-ea"/>
                <a:cs typeface="+mn-cs"/>
              </a:rPr>
              <a:t>個個別的模型</a:t>
            </a:r>
            <a:r>
              <a:rPr lang="zh-TW" altLang="en" sz="1200" b="0" kern="1200" dirty="0">
                <a:solidFill>
                  <a:schemeClr val="tx1"/>
                </a:solidFill>
                <a:effectLst/>
                <a:latin typeface="+mn-lt"/>
                <a:ea typeface="+mn-ea"/>
                <a:cs typeface="+mn-cs"/>
              </a:rPr>
              <a:t>。</a:t>
            </a:r>
            <a:endParaRPr lang="en" altLang="zh-TW" sz="1200" b="0" kern="1200" dirty="0">
              <a:solidFill>
                <a:schemeClr val="tx1"/>
              </a:solidFill>
              <a:effectLst/>
              <a:latin typeface="+mn-lt"/>
              <a:ea typeface="+mn-ea"/>
              <a:cs typeface="+mn-cs"/>
            </a:endParaRPr>
          </a:p>
          <a:p>
            <a:r>
              <a:rPr lang="zh-TW" altLang="en-US" sz="1200" b="0" kern="1200" dirty="0">
                <a:solidFill>
                  <a:schemeClr val="tx1"/>
                </a:solidFill>
                <a:effectLst/>
                <a:latin typeface="+mn-lt"/>
                <a:ea typeface="+mn-ea"/>
                <a:cs typeface="+mn-cs"/>
              </a:rPr>
              <a:t>所有實驗均在 </a:t>
            </a:r>
            <a:r>
              <a:rPr lang="en" altLang="zh-TW" sz="1200" b="0" kern="1200" dirty="0">
                <a:solidFill>
                  <a:schemeClr val="tx1"/>
                </a:solidFill>
                <a:effectLst/>
                <a:latin typeface="+mn-lt"/>
                <a:ea typeface="+mn-ea"/>
                <a:cs typeface="+mn-cs"/>
              </a:rPr>
              <a:t>Ubuntu 16.04 </a:t>
            </a:r>
            <a:r>
              <a:rPr lang="zh-TW" altLang="en-US" sz="1200" b="0" kern="1200" dirty="0">
                <a:solidFill>
                  <a:schemeClr val="tx1"/>
                </a:solidFill>
                <a:effectLst/>
                <a:latin typeface="+mn-lt"/>
                <a:ea typeface="+mn-ea"/>
                <a:cs typeface="+mn-cs"/>
              </a:rPr>
              <a:t>上配備 </a:t>
            </a:r>
            <a:r>
              <a:rPr lang="en" altLang="zh-TW" sz="1200" b="0" kern="1200" dirty="0">
                <a:solidFill>
                  <a:schemeClr val="tx1"/>
                </a:solidFill>
                <a:effectLst/>
                <a:latin typeface="+mn-lt"/>
                <a:ea typeface="+mn-ea"/>
                <a:cs typeface="+mn-cs"/>
              </a:rPr>
              <a:t>Nvidia GTX 1080Ti </a:t>
            </a:r>
            <a:r>
              <a:rPr lang="zh-TW" altLang="en-US" sz="1200" b="0" kern="1200" dirty="0">
                <a:solidFill>
                  <a:schemeClr val="tx1"/>
                </a:solidFill>
                <a:effectLst/>
                <a:latin typeface="+mn-lt"/>
                <a:ea typeface="+mn-ea"/>
                <a:cs typeface="+mn-cs"/>
              </a:rPr>
              <a:t>的 </a:t>
            </a:r>
            <a:r>
              <a:rPr lang="en" altLang="zh-TW" sz="1200" b="0" kern="1200" dirty="0">
                <a:solidFill>
                  <a:schemeClr val="tx1"/>
                </a:solidFill>
                <a:effectLst/>
                <a:latin typeface="+mn-lt"/>
                <a:ea typeface="+mn-ea"/>
                <a:cs typeface="+mn-cs"/>
              </a:rPr>
              <a:t>Intel Xeon E5-1620 </a:t>
            </a:r>
            <a:r>
              <a:rPr lang="zh-TW" altLang="en-US" sz="1200" b="0" kern="1200" dirty="0">
                <a:solidFill>
                  <a:schemeClr val="tx1"/>
                </a:solidFill>
                <a:effectLst/>
                <a:latin typeface="+mn-lt"/>
                <a:ea typeface="+mn-ea"/>
                <a:cs typeface="+mn-cs"/>
              </a:rPr>
              <a:t>伺服器上進行。</a:t>
            </a:r>
          </a:p>
          <a:p>
            <a:r>
              <a:rPr lang="zh-TW" altLang="en-US" sz="1200" b="0" kern="1200" dirty="0">
                <a:solidFill>
                  <a:schemeClr val="tx1"/>
                </a:solidFill>
                <a:effectLst/>
                <a:latin typeface="+mn-lt"/>
                <a:ea typeface="+mn-ea"/>
                <a:cs typeface="+mn-cs"/>
              </a:rPr>
              <a:t>我們的</a:t>
            </a:r>
            <a:r>
              <a:rPr lang="en" altLang="zh-TW" dirty="0"/>
              <a:t>hierarchical pruning</a:t>
            </a:r>
            <a:r>
              <a:rPr lang="zh-TW" altLang="en-US" sz="1200" b="0" kern="1200" dirty="0">
                <a:solidFill>
                  <a:schemeClr val="tx1"/>
                </a:solidFill>
                <a:effectLst/>
                <a:latin typeface="+mn-lt"/>
                <a:ea typeface="+mn-ea"/>
                <a:cs typeface="+mn-cs"/>
              </a:rPr>
              <a:t>演算法包括一個超參數</a:t>
            </a:r>
            <a:r>
              <a:rPr lang="el-GR" altLang="zh-TW" sz="1200" b="0" kern="1200" dirty="0">
                <a:solidFill>
                  <a:schemeClr val="tx1"/>
                </a:solidFill>
                <a:effectLst/>
                <a:latin typeface="+mn-lt"/>
                <a:ea typeface="+mn-ea"/>
                <a:cs typeface="+mn-cs"/>
              </a:rPr>
              <a:t>β</a:t>
            </a:r>
            <a:r>
              <a:rPr lang="zh-TW" altLang="en-US" sz="1200" b="0" kern="1200" dirty="0">
                <a:solidFill>
                  <a:schemeClr val="tx1"/>
                </a:solidFill>
                <a:effectLst/>
                <a:latin typeface="+mn-lt"/>
                <a:ea typeface="+mn-ea"/>
                <a:cs typeface="+mn-cs"/>
              </a:rPr>
              <a:t>來決定每次</a:t>
            </a:r>
            <a:r>
              <a:rPr lang="en-US" altLang="zh-TW" sz="1200" b="0" kern="1200" dirty="0">
                <a:solidFill>
                  <a:schemeClr val="tx1"/>
                </a:solidFill>
                <a:effectLst/>
                <a:latin typeface="+mn-lt"/>
                <a:ea typeface="+mn-ea"/>
                <a:cs typeface="+mn-cs"/>
              </a:rPr>
              <a:t>prune</a:t>
            </a:r>
            <a:r>
              <a:rPr lang="zh-TW" altLang="en-US" sz="1200" b="0" kern="1200" dirty="0">
                <a:solidFill>
                  <a:schemeClr val="tx1"/>
                </a:solidFill>
                <a:effectLst/>
                <a:latin typeface="+mn-lt"/>
                <a:ea typeface="+mn-ea"/>
                <a:cs typeface="+mn-cs"/>
              </a:rPr>
              <a:t>多少百分比。</a:t>
            </a:r>
          </a:p>
          <a:p>
            <a:r>
              <a:rPr lang="zh-TW" altLang="en-US" sz="1200" b="0" kern="1200" dirty="0">
                <a:solidFill>
                  <a:schemeClr val="tx1"/>
                </a:solidFill>
                <a:effectLst/>
                <a:latin typeface="+mn-lt"/>
                <a:ea typeface="+mn-ea"/>
                <a:cs typeface="+mn-cs"/>
              </a:rPr>
              <a:t>因為較高的 </a:t>
            </a:r>
            <a:r>
              <a:rPr lang="el-GR" altLang="zh-TW" sz="1200" b="0" kern="1200" dirty="0">
                <a:solidFill>
                  <a:schemeClr val="tx1"/>
                </a:solidFill>
                <a:effectLst/>
                <a:latin typeface="+mn-lt"/>
                <a:ea typeface="+mn-ea"/>
                <a:cs typeface="+mn-cs"/>
              </a:rPr>
              <a:t>β </a:t>
            </a:r>
            <a:r>
              <a:rPr lang="zh-TW" altLang="en-US" sz="1200" b="0" kern="1200" dirty="0">
                <a:solidFill>
                  <a:schemeClr val="tx1"/>
                </a:solidFill>
                <a:effectLst/>
                <a:latin typeface="+mn-lt"/>
                <a:ea typeface="+mn-ea"/>
                <a:cs typeface="+mn-cs"/>
              </a:rPr>
              <a:t>會刪除更多的集合，導致</a:t>
            </a:r>
            <a:r>
              <a:rPr lang="en-US" altLang="zh-TW" sz="1200" b="0" kern="1200" dirty="0">
                <a:solidFill>
                  <a:schemeClr val="tx1"/>
                </a:solidFill>
                <a:effectLst/>
                <a:latin typeface="+mn-lt"/>
                <a:ea typeface="+mn-ea"/>
                <a:cs typeface="+mn-cs"/>
              </a:rPr>
              <a:t>recall</a:t>
            </a:r>
            <a:r>
              <a:rPr lang="zh-CN" altLang="en-US" sz="1200" b="0" kern="1200" dirty="0">
                <a:solidFill>
                  <a:schemeClr val="tx1"/>
                </a:solidFill>
                <a:effectLst/>
                <a:latin typeface="+mn-lt"/>
                <a:ea typeface="+mn-ea"/>
                <a:cs typeface="+mn-cs"/>
              </a:rPr>
              <a:t>較</a:t>
            </a:r>
            <a:r>
              <a:rPr lang="zh-TW" altLang="en-US" sz="1200" b="0" kern="1200" dirty="0">
                <a:solidFill>
                  <a:schemeClr val="tx1"/>
                </a:solidFill>
                <a:effectLst/>
                <a:latin typeface="+mn-lt"/>
                <a:ea typeface="+mn-ea"/>
                <a:cs typeface="+mn-cs"/>
              </a:rPr>
              <a:t>低。</a:t>
            </a:r>
          </a:p>
          <a:p>
            <a:r>
              <a:rPr lang="zh-TW" altLang="en-US" sz="1200" b="0" kern="1200" dirty="0">
                <a:solidFill>
                  <a:schemeClr val="tx1"/>
                </a:solidFill>
                <a:effectLst/>
                <a:latin typeface="+mn-lt"/>
                <a:ea typeface="+mn-ea"/>
                <a:cs typeface="+mn-cs"/>
              </a:rPr>
              <a:t>高</a:t>
            </a:r>
            <a:r>
              <a:rPr lang="en-US" altLang="zh-TW" sz="1200" b="0" kern="1200" dirty="0">
                <a:solidFill>
                  <a:schemeClr val="tx1"/>
                </a:solidFill>
                <a:effectLst/>
                <a:latin typeface="+mn-lt"/>
                <a:ea typeface="+mn-ea"/>
                <a:cs typeface="+mn-cs"/>
              </a:rPr>
              <a:t>precision</a:t>
            </a:r>
            <a:r>
              <a:rPr lang="zh-TW" altLang="en-US" sz="1200" b="0" kern="1200" dirty="0">
                <a:solidFill>
                  <a:schemeClr val="tx1"/>
                </a:solidFill>
                <a:effectLst/>
                <a:latin typeface="+mn-lt"/>
                <a:ea typeface="+mn-ea"/>
                <a:cs typeface="+mn-cs"/>
              </a:rPr>
              <a:t>表明</a:t>
            </a:r>
            <a:r>
              <a:rPr lang="en-US" altLang="zh-TW" sz="1200" b="0" kern="1200" dirty="0">
                <a:solidFill>
                  <a:schemeClr val="tx1"/>
                </a:solidFill>
                <a:effectLst/>
                <a:latin typeface="+mn-lt"/>
                <a:ea typeface="+mn-ea"/>
                <a:cs typeface="+mn-cs"/>
              </a:rPr>
              <a:t>pruning</a:t>
            </a:r>
            <a:r>
              <a:rPr lang="zh-TW" altLang="en-US" sz="1200" b="0" kern="1200" dirty="0">
                <a:solidFill>
                  <a:schemeClr val="tx1"/>
                </a:solidFill>
                <a:effectLst/>
                <a:latin typeface="+mn-lt"/>
                <a:ea typeface="+mn-ea"/>
                <a:cs typeface="+mn-cs"/>
              </a:rPr>
              <a:t>演算法能夠正確有效地識別小的</a:t>
            </a:r>
            <a:r>
              <a:rPr lang="en-US" altLang="zh-TW" sz="1200" b="0" kern="1200" dirty="0">
                <a:solidFill>
                  <a:schemeClr val="tx1"/>
                </a:solidFill>
                <a:effectLst/>
                <a:latin typeface="+mn-lt"/>
                <a:ea typeface="+mn-ea"/>
                <a:cs typeface="+mn-cs"/>
              </a:rPr>
              <a:t>ensemble</a:t>
            </a:r>
            <a:endParaRPr lang="zh-TW" altLang="en-US" sz="1200" b="0" kern="1200" dirty="0">
              <a:solidFill>
                <a:schemeClr val="tx1"/>
              </a:solidFill>
              <a:effectLst/>
              <a:latin typeface="+mn-lt"/>
              <a:ea typeface="+mn-ea"/>
              <a:cs typeface="+mn-cs"/>
            </a:endParaRPr>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20</a:t>
            </a:fld>
            <a:endParaRPr lang="zh-TW" altLang="en-US"/>
          </a:p>
        </p:txBody>
      </p:sp>
    </p:spTree>
    <p:extLst>
      <p:ext uri="{BB962C8B-B14F-4D97-AF65-F5344CB8AC3E}">
        <p14:creationId xmlns:p14="http://schemas.microsoft.com/office/powerpoint/2010/main" val="7150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TW" altLang="en-US" dirty="0"/>
              <a:t>這張圖顯示</a:t>
            </a:r>
            <a:r>
              <a:rPr kumimoji="1" lang="el-GR" altLang="zh-TW" dirty="0"/>
              <a:t>β </a:t>
            </a:r>
            <a:r>
              <a:rPr kumimoji="1" lang="zh-TW" altLang="en-US" dirty="0"/>
              <a:t>從 </a:t>
            </a:r>
            <a:r>
              <a:rPr kumimoji="1" lang="en-US" altLang="zh-TW" dirty="0"/>
              <a:t>5% </a:t>
            </a:r>
            <a:r>
              <a:rPr kumimoji="1" lang="zh-TW" altLang="en-US" dirty="0"/>
              <a:t>到 </a:t>
            </a:r>
            <a:r>
              <a:rPr kumimoji="1" lang="en-US" altLang="zh-TW" dirty="0"/>
              <a:t>35% </a:t>
            </a:r>
            <a:r>
              <a:rPr kumimoji="1" lang="zh-TW" altLang="en-US" dirty="0"/>
              <a:t>分別對 </a:t>
            </a:r>
            <a:r>
              <a:rPr kumimoji="1" lang="en" altLang="zh-TW" dirty="0"/>
              <a:t>CIFAR-10 </a:t>
            </a:r>
            <a:r>
              <a:rPr kumimoji="1" lang="zh-TW" altLang="en-US" dirty="0"/>
              <a:t>和 </a:t>
            </a:r>
            <a:r>
              <a:rPr kumimoji="1" lang="en" altLang="zh-TW" dirty="0"/>
              <a:t>ImageNet </a:t>
            </a:r>
            <a:r>
              <a:rPr kumimoji="1" lang="zh-TW" altLang="en-US" dirty="0"/>
              <a:t>的表現之影響，</a:t>
            </a:r>
            <a:r>
              <a:rPr lang="en" altLang="zh-TW" sz="1200" kern="1200" dirty="0">
                <a:solidFill>
                  <a:schemeClr val="tx1"/>
                </a:solidFill>
                <a:effectLst/>
                <a:latin typeface="+mn-lt"/>
                <a:ea typeface="+mn-ea"/>
                <a:cs typeface="+mn-cs"/>
              </a:rPr>
              <a:t>hierarchical pruning</a:t>
            </a:r>
            <a:r>
              <a:rPr kumimoji="1" lang="zh-TW" altLang="en-US" dirty="0"/>
              <a:t>是用 </a:t>
            </a:r>
            <a:r>
              <a:rPr kumimoji="1" lang="en" altLang="zh-TW" dirty="0"/>
              <a:t>F-GD</a:t>
            </a:r>
            <a:r>
              <a:rPr kumimoji="1" lang="zh-TW" altLang="en-US" dirty="0"/>
              <a:t> 且所需的</a:t>
            </a:r>
            <a:r>
              <a:rPr kumimoji="1" lang="en-US" altLang="zh-TW" dirty="0"/>
              <a:t>ensemble</a:t>
            </a:r>
            <a:r>
              <a:rPr kumimoji="1" lang="zh-TW" altLang="en-US" dirty="0"/>
              <a:t>大小</a:t>
            </a:r>
            <a:r>
              <a:rPr kumimoji="1" lang="en-US" altLang="zh-TW" dirty="0"/>
              <a:t>Sd</a:t>
            </a:r>
            <a:r>
              <a:rPr kumimoji="1" lang="zh-TW" altLang="en-US" dirty="0"/>
              <a:t>為</a:t>
            </a:r>
            <a:r>
              <a:rPr kumimoji="1" lang="en" altLang="zh-TW" dirty="0"/>
              <a:t>4</a:t>
            </a:r>
            <a:r>
              <a:rPr kumimoji="1" lang="zh-TW" altLang="en" dirty="0"/>
              <a:t>。</a:t>
            </a:r>
          </a:p>
          <a:p>
            <a:r>
              <a:rPr kumimoji="1" lang="zh-TW" altLang="en-US" dirty="0"/>
              <a:t>隨著</a:t>
            </a:r>
            <a:r>
              <a:rPr kumimoji="1" lang="el-GR" altLang="zh-TW" dirty="0"/>
              <a:t>β</a:t>
            </a:r>
            <a:r>
              <a:rPr kumimoji="1" lang="zh-TW" altLang="en-US" dirty="0"/>
              <a:t>的增加，確實能看到兩個資料集的</a:t>
            </a:r>
            <a:r>
              <a:rPr kumimoji="1" lang="en-US" altLang="zh-TW" dirty="0"/>
              <a:t>precision</a:t>
            </a:r>
            <a:r>
              <a:rPr kumimoji="1" lang="zh-TW" altLang="en-US" dirty="0"/>
              <a:t>增加，而</a:t>
            </a:r>
            <a:r>
              <a:rPr kumimoji="1" lang="en-US" altLang="zh-TW" dirty="0"/>
              <a:t>recall</a:t>
            </a:r>
            <a:r>
              <a:rPr kumimoji="1" lang="zh-TW" altLang="en-US" dirty="0"/>
              <a:t>降低。</a:t>
            </a:r>
          </a:p>
          <a:p>
            <a:r>
              <a:rPr kumimoji="1" lang="zh-TW" altLang="en-US" dirty="0"/>
              <a:t>那他們設計</a:t>
            </a:r>
            <a:r>
              <a:rPr lang="en" altLang="zh-TW" sz="1200" kern="1200" dirty="0">
                <a:solidFill>
                  <a:schemeClr val="tx1"/>
                </a:solidFill>
                <a:effectLst/>
                <a:latin typeface="+mn-lt"/>
                <a:ea typeface="+mn-ea"/>
                <a:cs typeface="+mn-cs"/>
              </a:rPr>
              <a:t>hierarchical pruning</a:t>
            </a:r>
            <a:r>
              <a:rPr kumimoji="1" lang="zh-TW" altLang="en-US" dirty="0"/>
              <a:t>的目標是實現非常高的精確度和良好的召回率，像是</a:t>
            </a:r>
            <a:r>
              <a:rPr kumimoji="1" lang="en" altLang="zh-TW" dirty="0"/>
              <a:t>CIFAR-10</a:t>
            </a:r>
            <a:r>
              <a:rPr kumimoji="1" lang="zh-TW" altLang="en" dirty="0"/>
              <a:t>，</a:t>
            </a:r>
            <a:r>
              <a:rPr kumimoji="1" lang="zh-TW" altLang="en-US" dirty="0"/>
              <a:t>我們選擇</a:t>
            </a:r>
            <a:r>
              <a:rPr kumimoji="1" lang="el-GR" altLang="zh-TW" dirty="0"/>
              <a:t>β = 20%</a:t>
            </a:r>
            <a:r>
              <a:rPr kumimoji="1" lang="zh-CN" altLang="en-US" dirty="0"/>
              <a:t>得到</a:t>
            </a:r>
            <a:r>
              <a:rPr kumimoji="1" lang="en-US" altLang="zh-TW" dirty="0"/>
              <a:t>pruning precision81.25%, recall 52%</a:t>
            </a:r>
            <a:r>
              <a:rPr kumimoji="1" lang="zh-TW" altLang="en-US" dirty="0"/>
              <a:t>。</a:t>
            </a:r>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21</a:t>
            </a:fld>
            <a:endParaRPr lang="zh-TW" altLang="en-US"/>
          </a:p>
        </p:txBody>
      </p:sp>
    </p:spTree>
    <p:extLst>
      <p:ext uri="{BB962C8B-B14F-4D97-AF65-F5344CB8AC3E}">
        <p14:creationId xmlns:p14="http://schemas.microsoft.com/office/powerpoint/2010/main" val="3920922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Table</a:t>
            </a:r>
            <a:r>
              <a:rPr kumimoji="1" lang="zh-TW" altLang="en-US" dirty="0"/>
              <a:t> </a:t>
            </a:r>
            <a:r>
              <a:rPr kumimoji="1" lang="en" altLang="zh-TW" dirty="0"/>
              <a:t>IV </a:t>
            </a:r>
            <a:r>
              <a:rPr kumimoji="1" lang="zh-TW" altLang="en-US" dirty="0"/>
              <a:t>顯示了他們對 </a:t>
            </a:r>
            <a:r>
              <a:rPr kumimoji="1" lang="en" altLang="zh-TW" dirty="0"/>
              <a:t>CIFAR-10 </a:t>
            </a:r>
            <a:r>
              <a:rPr kumimoji="1" lang="zh-TW" altLang="en-US" dirty="0"/>
              <a:t>的</a:t>
            </a:r>
            <a:r>
              <a:rPr kumimoji="1" lang="en-US" altLang="zh-TW" dirty="0"/>
              <a:t>hierarchical pruning</a:t>
            </a:r>
            <a:r>
              <a:rPr kumimoji="1" lang="zh-CN" altLang="en-US" dirty="0"/>
              <a:t>的結果</a:t>
            </a:r>
            <a:r>
              <a:rPr kumimoji="1" lang="zh-TW" altLang="en-US" dirty="0"/>
              <a:t>，其中</a:t>
            </a:r>
            <a:r>
              <a:rPr kumimoji="1" lang="el-GR" altLang="zh-TW" dirty="0"/>
              <a:t>β = 10% </a:t>
            </a:r>
            <a:r>
              <a:rPr kumimoji="1" lang="zh-TW" altLang="en-US" dirty="0"/>
              <a:t>和 </a:t>
            </a:r>
            <a:r>
              <a:rPr kumimoji="1" lang="en" altLang="zh-TW" dirty="0"/>
              <a:t>Sd = 5</a:t>
            </a:r>
            <a:r>
              <a:rPr kumimoji="1" lang="zh-TW" altLang="en-US" dirty="0"/>
              <a:t>。</a:t>
            </a:r>
          </a:p>
          <a:p>
            <a:r>
              <a:rPr kumimoji="1" lang="zh-TW" altLang="en-US" dirty="0"/>
              <a:t>他們觀察到</a:t>
            </a:r>
          </a:p>
          <a:p>
            <a:r>
              <a:rPr kumimoji="1" lang="en-US" altLang="zh-TW" dirty="0"/>
              <a:t>1. </a:t>
            </a:r>
            <a:r>
              <a:rPr kumimoji="1" lang="zh-TW" altLang="en-US" dirty="0"/>
              <a:t>四</a:t>
            </a:r>
            <a:r>
              <a:rPr kumimoji="1" lang="zh-CN" altLang="en-US" dirty="0"/>
              <a:t>個</a:t>
            </a:r>
            <a:r>
              <a:rPr kumimoji="1" lang="en-US" altLang="zh-CN" dirty="0"/>
              <a:t>pruning</a:t>
            </a:r>
            <a:r>
              <a:rPr kumimoji="1" lang="zh-TW" altLang="en-US" dirty="0"/>
              <a:t>方法中都表現很好，在識別具有相同或較小的</a:t>
            </a:r>
            <a:r>
              <a:rPr kumimoji="1" lang="en-US" altLang="zh-TW" dirty="0"/>
              <a:t>ensemble</a:t>
            </a:r>
            <a:r>
              <a:rPr kumimoji="1" lang="zh-TW" altLang="en-US" dirty="0"/>
              <a:t>時，</a:t>
            </a:r>
            <a:r>
              <a:rPr kumimoji="1" lang="en-US" altLang="zh-TW" dirty="0"/>
              <a:t>precision</a:t>
            </a:r>
            <a:r>
              <a:rPr kumimoji="1" lang="zh-CN" altLang="en-US" dirty="0"/>
              <a:t>皆</a:t>
            </a:r>
            <a:r>
              <a:rPr kumimoji="1" lang="zh-TW" altLang="en-US" dirty="0"/>
              <a:t>超過 </a:t>
            </a:r>
            <a:r>
              <a:rPr kumimoji="1" lang="en-US" altLang="zh-TW" dirty="0"/>
              <a:t>85%</a:t>
            </a:r>
            <a:r>
              <a:rPr kumimoji="1" lang="zh-TW" altLang="en-US" dirty="0"/>
              <a:t>。</a:t>
            </a:r>
          </a:p>
          <a:p>
            <a:r>
              <a:rPr kumimoji="1" lang="en-US" altLang="zh-TW" dirty="0"/>
              <a:t>2. </a:t>
            </a:r>
            <a:r>
              <a:rPr kumimoji="1" lang="zh-TW" altLang="en-US" dirty="0"/>
              <a:t>基於多數決的</a:t>
            </a:r>
            <a:r>
              <a:rPr kumimoji="1" lang="en-US" altLang="zh-TW" dirty="0"/>
              <a:t>pruning</a:t>
            </a:r>
            <a:r>
              <a:rPr kumimoji="1" lang="zh-TW" altLang="en-US" dirty="0"/>
              <a:t>以</a:t>
            </a:r>
            <a:r>
              <a:rPr kumimoji="1" lang="en" altLang="zh-TW" dirty="0"/>
              <a:t>MAJ-F</a:t>
            </a:r>
            <a:r>
              <a:rPr kumimoji="1" lang="zh-TW" altLang="en-US" dirty="0"/>
              <a:t>表示，</a:t>
            </a:r>
            <a:r>
              <a:rPr kumimoji="1" lang="en-US" altLang="zh-TW" dirty="0"/>
              <a:t>precision</a:t>
            </a:r>
            <a:r>
              <a:rPr kumimoji="1" lang="zh-CN" altLang="en-US" dirty="0"/>
              <a:t>為</a:t>
            </a:r>
            <a:r>
              <a:rPr kumimoji="1" lang="en-US" altLang="zh-TW" dirty="0"/>
              <a:t>100%</a:t>
            </a:r>
            <a:r>
              <a:rPr kumimoji="1" lang="zh-TW" altLang="en-US" dirty="0"/>
              <a:t>。與</a:t>
            </a:r>
            <a:r>
              <a:rPr kumimoji="1" lang="en" altLang="zh-TW" dirty="0"/>
              <a:t>F-BD</a:t>
            </a:r>
            <a:r>
              <a:rPr kumimoji="1" lang="zh-TW" altLang="en" dirty="0"/>
              <a:t>、</a:t>
            </a:r>
            <a:r>
              <a:rPr kumimoji="1" lang="en" altLang="zh-TW" dirty="0"/>
              <a:t>F-GD</a:t>
            </a:r>
            <a:r>
              <a:rPr kumimoji="1" lang="zh-TW" altLang="en" dirty="0"/>
              <a:t>、</a:t>
            </a:r>
            <a:r>
              <a:rPr kumimoji="1" lang="en" altLang="zh-TW" dirty="0"/>
              <a:t>F-KW </a:t>
            </a:r>
            <a:r>
              <a:rPr kumimoji="1" lang="zh-TW" altLang="en-US" dirty="0"/>
              <a:t>相比，其</a:t>
            </a:r>
            <a:r>
              <a:rPr kumimoji="1" lang="en-US" altLang="zh-TW" dirty="0"/>
              <a:t>recall</a:t>
            </a:r>
            <a:r>
              <a:rPr kumimoji="1" lang="zh-TW" altLang="en-US" dirty="0"/>
              <a:t>略低，因為它刪除了未被至少三個</a:t>
            </a:r>
            <a:r>
              <a:rPr kumimoji="1" lang="en-US" altLang="zh-TW" dirty="0"/>
              <a:t>focal diversity metrics</a:t>
            </a:r>
            <a:r>
              <a:rPr kumimoji="1" lang="zh-TW" altLang="en-US" dirty="0"/>
              <a:t>選擇的</a:t>
            </a:r>
            <a:r>
              <a:rPr kumimoji="1" lang="en-US" altLang="zh-TW" dirty="0"/>
              <a:t>set</a:t>
            </a:r>
            <a:r>
              <a:rPr kumimoji="1" lang="zh-TW" altLang="en-US" dirty="0"/>
              <a:t>，</a:t>
            </a:r>
            <a:r>
              <a:rPr kumimoji="1" lang="zh-CN" altLang="en-US" dirty="0"/>
              <a:t>所以</a:t>
            </a:r>
            <a:r>
              <a:rPr kumimoji="1" lang="zh-TW" altLang="en-US" dirty="0"/>
              <a:t>所選集合的數量比較少。</a:t>
            </a:r>
            <a:endParaRPr kumimoji="1" lang="en-US" altLang="zh-TW" dirty="0"/>
          </a:p>
          <a:p>
            <a:endParaRPr kumimoji="1" lang="en-US" altLang="zh-TW" dirty="0"/>
          </a:p>
          <a:p>
            <a:r>
              <a:rPr kumimoji="1" lang="en-US" altLang="zh-TW" dirty="0"/>
              <a:t>Table</a:t>
            </a:r>
            <a:r>
              <a:rPr kumimoji="1" lang="zh-TW" altLang="en-US" dirty="0"/>
              <a:t> </a:t>
            </a:r>
            <a:r>
              <a:rPr kumimoji="1" lang="en" altLang="zh-TW" dirty="0"/>
              <a:t>V </a:t>
            </a:r>
            <a:r>
              <a:rPr kumimoji="1" lang="zh-TW" altLang="en-US" dirty="0"/>
              <a:t>更改 </a:t>
            </a:r>
            <a:r>
              <a:rPr kumimoji="1" lang="el-GR" altLang="zh-TW" dirty="0"/>
              <a:t>β = 20% </a:t>
            </a:r>
            <a:r>
              <a:rPr kumimoji="1" lang="zh-TW" altLang="en-US" dirty="0"/>
              <a:t>和 </a:t>
            </a:r>
            <a:r>
              <a:rPr kumimoji="1" lang="en" altLang="zh-TW" dirty="0"/>
              <a:t>Sd = 4</a:t>
            </a:r>
          </a:p>
          <a:p>
            <a:r>
              <a:rPr kumimoji="1" lang="zh-TW" altLang="en-US" dirty="0"/>
              <a:t>可以看到</a:t>
            </a:r>
            <a:r>
              <a:rPr kumimoji="1" lang="en" altLang="zh-TW" dirty="0"/>
              <a:t>F-CK</a:t>
            </a:r>
            <a:r>
              <a:rPr kumimoji="1" lang="zh-TW" altLang="en-US" dirty="0"/>
              <a:t>的表現比其他三個差，而多數決方法</a:t>
            </a:r>
            <a:r>
              <a:rPr kumimoji="1" lang="en" altLang="zh-TW" dirty="0"/>
              <a:t>MAJ-F</a:t>
            </a:r>
            <a:r>
              <a:rPr kumimoji="1" lang="zh-TW" altLang="en-US" dirty="0"/>
              <a:t>仍然可以保持</a:t>
            </a:r>
            <a:r>
              <a:rPr kumimoji="1" lang="en-US" altLang="zh-TW" dirty="0"/>
              <a:t>81.25%</a:t>
            </a:r>
            <a:r>
              <a:rPr kumimoji="1" lang="zh-TW" altLang="en-US" dirty="0"/>
              <a:t>的</a:t>
            </a:r>
            <a:r>
              <a:rPr kumimoji="1" lang="en-US" altLang="zh-TW" dirty="0"/>
              <a:t>precision</a:t>
            </a:r>
            <a:r>
              <a:rPr kumimoji="1" lang="zh-TW" altLang="en-US" dirty="0"/>
              <a:t>。</a:t>
            </a:r>
            <a:br>
              <a:rPr kumimoji="1" lang="en-US" altLang="zh-TW" dirty="0"/>
            </a:br>
            <a:br>
              <a:rPr kumimoji="1" lang="en-US" altLang="zh-TW" dirty="0"/>
            </a:br>
            <a:r>
              <a:rPr kumimoji="1" lang="en-US" altLang="zh-TW" dirty="0"/>
              <a:t>Table VI </a:t>
            </a:r>
            <a:r>
              <a:rPr kumimoji="1" lang="zh-TW" altLang="en-US" dirty="0"/>
              <a:t>顯示了他們對 </a:t>
            </a:r>
            <a:r>
              <a:rPr kumimoji="1" lang="en" altLang="zh-TW" dirty="0"/>
              <a:t>CIFAR-10 </a:t>
            </a:r>
            <a:r>
              <a:rPr kumimoji="1" lang="zh-TW" altLang="en-US" dirty="0"/>
              <a:t>的</a:t>
            </a:r>
            <a:r>
              <a:rPr kumimoji="1" lang="en-US" altLang="zh-TW" dirty="0"/>
              <a:t>hierarchical pruning</a:t>
            </a:r>
            <a:r>
              <a:rPr kumimoji="1" lang="zh-CN" altLang="en-US" dirty="0"/>
              <a:t>的結果</a:t>
            </a:r>
            <a:r>
              <a:rPr kumimoji="1" lang="zh-TW" altLang="en-US" dirty="0"/>
              <a:t>，其中</a:t>
            </a:r>
            <a:r>
              <a:rPr kumimoji="1" lang="el-GR" altLang="zh-TW" dirty="0"/>
              <a:t>β = 10% </a:t>
            </a:r>
            <a:r>
              <a:rPr kumimoji="1" lang="zh-TW" altLang="en-US" dirty="0"/>
              <a:t>和 </a:t>
            </a:r>
            <a:r>
              <a:rPr kumimoji="1" lang="en" altLang="zh-TW" dirty="0"/>
              <a:t>Sd = 5</a:t>
            </a:r>
            <a:r>
              <a:rPr kumimoji="1" lang="zh-TW" altLang="en-US" dirty="0"/>
              <a:t>。</a:t>
            </a:r>
          </a:p>
          <a:p>
            <a:r>
              <a:rPr kumimoji="1" lang="zh-CN" altLang="en-US" dirty="0"/>
              <a:t>可以看到</a:t>
            </a:r>
            <a:endParaRPr kumimoji="1" lang="zh-TW" altLang="en-US" dirty="0"/>
          </a:p>
          <a:p>
            <a:r>
              <a:rPr kumimoji="1" lang="en-US" altLang="zh-TW" dirty="0"/>
              <a:t>1. F-BD</a:t>
            </a:r>
            <a:r>
              <a:rPr kumimoji="1" lang="zh-TW" altLang="en-US" dirty="0"/>
              <a:t>、</a:t>
            </a:r>
            <a:r>
              <a:rPr kumimoji="1" lang="en-US" altLang="zh-TW" dirty="0"/>
              <a:t>F-KW</a:t>
            </a:r>
            <a:r>
              <a:rPr kumimoji="1" lang="zh-TW" altLang="en-US" dirty="0"/>
              <a:t>和</a:t>
            </a:r>
            <a:r>
              <a:rPr kumimoji="1" lang="en-US" altLang="zh-TW" dirty="0"/>
              <a:t>F-GD</a:t>
            </a:r>
            <a:r>
              <a:rPr kumimoji="1" lang="zh-TW" altLang="en-US" dirty="0"/>
              <a:t>都達到了</a:t>
            </a:r>
            <a:r>
              <a:rPr kumimoji="1" lang="en-US" altLang="zh-TW" dirty="0"/>
              <a:t>74.42</a:t>
            </a:r>
            <a:r>
              <a:rPr kumimoji="1" lang="zh-TW" altLang="en-US" dirty="0"/>
              <a:t>％以上，而</a:t>
            </a:r>
            <a:r>
              <a:rPr kumimoji="1" lang="en-US" altLang="zh-TW" dirty="0"/>
              <a:t>F-CK </a:t>
            </a:r>
            <a:r>
              <a:rPr kumimoji="1" lang="zh-TW" altLang="en-US" dirty="0"/>
              <a:t>甚至連一個 </a:t>
            </a:r>
            <a:r>
              <a:rPr kumimoji="1" lang="en-US" altLang="zh-TW" dirty="0"/>
              <a:t>ImageNet ensemble</a:t>
            </a:r>
            <a:r>
              <a:rPr kumimoji="1" lang="zh-CN" altLang="en-US" dirty="0"/>
              <a:t>都找不到</a:t>
            </a:r>
            <a:r>
              <a:rPr kumimoji="1" lang="zh-TW" altLang="en-US" dirty="0"/>
              <a:t>。</a:t>
            </a:r>
            <a:endParaRPr kumimoji="1" lang="en-US" altLang="zh-TW" dirty="0"/>
          </a:p>
          <a:p>
            <a:r>
              <a:rPr kumimoji="1" lang="en-US" altLang="zh-TW" dirty="0"/>
              <a:t>2. </a:t>
            </a:r>
            <a:r>
              <a:rPr kumimoji="1" lang="zh-CN" altLang="en-US" dirty="0"/>
              <a:t>多數決</a:t>
            </a:r>
            <a:r>
              <a:rPr kumimoji="1" lang="zh-TW" altLang="en-US" dirty="0"/>
              <a:t>方法（</a:t>
            </a:r>
            <a:r>
              <a:rPr kumimoji="1" lang="en-US" altLang="zh-TW" dirty="0"/>
              <a:t>MAJ-F</a:t>
            </a:r>
            <a:r>
              <a:rPr kumimoji="1" lang="zh-TW" altLang="en-US" dirty="0"/>
              <a:t>）的</a:t>
            </a:r>
            <a:r>
              <a:rPr kumimoji="1" lang="en-US" altLang="zh-TW" dirty="0"/>
              <a:t>precision</a:t>
            </a:r>
            <a:r>
              <a:rPr kumimoji="1" lang="zh-CN" altLang="en-US" dirty="0"/>
              <a:t>為</a:t>
            </a:r>
            <a:r>
              <a:rPr kumimoji="1" lang="en-US" altLang="zh-TW" dirty="0"/>
              <a:t>78.95</a:t>
            </a:r>
            <a:r>
              <a:rPr kumimoji="1" lang="zh-TW" altLang="en-US" dirty="0"/>
              <a:t>％，證明了透過多數投票這個方法的</a:t>
            </a:r>
            <a:r>
              <a:rPr kumimoji="1" lang="en-US" altLang="zh-TW" dirty="0"/>
              <a:t>robustness</a:t>
            </a:r>
            <a:r>
              <a:rPr kumimoji="1" lang="zh-TW" altLang="en-US" dirty="0"/>
              <a:t>和</a:t>
            </a:r>
            <a:r>
              <a:rPr kumimoji="1" lang="en-US" altLang="zh-TW" dirty="0"/>
              <a:t>effectiveness</a:t>
            </a:r>
            <a:r>
              <a:rPr kumimoji="1" lang="zh-TW" altLang="en-US" dirty="0"/>
              <a:t>。</a:t>
            </a:r>
          </a:p>
        </p:txBody>
      </p:sp>
      <p:sp>
        <p:nvSpPr>
          <p:cNvPr id="4" name="投影片編號版面配置區 3"/>
          <p:cNvSpPr>
            <a:spLocks noGrp="1"/>
          </p:cNvSpPr>
          <p:nvPr>
            <p:ph type="sldNum" sz="quarter" idx="5"/>
          </p:nvPr>
        </p:nvSpPr>
        <p:spPr/>
        <p:txBody>
          <a:bodyPr/>
          <a:lstStyle/>
          <a:p>
            <a:fld id="{9C3C06FB-4978-463D-9A6C-818618CB0231}" type="slidenum">
              <a:rPr lang="zh-TW" altLang="en-US" smtClean="0"/>
              <a:t>22</a:t>
            </a:fld>
            <a:endParaRPr lang="zh-TW" altLang="en-US"/>
          </a:p>
        </p:txBody>
      </p:sp>
    </p:spTree>
    <p:extLst>
      <p:ext uri="{BB962C8B-B14F-4D97-AF65-F5344CB8AC3E}">
        <p14:creationId xmlns:p14="http://schemas.microsoft.com/office/powerpoint/2010/main" val="3665231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u="none" strike="noStrike" kern="1200" dirty="0">
                <a:solidFill>
                  <a:schemeClr val="tx1"/>
                </a:solidFill>
                <a:effectLst/>
                <a:latin typeface="+mn-lt"/>
                <a:ea typeface="+mn-ea"/>
                <a:cs typeface="+mn-cs"/>
              </a:rPr>
              <a:t>我們提出了一種基於</a:t>
            </a:r>
            <a:r>
              <a:rPr lang="en" altLang="zh-TW" sz="1200" b="0" i="0" u="none" strike="noStrike" kern="1200" dirty="0">
                <a:solidFill>
                  <a:schemeClr val="tx1"/>
                </a:solidFill>
                <a:effectLst/>
                <a:latin typeface="+mn-lt"/>
                <a:ea typeface="+mn-ea"/>
                <a:cs typeface="+mn-cs"/>
              </a:rPr>
              <a:t>focal diversity</a:t>
            </a:r>
            <a:r>
              <a:rPr lang="zh-TW" altLang="en-US" sz="1200" b="0" i="0" u="none" strike="noStrike" kern="1200" dirty="0">
                <a:solidFill>
                  <a:schemeClr val="tx1"/>
                </a:solidFill>
                <a:effectLst/>
                <a:latin typeface="+mn-lt"/>
                <a:ea typeface="+mn-ea"/>
                <a:cs typeface="+mn-cs"/>
              </a:rPr>
              <a:t>的</a:t>
            </a:r>
            <a:r>
              <a:rPr lang="en" altLang="zh-TW" sz="1200" b="0" i="0" u="none" strike="noStrike" kern="1200" dirty="0">
                <a:solidFill>
                  <a:schemeClr val="tx1"/>
                </a:solidFill>
                <a:effectLst/>
                <a:latin typeface="+mn-lt"/>
                <a:ea typeface="+mn-ea"/>
                <a:cs typeface="+mn-cs"/>
              </a:rPr>
              <a:t>hierarchical ensemble pruning</a:t>
            </a:r>
            <a:r>
              <a:rPr lang="zh-TW" altLang="en-US" sz="1200" b="0" i="0" u="none" strike="noStrike" kern="1200" dirty="0">
                <a:solidFill>
                  <a:schemeClr val="tx1"/>
                </a:solidFill>
                <a:effectLst/>
                <a:latin typeface="+mn-lt"/>
                <a:ea typeface="+mn-ea"/>
                <a:cs typeface="+mn-cs"/>
              </a:rPr>
              <a:t>方法，可以在保留相同或實現更好</a:t>
            </a:r>
            <a:r>
              <a:rPr lang="en" altLang="zh-TW" sz="1200" b="0" i="0" u="none" strike="noStrike" kern="1200" dirty="0">
                <a:solidFill>
                  <a:schemeClr val="tx1"/>
                </a:solidFill>
                <a:effectLst/>
                <a:latin typeface="+mn-lt"/>
                <a:ea typeface="+mn-ea"/>
                <a:cs typeface="+mn-cs"/>
              </a:rPr>
              <a:t>ensemble accuracy</a:t>
            </a:r>
            <a:r>
              <a:rPr lang="zh-TW" altLang="en-US" sz="1200" b="0" i="0" u="none" strike="noStrike" kern="1200" dirty="0">
                <a:solidFill>
                  <a:schemeClr val="tx1"/>
                </a:solidFill>
                <a:effectLst/>
                <a:latin typeface="+mn-lt"/>
                <a:ea typeface="+mn-ea"/>
                <a:cs typeface="+mn-cs"/>
              </a:rPr>
              <a:t>的同時，找到較小的</a:t>
            </a:r>
            <a:r>
              <a:rPr lang="en" altLang="zh-TW" sz="1200" b="0" i="0" u="none" strike="noStrike" kern="1200" dirty="0">
                <a:solidFill>
                  <a:schemeClr val="tx1"/>
                </a:solidFill>
                <a:effectLst/>
                <a:latin typeface="+mn-lt"/>
                <a:ea typeface="+mn-ea"/>
                <a:cs typeface="+mn-cs"/>
              </a:rPr>
              <a:t>deep ensemble</a:t>
            </a:r>
            <a:r>
              <a:rPr lang="zh-TW" altLang="en" sz="1200" b="0" i="0" u="none" strike="noStrike" kern="1200" dirty="0">
                <a:solidFill>
                  <a:schemeClr val="tx1"/>
                </a:solidFill>
                <a:effectLst/>
                <a:latin typeface="+mn-lt"/>
                <a:ea typeface="+mn-ea"/>
                <a:cs typeface="+mn-cs"/>
              </a:rPr>
              <a:t>。</a:t>
            </a:r>
          </a:p>
          <a:p>
            <a:r>
              <a:rPr lang="zh-TW" altLang="en-US" sz="1200" b="0" i="0" u="none" strike="noStrike" kern="1200" dirty="0">
                <a:solidFill>
                  <a:schemeClr val="tx1"/>
                </a:solidFill>
                <a:effectLst/>
                <a:latin typeface="+mn-lt"/>
                <a:ea typeface="+mn-ea"/>
                <a:cs typeface="+mn-cs"/>
              </a:rPr>
              <a:t>三個貢獻</a:t>
            </a:r>
          </a:p>
          <a:p>
            <a:r>
              <a:rPr lang="en-US" altLang="zh-TW" sz="1200" b="0" i="0" u="none" strike="noStrike" kern="1200" dirty="0">
                <a:solidFill>
                  <a:schemeClr val="tx1"/>
                </a:solidFill>
                <a:effectLst/>
                <a:latin typeface="+mn-lt"/>
                <a:ea typeface="+mn-ea"/>
                <a:cs typeface="+mn-cs"/>
              </a:rPr>
              <a:t>(1)</a:t>
            </a:r>
            <a:r>
              <a:rPr lang="zh-TW" altLang="en-US" sz="1200" b="0" i="0" u="none" strike="noStrike" kern="1200" dirty="0">
                <a:solidFill>
                  <a:schemeClr val="tx1"/>
                </a:solidFill>
                <a:effectLst/>
                <a:latin typeface="+mn-lt"/>
                <a:ea typeface="+mn-ea"/>
                <a:cs typeface="+mn-cs"/>
              </a:rPr>
              <a:t>我們使用</a:t>
            </a:r>
            <a:r>
              <a:rPr lang="en" altLang="zh-TW" sz="1200" b="0" i="0" u="none" strike="noStrike" kern="1200" dirty="0">
                <a:solidFill>
                  <a:schemeClr val="tx1"/>
                </a:solidFill>
                <a:effectLst/>
                <a:latin typeface="+mn-lt"/>
                <a:ea typeface="+mn-ea"/>
                <a:cs typeface="+mn-cs"/>
              </a:rPr>
              <a:t>focal diversity metric</a:t>
            </a:r>
            <a:r>
              <a:rPr lang="zh-TW" altLang="en-US" sz="1200" b="0" i="0" u="none" strike="noStrike" kern="1200" dirty="0">
                <a:solidFill>
                  <a:schemeClr val="tx1"/>
                </a:solidFill>
                <a:effectLst/>
                <a:latin typeface="+mn-lt"/>
                <a:ea typeface="+mn-ea"/>
                <a:cs typeface="+mn-cs"/>
              </a:rPr>
              <a:t>準確計算</a:t>
            </a:r>
            <a:r>
              <a:rPr lang="en"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之中各個</a:t>
            </a:r>
            <a:r>
              <a:rPr lang="en" altLang="zh-TW" sz="1200" b="0" i="0" u="none" strike="noStrike" kern="1200" dirty="0">
                <a:solidFill>
                  <a:schemeClr val="tx1"/>
                </a:solidFill>
                <a:effectLst/>
                <a:latin typeface="+mn-lt"/>
                <a:ea typeface="+mn-ea"/>
                <a:cs typeface="+mn-cs"/>
              </a:rPr>
              <a:t>model</a:t>
            </a:r>
            <a:r>
              <a:rPr lang="zh-TW" altLang="en-US" sz="1200" b="0" i="0" u="none" strike="noStrike" kern="1200" dirty="0">
                <a:solidFill>
                  <a:schemeClr val="tx1"/>
                </a:solidFill>
                <a:effectLst/>
                <a:latin typeface="+mn-lt"/>
                <a:ea typeface="+mn-ea"/>
                <a:cs typeface="+mn-cs"/>
              </a:rPr>
              <a:t>的</a:t>
            </a:r>
            <a:r>
              <a:rPr lang="en" altLang="zh-TW" sz="1200" b="0" i="0" u="none" strike="noStrike" kern="1200" dirty="0">
                <a:solidFill>
                  <a:schemeClr val="tx1"/>
                </a:solidFill>
                <a:effectLst/>
                <a:latin typeface="+mn-lt"/>
                <a:ea typeface="+mn-ea"/>
                <a:cs typeface="+mn-cs"/>
              </a:rPr>
              <a:t>negative sample</a:t>
            </a:r>
            <a:r>
              <a:rPr lang="zh-TW" altLang="en"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這是一種高效識別</a:t>
            </a:r>
            <a:r>
              <a:rPr lang="en" altLang="zh-TW" sz="1200" b="0" i="0" u="none" strike="noStrike" kern="1200" dirty="0">
                <a:solidFill>
                  <a:schemeClr val="tx1"/>
                </a:solidFill>
                <a:effectLst/>
                <a:latin typeface="+mn-lt"/>
                <a:ea typeface="+mn-ea"/>
                <a:cs typeface="+mn-cs"/>
              </a:rPr>
              <a:t>ensemble diversity</a:t>
            </a:r>
            <a:r>
              <a:rPr lang="zh-TW" altLang="en-US" sz="1200" b="0" i="0" u="none" strike="noStrike" kern="1200" dirty="0">
                <a:solidFill>
                  <a:schemeClr val="tx1"/>
                </a:solidFill>
                <a:effectLst/>
                <a:latin typeface="+mn-lt"/>
                <a:ea typeface="+mn-ea"/>
                <a:cs typeface="+mn-cs"/>
              </a:rPr>
              <a:t>並找出好的</a:t>
            </a:r>
            <a:r>
              <a:rPr lang="en" altLang="zh-TW" sz="1200" b="0" i="0" u="none" strike="noStrike" kern="1200" dirty="0">
                <a:solidFill>
                  <a:schemeClr val="tx1"/>
                </a:solidFill>
                <a:effectLst/>
                <a:latin typeface="+mn-lt"/>
                <a:ea typeface="+mn-ea"/>
                <a:cs typeface="+mn-cs"/>
              </a:rPr>
              <a:t>ensemble</a:t>
            </a:r>
            <a:r>
              <a:rPr lang="zh-TW" altLang="en-US" sz="1200" b="0" i="0" u="none" strike="noStrike" kern="1200" dirty="0">
                <a:solidFill>
                  <a:schemeClr val="tx1"/>
                </a:solidFill>
                <a:effectLst/>
                <a:latin typeface="+mn-lt"/>
                <a:ea typeface="+mn-ea"/>
                <a:cs typeface="+mn-cs"/>
              </a:rPr>
              <a:t>的方法</a:t>
            </a:r>
            <a:r>
              <a:rPr lang="en-US" altLang="zh-TW" sz="1200" b="0" i="0" u="none" strike="noStrike" kern="1200" dirty="0">
                <a:solidFill>
                  <a:schemeClr val="tx1"/>
                </a:solidFill>
                <a:effectLst/>
                <a:latin typeface="+mn-lt"/>
                <a:ea typeface="+mn-ea"/>
                <a:cs typeface="+mn-cs"/>
              </a:rPr>
              <a:t>;</a:t>
            </a:r>
          </a:p>
          <a:p>
            <a:r>
              <a:rPr lang="en-US" altLang="zh-TW" sz="1200" b="0" i="0" u="none" strike="noStrike" kern="1200" dirty="0">
                <a:solidFill>
                  <a:schemeClr val="tx1"/>
                </a:solidFill>
                <a:effectLst/>
                <a:latin typeface="+mn-lt"/>
                <a:ea typeface="+mn-ea"/>
                <a:cs typeface="+mn-cs"/>
              </a:rPr>
              <a:t>(2)</a:t>
            </a:r>
            <a:r>
              <a:rPr lang="zh-TW" altLang="en-US" sz="1200" b="0" i="0" u="none" strike="noStrike" kern="1200" dirty="0">
                <a:solidFill>
                  <a:schemeClr val="tx1"/>
                </a:solidFill>
                <a:effectLst/>
                <a:latin typeface="+mn-lt"/>
                <a:ea typeface="+mn-ea"/>
                <a:cs typeface="+mn-cs"/>
              </a:rPr>
              <a:t>我們提出一個</a:t>
            </a:r>
            <a:r>
              <a:rPr lang="en" altLang="zh-TW" sz="1200" b="0" i="0" u="none" strike="noStrike" kern="1200" dirty="0">
                <a:solidFill>
                  <a:schemeClr val="tx1"/>
                </a:solidFill>
                <a:effectLst/>
                <a:latin typeface="+mn-lt"/>
                <a:ea typeface="+mn-ea"/>
                <a:cs typeface="+mn-cs"/>
              </a:rPr>
              <a:t>hierarchical pruning algorithm</a:t>
            </a:r>
            <a:r>
              <a:rPr lang="zh-TW" altLang="en"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可以逐步消去高</a:t>
            </a:r>
            <a:r>
              <a:rPr lang="en" altLang="zh-TW" sz="1200" b="0" i="0" u="none" strike="noStrike" kern="1200" dirty="0">
                <a:solidFill>
                  <a:schemeClr val="tx1"/>
                </a:solidFill>
                <a:effectLst/>
                <a:latin typeface="+mn-lt"/>
                <a:ea typeface="+mn-ea"/>
                <a:cs typeface="+mn-cs"/>
              </a:rPr>
              <a:t>negative correlation</a:t>
            </a:r>
            <a:r>
              <a:rPr lang="zh-TW" altLang="en-US" sz="1200" b="0" i="0" u="none" strike="noStrike" kern="1200" dirty="0">
                <a:solidFill>
                  <a:schemeClr val="tx1"/>
                </a:solidFill>
                <a:effectLst/>
                <a:latin typeface="+mn-lt"/>
                <a:ea typeface="+mn-ea"/>
                <a:cs typeface="+mn-cs"/>
              </a:rPr>
              <a:t>的</a:t>
            </a:r>
            <a:r>
              <a:rPr lang="en" altLang="zh-TW" sz="1200" b="0" i="0" u="none" strike="noStrike" kern="1200" dirty="0">
                <a:solidFill>
                  <a:schemeClr val="tx1"/>
                </a:solidFill>
                <a:effectLst/>
                <a:latin typeface="+mn-lt"/>
                <a:ea typeface="+mn-ea"/>
                <a:cs typeface="+mn-cs"/>
              </a:rPr>
              <a:t>ensemble;</a:t>
            </a:r>
          </a:p>
          <a:p>
            <a:r>
              <a:rPr lang="en" altLang="zh-TW" sz="1200" b="0" i="0" u="none" strike="noStrike" kern="1200" dirty="0">
                <a:solidFill>
                  <a:schemeClr val="tx1"/>
                </a:solidFill>
                <a:effectLst/>
                <a:latin typeface="+mn-lt"/>
                <a:ea typeface="+mn-ea"/>
                <a:cs typeface="+mn-cs"/>
              </a:rPr>
              <a:t>(3)</a:t>
            </a:r>
            <a:r>
              <a:rPr lang="zh-TW" altLang="en-US" sz="1200" b="0" i="0" u="none" strike="noStrike" kern="1200" dirty="0">
                <a:solidFill>
                  <a:schemeClr val="tx1"/>
                </a:solidFill>
                <a:effectLst/>
                <a:latin typeface="+mn-lt"/>
                <a:ea typeface="+mn-ea"/>
                <a:cs typeface="+mn-cs"/>
              </a:rPr>
              <a:t>我們提出</a:t>
            </a:r>
            <a:r>
              <a:rPr lang="en" altLang="zh-TW" sz="1200" b="0" i="0" u="none" strike="noStrike" kern="1200" dirty="0">
                <a:solidFill>
                  <a:schemeClr val="tx1"/>
                </a:solidFill>
                <a:effectLst/>
                <a:latin typeface="+mn-lt"/>
                <a:ea typeface="+mn-ea"/>
                <a:cs typeface="+mn-cs"/>
              </a:rPr>
              <a:t>HQ</a:t>
            </a:r>
            <a:r>
              <a:rPr lang="zh-TW" altLang="en-US" sz="1200" b="0" i="0" u="none" strike="noStrike" kern="1200" dirty="0">
                <a:solidFill>
                  <a:schemeClr val="tx1"/>
                </a:solidFill>
                <a:effectLst/>
                <a:latin typeface="+mn-lt"/>
                <a:ea typeface="+mn-ea"/>
                <a:cs typeface="+mn-cs"/>
              </a:rPr>
              <a:t>方法，可以找到更小的、並且有更高</a:t>
            </a:r>
            <a:r>
              <a:rPr lang="en" altLang="zh-TW" sz="1200" b="0" i="0" u="none" strike="noStrike" kern="1200" dirty="0">
                <a:solidFill>
                  <a:schemeClr val="tx1"/>
                </a:solidFill>
                <a:effectLst/>
                <a:latin typeface="+mn-lt"/>
                <a:ea typeface="+mn-ea"/>
                <a:cs typeface="+mn-cs"/>
              </a:rPr>
              <a:t>precision</a:t>
            </a:r>
            <a:r>
              <a:rPr lang="zh-TW" altLang="en-US" sz="1200" b="0" i="0" u="none" strike="noStrike" kern="1200" dirty="0">
                <a:solidFill>
                  <a:schemeClr val="tx1"/>
                </a:solidFill>
                <a:effectLst/>
                <a:latin typeface="+mn-lt"/>
                <a:ea typeface="+mn-ea"/>
                <a:cs typeface="+mn-cs"/>
              </a:rPr>
              <a:t>的</a:t>
            </a:r>
            <a:r>
              <a:rPr lang="en" altLang="zh-TW" sz="1200" b="0" i="0" u="none" strike="noStrike" kern="1200" dirty="0">
                <a:solidFill>
                  <a:schemeClr val="tx1"/>
                </a:solidFill>
                <a:effectLst/>
                <a:latin typeface="+mn-lt"/>
                <a:ea typeface="+mn-ea"/>
                <a:cs typeface="+mn-cs"/>
              </a:rPr>
              <a:t>ensemble</a:t>
            </a:r>
            <a:r>
              <a:rPr lang="zh-TW" altLang="en" sz="1200" b="0" i="0" u="none" strike="noStrike" kern="1200" dirty="0">
                <a:solidFill>
                  <a:schemeClr val="tx1"/>
                </a:solidFill>
                <a:effectLst/>
                <a:latin typeface="+mn-lt"/>
                <a:ea typeface="+mn-ea"/>
                <a:cs typeface="+mn-cs"/>
              </a:rPr>
              <a:t>。</a:t>
            </a:r>
          </a:p>
        </p:txBody>
      </p:sp>
      <p:sp>
        <p:nvSpPr>
          <p:cNvPr id="4" name="投影片編號版面配置區 3"/>
          <p:cNvSpPr>
            <a:spLocks noGrp="1"/>
          </p:cNvSpPr>
          <p:nvPr>
            <p:ph type="sldNum" sz="quarter" idx="5"/>
          </p:nvPr>
        </p:nvSpPr>
        <p:spPr/>
        <p:txBody>
          <a:bodyPr/>
          <a:lstStyle/>
          <a:p>
            <a:fld id="{FC8340DA-25BB-3E4F-A5A4-0B21ED6EC74F}" type="slidenum">
              <a:rPr kumimoji="1" lang="zh-TW" altLang="en-US" smtClean="0"/>
              <a:t>24</a:t>
            </a:fld>
            <a:endParaRPr kumimoji="1" lang="zh-TW" altLang="en-US"/>
          </a:p>
        </p:txBody>
      </p:sp>
    </p:spTree>
    <p:extLst>
      <p:ext uri="{BB962C8B-B14F-4D97-AF65-F5344CB8AC3E}">
        <p14:creationId xmlns:p14="http://schemas.microsoft.com/office/powerpoint/2010/main" val="4259784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atin typeface="微軟正黑體" panose="020B0604030504040204" pitchFamily="34" charset="-120"/>
                <a:ea typeface="微軟正黑體" panose="020B0604030504040204" pitchFamily="34" charset="-12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按一下以編輯母片副標題樣式</a:t>
            </a:r>
          </a:p>
        </p:txBody>
      </p:sp>
      <p:sp>
        <p:nvSpPr>
          <p:cNvPr id="4" name="日期版面配置區 3"/>
          <p:cNvSpPr>
            <a:spLocks noGrp="1"/>
          </p:cNvSpPr>
          <p:nvPr>
            <p:ph type="dt" sz="half" idx="10"/>
          </p:nvPr>
        </p:nvSpPr>
        <p:spPr/>
        <p:txBody>
          <a:bodyPr/>
          <a:lstStyle/>
          <a:p>
            <a:fld id="{D27E3A5F-2207-E745-BA99-ED5C83E8178B}" type="datetime1">
              <a:rPr lang="zh-TW" altLang="en-US" smtClean="0"/>
              <a:t>2023/12/9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sz="2000">
                <a:latin typeface="微軟正黑體" panose="020B0604030504040204" pitchFamily="34" charset="-120"/>
                <a:ea typeface="微軟正黑體" panose="020B0604030504040204" pitchFamily="34" charset="-120"/>
              </a:defRPr>
            </a:lvl1pPr>
          </a:lstStyle>
          <a:p>
            <a:fld id="{AA99950F-3C0B-4ADC-8143-B88B548F7915}" type="slidenum">
              <a:rPr lang="zh-TW" altLang="en-US" smtClean="0"/>
              <a:pPr/>
              <a:t>‹#›</a:t>
            </a:fld>
            <a:endParaRPr lang="zh-TW" altLang="en-US" dirty="0"/>
          </a:p>
        </p:txBody>
      </p:sp>
    </p:spTree>
    <p:extLst>
      <p:ext uri="{BB962C8B-B14F-4D97-AF65-F5344CB8AC3E}">
        <p14:creationId xmlns:p14="http://schemas.microsoft.com/office/powerpoint/2010/main" val="3033227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lvl1pPr>
              <a:defRPr sz="3600">
                <a:latin typeface="+mn-lt"/>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idx="1"/>
          </p:nvPr>
        </p:nvSpPr>
        <p:spPr/>
        <p:txBody>
          <a:bodyPr>
            <a:normAutofit/>
          </a:bodyPr>
          <a:lstStyle>
            <a:lvl1pPr>
              <a:defRPr sz="2800">
                <a:latin typeface="+mn-lt"/>
                <a:ea typeface="微軟正黑體" panose="020B0604030504040204" pitchFamily="34" charset="-120"/>
              </a:defRPr>
            </a:lvl1pPr>
            <a:lvl2pPr>
              <a:defRPr sz="2400">
                <a:latin typeface="+mn-lt"/>
                <a:ea typeface="微軟正黑體" panose="020B0604030504040204" pitchFamily="34" charset="-120"/>
              </a:defRPr>
            </a:lvl2pPr>
            <a:lvl3pPr>
              <a:defRPr sz="2000">
                <a:latin typeface="+mn-lt"/>
                <a:ea typeface="微軟正黑體" panose="020B0604030504040204" pitchFamily="34" charset="-120"/>
              </a:defRPr>
            </a:lvl3pPr>
            <a:lvl4pPr>
              <a:defRPr sz="1800">
                <a:latin typeface="+mn-lt"/>
                <a:ea typeface="微軟正黑體" panose="020B0604030504040204" pitchFamily="34" charset="-120"/>
              </a:defRPr>
            </a:lvl4pPr>
            <a:lvl5pPr>
              <a:defRPr sz="1800">
                <a:latin typeface="+mn-lt"/>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p:txBody>
          <a:bodyPr/>
          <a:lstStyle/>
          <a:p>
            <a:fld id="{374B6AD7-4094-BD4A-81A0-525417D5B7D7}" type="datetime1">
              <a:rPr lang="zh-TW" altLang="en-US" smtClean="0"/>
              <a:t>2023/12/9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lvl1pPr>
              <a:defRPr sz="2000">
                <a:latin typeface="微軟正黑體" panose="020B0604030504040204" pitchFamily="34" charset="-120"/>
                <a:ea typeface="微軟正黑體" panose="020B0604030504040204" pitchFamily="34" charset="-120"/>
              </a:defRPr>
            </a:lvl1pPr>
          </a:lstStyle>
          <a:p>
            <a:fld id="{AA99950F-3C0B-4ADC-8143-B88B548F7915}" type="slidenum">
              <a:rPr lang="zh-TW" altLang="en-US" smtClean="0"/>
              <a:pPr/>
              <a:t>‹#›</a:t>
            </a:fld>
            <a:endParaRPr lang="zh-TW" altLang="en-US" dirty="0"/>
          </a:p>
        </p:txBody>
      </p:sp>
    </p:spTree>
    <p:extLst>
      <p:ext uri="{BB962C8B-B14F-4D97-AF65-F5344CB8AC3E}">
        <p14:creationId xmlns:p14="http://schemas.microsoft.com/office/powerpoint/2010/main" val="3830897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75D9A628-4C09-934C-8171-C581246E5F1F}" type="datetime1">
              <a:rPr lang="zh-TW" altLang="en-US" smtClean="0"/>
              <a:t>2023/12/9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134748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B88D98DD-1CF4-3F47-87DF-E7D2294BF55B}" type="datetime1">
              <a:rPr lang="zh-TW" altLang="en-US" smtClean="0"/>
              <a:t>2023/12/9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4259072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302AD85-49B5-F34B-B1A3-B9A599D71AB5}" type="datetime1">
              <a:rPr lang="zh-TW" altLang="en-US" smtClean="0"/>
              <a:t>2023/12/9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3190365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6C1DA83B-5800-F746-BEB1-6C1C5DC7B01F}" type="datetime1">
              <a:rPr lang="zh-TW" altLang="en-US" smtClean="0"/>
              <a:t>2023/12/9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2350184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A2084D7E-144D-9A44-A5BD-97C53C315145}" type="datetime1">
              <a:rPr lang="zh-TW" altLang="en-US" smtClean="0"/>
              <a:t>2023/12/9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1803799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26AAD396-4223-E042-AF25-FF5FB48CE712}" type="datetime1">
              <a:rPr lang="zh-TW" altLang="en-US" smtClean="0"/>
              <a:t>2023/12/9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3983622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BCA81BFD-83D6-C843-BCB4-C7FCB6B61379}" type="datetime1">
              <a:rPr lang="zh-TW" altLang="en-US" smtClean="0"/>
              <a:t>2023/12/9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1276058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81344BC2-3282-824F-A936-090D83C90FC0}" type="datetime1">
              <a:rPr lang="zh-TW" altLang="en-US" smtClean="0"/>
              <a:t>2023/12/9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106352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7CDBFEF-937B-BC46-8370-078351AD22B8}" type="datetime1">
              <a:rPr lang="zh-TW" altLang="en-US" smtClean="0"/>
              <a:t>2023/12/9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A99950F-3C0B-4ADC-8143-B88B548F7915}" type="slidenum">
              <a:rPr lang="zh-TW" altLang="en-US" smtClean="0"/>
              <a:t>‹#›</a:t>
            </a:fld>
            <a:endParaRPr lang="zh-TW" altLang="en-US"/>
          </a:p>
        </p:txBody>
      </p:sp>
    </p:spTree>
    <p:extLst>
      <p:ext uri="{BB962C8B-B14F-4D97-AF65-F5344CB8AC3E}">
        <p14:creationId xmlns:p14="http://schemas.microsoft.com/office/powerpoint/2010/main" val="3542077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E79DB7-F05C-CD45-B148-96A9DA1B92A9}" type="datetime1">
              <a:rPr lang="zh-TW" altLang="en-US" smtClean="0"/>
              <a:t>2023/12/9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000">
                <a:solidFill>
                  <a:schemeClr val="tx1">
                    <a:tint val="75000"/>
                  </a:schemeClr>
                </a:solidFill>
                <a:latin typeface="Microsoft JhengHei" panose="020B0604030504040204" pitchFamily="34" charset="-120"/>
                <a:ea typeface="Microsoft JhengHei" panose="020B0604030504040204" pitchFamily="34" charset="-120"/>
              </a:defRPr>
            </a:lvl1pPr>
          </a:lstStyle>
          <a:p>
            <a:fld id="{AA99950F-3C0B-4ADC-8143-B88B548F7915}" type="slidenum">
              <a:rPr lang="zh-TW" altLang="en-US" smtClean="0"/>
              <a:pPr/>
              <a:t>‹#›</a:t>
            </a:fld>
            <a:endParaRPr lang="zh-TW" altLang="en-US" dirty="0"/>
          </a:p>
        </p:txBody>
      </p:sp>
    </p:spTree>
    <p:extLst>
      <p:ext uri="{BB962C8B-B14F-4D97-AF65-F5344CB8AC3E}">
        <p14:creationId xmlns:p14="http://schemas.microsoft.com/office/powerpoint/2010/main" val="581933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22744" y="1122363"/>
            <a:ext cx="10150998" cy="2387600"/>
          </a:xfrm>
        </p:spPr>
        <p:txBody>
          <a:bodyPr>
            <a:normAutofit/>
          </a:bodyPr>
          <a:lstStyle/>
          <a:p>
            <a:r>
              <a:rPr lang="en-US" altLang="zh-TW" sz="4800" dirty="0">
                <a:latin typeface="+mn-lt"/>
              </a:rPr>
              <a:t>Boosting Deep Ensemble Performance </a:t>
            </a:r>
            <a:br>
              <a:rPr lang="en-US" altLang="zh-TW" sz="4800" dirty="0">
                <a:latin typeface="+mn-lt"/>
              </a:rPr>
            </a:br>
            <a:r>
              <a:rPr lang="en-US" altLang="zh-TW" sz="4800" dirty="0">
                <a:latin typeface="+mn-lt"/>
              </a:rPr>
              <a:t>with Hierarchical Pruning</a:t>
            </a:r>
            <a:endParaRPr lang="zh-TW" altLang="en-US" sz="4800" dirty="0">
              <a:latin typeface="+mn-lt"/>
            </a:endParaRPr>
          </a:p>
        </p:txBody>
      </p:sp>
      <p:sp>
        <p:nvSpPr>
          <p:cNvPr id="3" name="副標題 2"/>
          <p:cNvSpPr>
            <a:spLocks noGrp="1"/>
          </p:cNvSpPr>
          <p:nvPr>
            <p:ph type="subTitle" idx="1"/>
          </p:nvPr>
        </p:nvSpPr>
        <p:spPr>
          <a:xfrm>
            <a:off x="923731" y="3602038"/>
            <a:ext cx="10506269" cy="1655762"/>
          </a:xfrm>
        </p:spPr>
        <p:txBody>
          <a:bodyPr/>
          <a:lstStyle/>
          <a:p>
            <a:r>
              <a:rPr lang="en-US" altLang="zh-TW" dirty="0" err="1">
                <a:latin typeface="+mn-lt"/>
              </a:rPr>
              <a:t>Yanzhao</a:t>
            </a:r>
            <a:r>
              <a:rPr lang="en-US" altLang="zh-TW" dirty="0">
                <a:latin typeface="+mn-lt"/>
              </a:rPr>
              <a:t> Wu, Ling Liu, School of Computer Science Georgia Institute of Technology</a:t>
            </a:r>
          </a:p>
          <a:p>
            <a:r>
              <a:rPr lang="zh-TW" altLang="en-US" dirty="0"/>
              <a:t>第</a:t>
            </a:r>
            <a:r>
              <a:rPr lang="en-US" altLang="zh-TW" dirty="0"/>
              <a:t>13</a:t>
            </a:r>
            <a:r>
              <a:rPr lang="zh-TW" altLang="en-US" dirty="0"/>
              <a:t>組  組員</a:t>
            </a:r>
            <a:r>
              <a:rPr lang="en-US" altLang="zh-TW" dirty="0"/>
              <a:t>:</a:t>
            </a:r>
            <a:r>
              <a:rPr lang="zh-TW" altLang="en-US" dirty="0"/>
              <a:t>謝尚恆、林均彥、金保睿、劉政彥、張朋楫</a:t>
            </a:r>
            <a:endParaRPr lang="en-US" altLang="zh-TW" dirty="0"/>
          </a:p>
        </p:txBody>
      </p:sp>
    </p:spTree>
    <p:extLst>
      <p:ext uri="{BB962C8B-B14F-4D97-AF65-F5344CB8AC3E}">
        <p14:creationId xmlns:p14="http://schemas.microsoft.com/office/powerpoint/2010/main" val="4205121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mn-lt"/>
              </a:rPr>
              <a:t>Presentation Outline</a:t>
            </a:r>
            <a:endParaRPr lang="zh-TW" altLang="en-US" sz="3600" dirty="0">
              <a:latin typeface="+mn-lt"/>
            </a:endParaRPr>
          </a:p>
        </p:txBody>
      </p:sp>
      <p:sp>
        <p:nvSpPr>
          <p:cNvPr id="3" name="內容版面配置區 2"/>
          <p:cNvSpPr>
            <a:spLocks noGrp="1"/>
          </p:cNvSpPr>
          <p:nvPr>
            <p:ph idx="1"/>
          </p:nvPr>
        </p:nvSpPr>
        <p:spPr/>
        <p:txBody>
          <a:bodyPr>
            <a:normAutofit/>
          </a:bodyPr>
          <a:lstStyle/>
          <a:p>
            <a:r>
              <a:rPr lang="en-US" altLang="zh-TW" sz="2800" dirty="0">
                <a:latin typeface="+mn-lt"/>
              </a:rPr>
              <a:t>Introduction</a:t>
            </a:r>
          </a:p>
          <a:p>
            <a:r>
              <a:rPr lang="en-US" altLang="zh-TW" sz="2800" dirty="0">
                <a:latin typeface="+mn-lt"/>
              </a:rPr>
              <a:t>Hierarchical Pruning with focal diversity</a:t>
            </a:r>
          </a:p>
          <a:p>
            <a:r>
              <a:rPr lang="en-US" altLang="zh-TW" sz="2800" dirty="0">
                <a:latin typeface="+mn-lt"/>
              </a:rPr>
              <a:t>Focal Diversity based Hierarchical Pruning</a:t>
            </a:r>
          </a:p>
          <a:p>
            <a:r>
              <a:rPr lang="en-US" altLang="zh-TW" sz="2800" dirty="0">
                <a:latin typeface="+mn-lt"/>
              </a:rPr>
              <a:t>Experimental evaluation</a:t>
            </a:r>
          </a:p>
          <a:p>
            <a:r>
              <a:rPr lang="en-US" altLang="zh-TW" sz="2800" dirty="0" err="1">
                <a:latin typeface="+mn-lt"/>
              </a:rPr>
              <a:t>Conculsion</a:t>
            </a:r>
            <a:endParaRPr lang="en-US" altLang="zh-TW" sz="2800" dirty="0">
              <a:latin typeface="+mn-lt"/>
            </a:endParaRPr>
          </a:p>
          <a:p>
            <a:r>
              <a:rPr lang="en-US" altLang="zh-TW" sz="2800" dirty="0">
                <a:latin typeface="+mn-lt"/>
              </a:rPr>
              <a:t>Our experiment</a:t>
            </a:r>
            <a:endParaRPr lang="zh-TW" altLang="en-US" sz="2800" dirty="0">
              <a:latin typeface="+mn-lt"/>
            </a:endParaRPr>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pPr/>
              <a:t>1</a:t>
            </a:fld>
            <a:endParaRPr lang="zh-TW" altLang="en-US" dirty="0"/>
          </a:p>
        </p:txBody>
      </p:sp>
    </p:spTree>
    <p:extLst>
      <p:ext uri="{BB962C8B-B14F-4D97-AF65-F5344CB8AC3E}">
        <p14:creationId xmlns:p14="http://schemas.microsoft.com/office/powerpoint/2010/main" val="1119637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dirty="0">
                <a:latin typeface="+mn-lt"/>
              </a:rPr>
              <a:t>Introduction</a:t>
            </a:r>
            <a:endParaRPr lang="zh-TW" altLang="en-US" sz="4800" dirty="0">
              <a:latin typeface="+mn-lt"/>
            </a:endParaRPr>
          </a:p>
        </p:txBody>
      </p:sp>
      <p:sp>
        <p:nvSpPr>
          <p:cNvPr id="3" name="文字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2</a:t>
            </a:fld>
            <a:endParaRPr lang="zh-TW" altLang="en-US"/>
          </a:p>
        </p:txBody>
      </p:sp>
    </p:spTree>
    <p:extLst>
      <p:ext uri="{BB962C8B-B14F-4D97-AF65-F5344CB8AC3E}">
        <p14:creationId xmlns:p14="http://schemas.microsoft.com/office/powerpoint/2010/main" val="4258264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mn-lt"/>
              </a:rPr>
              <a:t>Introduction</a:t>
            </a:r>
          </a:p>
        </p:txBody>
      </p:sp>
      <p:sp>
        <p:nvSpPr>
          <p:cNvPr id="3" name="內容版面配置區 2"/>
          <p:cNvSpPr>
            <a:spLocks noGrp="1"/>
          </p:cNvSpPr>
          <p:nvPr>
            <p:ph idx="1"/>
          </p:nvPr>
        </p:nvSpPr>
        <p:spPr/>
        <p:txBody>
          <a:bodyPr/>
          <a:lstStyle/>
          <a:p>
            <a:r>
              <a:rPr lang="en-US" altLang="zh-TW" sz="2800" dirty="0">
                <a:latin typeface="+mn-lt"/>
              </a:rPr>
              <a:t>Deep neural network ensembles</a:t>
            </a:r>
          </a:p>
          <a:p>
            <a:pPr lvl="1"/>
            <a:r>
              <a:rPr lang="en-US" altLang="zh-TW" sz="2400" dirty="0">
                <a:latin typeface="+mn-lt"/>
              </a:rPr>
              <a:t>Advantage: failure independent, ensemble diversity</a:t>
            </a:r>
          </a:p>
          <a:p>
            <a:pPr lvl="1"/>
            <a:r>
              <a:rPr lang="en-US" altLang="zh-TW" sz="2400" dirty="0">
                <a:latin typeface="+mn-lt"/>
              </a:rPr>
              <a:t>Disadvantage: space and time consuming</a:t>
            </a:r>
          </a:p>
          <a:p>
            <a:r>
              <a:rPr lang="en-US" altLang="zh-TW" sz="2800" dirty="0">
                <a:latin typeface="+mn-lt"/>
              </a:rPr>
              <a:t>A hierarchical deep ensemble pruning framework:</a:t>
            </a:r>
            <a:r>
              <a:rPr lang="zh-TW" altLang="en-US" sz="2800" dirty="0">
                <a:latin typeface="+mn-lt"/>
              </a:rPr>
              <a:t> </a:t>
            </a:r>
            <a:r>
              <a:rPr lang="en-US" altLang="zh-TW" sz="2800" dirty="0">
                <a:latin typeface="+mn-lt"/>
              </a:rPr>
              <a:t>HQ</a:t>
            </a:r>
          </a:p>
          <a:p>
            <a:r>
              <a:rPr lang="en-US" altLang="zh-TW" sz="2800" dirty="0">
                <a:latin typeface="+mn-lt"/>
              </a:rPr>
              <a:t>combining three novel ensemble selection techniques:</a:t>
            </a:r>
          </a:p>
          <a:p>
            <a:pPr marL="914400" lvl="1" indent="-457200">
              <a:buFont typeface="+mj-lt"/>
              <a:buAutoNum type="arabicPeriod"/>
            </a:pPr>
            <a:r>
              <a:rPr lang="en-US" altLang="zh-TW" sz="2400" dirty="0">
                <a:latin typeface="+mn-lt"/>
              </a:rPr>
              <a:t>focal diversity metrics</a:t>
            </a:r>
          </a:p>
          <a:p>
            <a:pPr marL="914400" lvl="1" indent="-457200">
              <a:buFont typeface="+mj-lt"/>
              <a:buAutoNum type="arabicPeriod"/>
            </a:pPr>
            <a:r>
              <a:rPr lang="en-US" altLang="zh-TW" sz="2400" dirty="0">
                <a:latin typeface="+mn-lt"/>
              </a:rPr>
              <a:t>hierarchical pruning</a:t>
            </a:r>
          </a:p>
          <a:p>
            <a:pPr marL="914400" lvl="1" indent="-457200">
              <a:buFont typeface="+mj-lt"/>
              <a:buAutoNum type="arabicPeriod"/>
            </a:pPr>
            <a:r>
              <a:rPr lang="en-US" altLang="zh-TW" sz="2400" dirty="0">
                <a:latin typeface="+mn-lt"/>
              </a:rPr>
              <a:t>diversity consensus voting</a:t>
            </a:r>
          </a:p>
          <a:p>
            <a:endParaRPr lang="zh-TW" altLang="en-US" dirty="0"/>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pPr/>
              <a:t>3</a:t>
            </a:fld>
            <a:endParaRPr lang="zh-TW" altLang="en-US" dirty="0"/>
          </a:p>
        </p:txBody>
      </p:sp>
      <p:grpSp>
        <p:nvGrpSpPr>
          <p:cNvPr id="28" name="群組 27"/>
          <p:cNvGrpSpPr/>
          <p:nvPr/>
        </p:nvGrpSpPr>
        <p:grpSpPr>
          <a:xfrm>
            <a:off x="6459967" y="4135120"/>
            <a:ext cx="4301266" cy="1944472"/>
            <a:chOff x="6331767" y="4367946"/>
            <a:chExt cx="4339819" cy="1965646"/>
          </a:xfrm>
        </p:grpSpPr>
        <p:sp>
          <p:nvSpPr>
            <p:cNvPr id="8" name="圓角矩形 7"/>
            <p:cNvSpPr/>
            <p:nvPr/>
          </p:nvSpPr>
          <p:spPr>
            <a:xfrm>
              <a:off x="6823928" y="4367946"/>
              <a:ext cx="3219229" cy="387275"/>
            </a:xfrm>
            <a:prstGeom prst="roundRect">
              <a:avLst/>
            </a:prstGeom>
            <a:solidFill>
              <a:schemeClr val="accent1">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ysClr val="windowText" lastClr="000000"/>
                  </a:solidFill>
                </a:rPr>
                <a:t>Input</a:t>
              </a:r>
              <a:endParaRPr lang="zh-TW" altLang="en-US" sz="2400" dirty="0">
                <a:solidFill>
                  <a:sysClr val="windowText" lastClr="000000"/>
                </a:solidFill>
              </a:endParaRPr>
            </a:p>
          </p:txBody>
        </p:sp>
        <p:sp>
          <p:nvSpPr>
            <p:cNvPr id="9" name="向下箭號 8"/>
            <p:cNvSpPr/>
            <p:nvPr/>
          </p:nvSpPr>
          <p:spPr>
            <a:xfrm>
              <a:off x="6823928" y="4851230"/>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向下箭號 9"/>
            <p:cNvSpPr/>
            <p:nvPr/>
          </p:nvSpPr>
          <p:spPr>
            <a:xfrm>
              <a:off x="8135465" y="4856140"/>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向下箭號 10"/>
            <p:cNvSpPr/>
            <p:nvPr/>
          </p:nvSpPr>
          <p:spPr>
            <a:xfrm>
              <a:off x="9828004" y="4873212"/>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3" name="直線接點 12"/>
            <p:cNvCxnSpPr/>
            <p:nvPr/>
          </p:nvCxnSpPr>
          <p:spPr>
            <a:xfrm>
              <a:off x="8953943" y="5099123"/>
              <a:ext cx="334381" cy="0"/>
            </a:xfrm>
            <a:prstGeom prst="line">
              <a:avLst/>
            </a:prstGeom>
            <a:ln w="571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圓角矩形 15"/>
            <p:cNvSpPr/>
            <p:nvPr/>
          </p:nvSpPr>
          <p:spPr>
            <a:xfrm>
              <a:off x="6331767" y="5099123"/>
              <a:ext cx="1199477" cy="387275"/>
            </a:xfrm>
            <a:prstGeom prst="roundRect">
              <a:avLst/>
            </a:prstGeom>
            <a:solidFill>
              <a:schemeClr val="accent4">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ysClr val="windowText" lastClr="000000"/>
                  </a:solidFill>
                </a:rPr>
                <a:t>model1</a:t>
              </a:r>
              <a:endParaRPr lang="zh-TW" altLang="en-US" sz="2400" dirty="0">
                <a:solidFill>
                  <a:sysClr val="windowText" lastClr="000000"/>
                </a:solidFill>
              </a:endParaRPr>
            </a:p>
          </p:txBody>
        </p:sp>
        <p:sp>
          <p:nvSpPr>
            <p:cNvPr id="18" name="圓角矩形 17"/>
            <p:cNvSpPr/>
            <p:nvPr/>
          </p:nvSpPr>
          <p:spPr>
            <a:xfrm>
              <a:off x="7643304" y="5099123"/>
              <a:ext cx="1199477" cy="387275"/>
            </a:xfrm>
            <a:prstGeom prst="roundRect">
              <a:avLst/>
            </a:prstGeom>
            <a:solidFill>
              <a:schemeClr val="accent4">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ysClr val="windowText" lastClr="000000"/>
                  </a:solidFill>
                </a:rPr>
                <a:t>model2</a:t>
              </a:r>
              <a:endParaRPr lang="zh-TW" altLang="en-US" sz="2400" dirty="0">
                <a:solidFill>
                  <a:sysClr val="windowText" lastClr="000000"/>
                </a:solidFill>
              </a:endParaRPr>
            </a:p>
          </p:txBody>
        </p:sp>
        <p:sp>
          <p:nvSpPr>
            <p:cNvPr id="19" name="圓角矩形 18"/>
            <p:cNvSpPr/>
            <p:nvPr/>
          </p:nvSpPr>
          <p:spPr>
            <a:xfrm>
              <a:off x="9382461" y="5101198"/>
              <a:ext cx="1289125" cy="387275"/>
            </a:xfrm>
            <a:prstGeom prst="roundRect">
              <a:avLst/>
            </a:prstGeom>
            <a:solidFill>
              <a:schemeClr val="accent4">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err="1">
                  <a:solidFill>
                    <a:sysClr val="windowText" lastClr="000000"/>
                  </a:solidFill>
                </a:rPr>
                <a:t>modelM</a:t>
              </a:r>
              <a:endParaRPr lang="zh-TW" altLang="en-US" sz="2400" dirty="0">
                <a:solidFill>
                  <a:sysClr val="windowText" lastClr="000000"/>
                </a:solidFill>
              </a:endParaRPr>
            </a:p>
          </p:txBody>
        </p:sp>
        <p:sp>
          <p:nvSpPr>
            <p:cNvPr id="23" name="圓角矩形 22"/>
            <p:cNvSpPr/>
            <p:nvPr/>
          </p:nvSpPr>
          <p:spPr>
            <a:xfrm>
              <a:off x="6823928" y="5946317"/>
              <a:ext cx="3219229" cy="387275"/>
            </a:xfrm>
            <a:prstGeom prst="roundRect">
              <a:avLst/>
            </a:prstGeom>
            <a:solidFill>
              <a:schemeClr val="accent1">
                <a:lumMod val="20000"/>
                <a:lumOff val="8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400" dirty="0">
                  <a:solidFill>
                    <a:sysClr val="windowText" lastClr="000000"/>
                  </a:solidFill>
                </a:rPr>
                <a:t>output</a:t>
              </a:r>
              <a:endParaRPr lang="zh-TW" altLang="en-US" sz="2400" dirty="0">
                <a:solidFill>
                  <a:sysClr val="windowText" lastClr="000000"/>
                </a:solidFill>
              </a:endParaRPr>
            </a:p>
          </p:txBody>
        </p:sp>
        <p:sp>
          <p:nvSpPr>
            <p:cNvPr id="24" name="向下箭號 23"/>
            <p:cNvSpPr/>
            <p:nvPr/>
          </p:nvSpPr>
          <p:spPr>
            <a:xfrm>
              <a:off x="6823927" y="5605769"/>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向下箭號 24"/>
            <p:cNvSpPr/>
            <p:nvPr/>
          </p:nvSpPr>
          <p:spPr>
            <a:xfrm>
              <a:off x="8135465" y="5602158"/>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向下箭號 25"/>
            <p:cNvSpPr/>
            <p:nvPr/>
          </p:nvSpPr>
          <p:spPr>
            <a:xfrm>
              <a:off x="9828003" y="5604638"/>
              <a:ext cx="215153" cy="225911"/>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2961045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dirty="0">
                <a:latin typeface="+mn-lt"/>
              </a:rPr>
              <a:t>Hierarchical Pruning with focal diversity</a:t>
            </a:r>
            <a:endParaRPr lang="zh-TW" altLang="en-US" sz="4800" dirty="0">
              <a:latin typeface="+mn-lt"/>
            </a:endParaRPr>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4</a:t>
            </a:fld>
            <a:endParaRPr lang="zh-TW" altLang="en-US"/>
          </a:p>
        </p:txBody>
      </p:sp>
    </p:spTree>
    <p:extLst>
      <p:ext uri="{BB962C8B-B14F-4D97-AF65-F5344CB8AC3E}">
        <p14:creationId xmlns:p14="http://schemas.microsoft.com/office/powerpoint/2010/main" val="2242888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t>Hierarchical pruning with focal diversity</a:t>
            </a:r>
            <a:endParaRPr lang="zh-TW" altLang="en-US" sz="3200"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r>
                  <a:rPr lang="en-US" altLang="zh-TW" sz="2400" dirty="0">
                    <a:latin typeface="+mn-lt"/>
                  </a:rPr>
                  <a:t>Consider an entire large deep ensemble of M individual member models(</a:t>
                </a:r>
                <a:r>
                  <a:rPr lang="en-US" altLang="zh-TW" sz="2400" i="1" dirty="0">
                    <a:latin typeface="Times New Roman" panose="02020603050405020304" pitchFamily="18" charset="0"/>
                    <a:cs typeface="Times New Roman" panose="02020603050405020304" pitchFamily="18" charset="0"/>
                  </a:rPr>
                  <a:t>F</a:t>
                </a:r>
                <a:r>
                  <a:rPr lang="en-US" altLang="zh-TW" sz="2400" dirty="0">
                    <a:latin typeface="+mn-lt"/>
                  </a:rPr>
                  <a:t>):</a:t>
                </a:r>
              </a:p>
              <a:p>
                <a:pPr marL="0" indent="0" algn="ctr">
                  <a:buNone/>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𝐹</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𝑖</m:t>
                      </m:r>
                      <m:r>
                        <a:rPr lang="en-US" altLang="zh-TW" sz="2400" b="0" i="1" smtClean="0">
                          <a:latin typeface="Cambria Math" panose="02040503050406030204" pitchFamily="18" charset="0"/>
                        </a:rPr>
                        <m:t> ∈{0,1,…,</m:t>
                      </m:r>
                      <m:r>
                        <a:rPr lang="en-US" altLang="zh-TW" sz="2400" b="0" i="1" smtClean="0">
                          <a:latin typeface="Cambria Math" panose="02040503050406030204" pitchFamily="18" charset="0"/>
                          <a:ea typeface="Cambria Math" panose="02040503050406030204" pitchFamily="18" charset="0"/>
                        </a:rPr>
                        <m:t>𝑀</m:t>
                      </m:r>
                      <m:r>
                        <a:rPr lang="en-US" altLang="zh-TW" sz="2400" b="0" i="1" smtClean="0">
                          <a:latin typeface="Cambria Math" panose="02040503050406030204" pitchFamily="18" charset="0"/>
                          <a:ea typeface="Cambria Math" panose="02040503050406030204" pitchFamily="18" charset="0"/>
                        </a:rPr>
                        <m:t>−1}</m:t>
                      </m:r>
                    </m:oMath>
                  </m:oMathPara>
                </a14:m>
                <a:endParaRPr lang="en-US" altLang="zh-TW" sz="2400" dirty="0">
                  <a:latin typeface="+mn-lt"/>
                </a:endParaRPr>
              </a:p>
              <a:p>
                <a:r>
                  <a:rPr lang="en-US" altLang="zh-TW" i="1" dirty="0" err="1">
                    <a:latin typeface="Times New Roman" panose="02020603050405020304" pitchFamily="18" charset="0"/>
                    <a:cs typeface="Times New Roman" panose="02020603050405020304" pitchFamily="18" charset="0"/>
                  </a:rPr>
                  <a:t>EnsSet</a:t>
                </a:r>
                <a:r>
                  <a:rPr lang="en-US" altLang="zh-TW" sz="2400" dirty="0">
                    <a:latin typeface="+mn-lt"/>
                  </a:rPr>
                  <a:t> denote the set of all candidate deep ensembles:</a:t>
                </a:r>
              </a:p>
              <a:p>
                <a:pPr marL="0" indent="0" algn="ctr">
                  <a:buNone/>
                </a:pPr>
                <a14:m>
                  <m:oMath xmlns:m="http://schemas.openxmlformats.org/officeDocument/2006/math">
                    <m:d>
                      <m:dPr>
                        <m:begChr m:val="|"/>
                        <m:endChr m:val="|"/>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𝐸𝑛𝑠𝑆𝑒𝑡</m:t>
                        </m:r>
                        <m:r>
                          <m:rPr>
                            <m:nor/>
                          </m:rPr>
                          <a:rPr lang="zh-TW" altLang="en-US" sz="2400" dirty="0">
                            <a:latin typeface="+mn-lt"/>
                          </a:rPr>
                          <m:t> </m:t>
                        </m:r>
                      </m:e>
                    </m:d>
                    <m:r>
                      <a:rPr lang="en-US" altLang="zh-TW" sz="2400" b="0" i="1" smtClean="0">
                        <a:latin typeface="Cambria Math" panose="02040503050406030204" pitchFamily="18" charset="0"/>
                      </a:rPr>
                      <m:t>=</m:t>
                    </m:r>
                    <m:nary>
                      <m:naryPr>
                        <m:chr m:val="∑"/>
                        <m:limLoc m:val="subSup"/>
                        <m:ctrlPr>
                          <a:rPr lang="en-US" altLang="zh-TW" sz="2400" b="0" i="1" smtClean="0">
                            <a:latin typeface="Cambria Math" panose="02040503050406030204" pitchFamily="18" charset="0"/>
                          </a:rPr>
                        </m:ctrlPr>
                      </m:naryPr>
                      <m:sub>
                        <m:r>
                          <m:rPr>
                            <m:brk m:alnAt="25"/>
                          </m:rPr>
                          <a:rPr lang="en-US" altLang="zh-TW" sz="2400" b="0" i="1" smtClean="0">
                            <a:latin typeface="Cambria Math" panose="02040503050406030204" pitchFamily="18" charset="0"/>
                          </a:rPr>
                          <m:t>𝑆</m:t>
                        </m:r>
                        <m:r>
                          <a:rPr lang="en-US" altLang="zh-TW" sz="2400" b="0" i="1" smtClean="0">
                            <a:latin typeface="Cambria Math" panose="02040503050406030204" pitchFamily="18" charset="0"/>
                          </a:rPr>
                          <m:t>=2</m:t>
                        </m:r>
                      </m:sub>
                      <m:sup>
                        <m:r>
                          <a:rPr lang="en-US" altLang="zh-TW" sz="2400" b="0" i="1" smtClean="0">
                            <a:latin typeface="Cambria Math" panose="02040503050406030204" pitchFamily="18" charset="0"/>
                          </a:rPr>
                          <m:t>𝑀</m:t>
                        </m:r>
                        <m:r>
                          <a:rPr lang="en-US" altLang="zh-TW" sz="2400" b="0" i="1" smtClean="0">
                            <a:latin typeface="Cambria Math" panose="02040503050406030204" pitchFamily="18" charset="0"/>
                          </a:rPr>
                          <m:t>−1</m:t>
                        </m:r>
                      </m:sup>
                      <m:e>
                        <m:d>
                          <m:dPr>
                            <m:ctrlPr>
                              <a:rPr lang="en-US" altLang="zh-TW" sz="2400" b="0" i="1" smtClean="0">
                                <a:latin typeface="Cambria Math" panose="02040503050406030204" pitchFamily="18" charset="0"/>
                              </a:rPr>
                            </m:ctrlPr>
                          </m:dPr>
                          <m:e>
                            <m:f>
                              <m:fPr>
                                <m:type m:val="noBa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𝑀</m:t>
                                </m:r>
                              </m:num>
                              <m:den>
                                <m:r>
                                  <a:rPr lang="en-US" altLang="zh-TW" sz="2400" b="0" i="1" smtClean="0">
                                    <a:latin typeface="Cambria Math" panose="02040503050406030204" pitchFamily="18" charset="0"/>
                                  </a:rPr>
                                  <m:t>𝑆</m:t>
                                </m:r>
                              </m:den>
                            </m:f>
                          </m:e>
                        </m:d>
                      </m:e>
                    </m:nary>
                    <m:r>
                      <a:rPr lang="en-US" altLang="zh-TW" sz="2400" b="0" i="1" smtClean="0">
                        <a:latin typeface="Cambria Math" panose="02040503050406030204" pitchFamily="18" charset="0"/>
                      </a:rPr>
                      <m:t>= </m:t>
                    </m:r>
                    <m:sSup>
                      <m:sSupPr>
                        <m:ctrlPr>
                          <a:rPr lang="en-US" altLang="zh-TW" sz="2400" b="0" i="1" smtClean="0">
                            <a:latin typeface="Cambria Math" panose="02040503050406030204" pitchFamily="18" charset="0"/>
                          </a:rPr>
                        </m:ctrlPr>
                      </m:sSupPr>
                      <m:e>
                        <m:r>
                          <a:rPr lang="en-US" altLang="zh-TW" sz="2400" b="0" i="1" smtClean="0">
                            <a:latin typeface="Cambria Math" panose="02040503050406030204" pitchFamily="18" charset="0"/>
                          </a:rPr>
                          <m:t>2</m:t>
                        </m:r>
                      </m:e>
                      <m:sup>
                        <m:r>
                          <a:rPr lang="en-US" altLang="zh-TW" sz="2400" b="0" i="1" smtClean="0">
                            <a:latin typeface="Cambria Math" panose="02040503050406030204" pitchFamily="18" charset="0"/>
                          </a:rPr>
                          <m:t>𝑀</m:t>
                        </m:r>
                      </m:sup>
                    </m:sSup>
                    <m:r>
                      <a:rPr lang="en-US" altLang="zh-TW" sz="2400" b="0" i="1" smtClean="0">
                        <a:latin typeface="Cambria Math" panose="02040503050406030204" pitchFamily="18" charset="0"/>
                      </a:rPr>
                      <m:t>−(2+</m:t>
                    </m:r>
                    <m:r>
                      <a:rPr lang="en-US" altLang="zh-TW" sz="2400" b="0" i="1" smtClean="0">
                        <a:latin typeface="Cambria Math" panose="02040503050406030204" pitchFamily="18" charset="0"/>
                      </a:rPr>
                      <m:t>𝑀</m:t>
                    </m:r>
                    <m:r>
                      <a:rPr lang="en-US" altLang="zh-TW" sz="2400" b="0" i="1" smtClean="0">
                        <a:latin typeface="Cambria Math" panose="02040503050406030204" pitchFamily="18" charset="0"/>
                      </a:rPr>
                      <m:t>)</m:t>
                    </m:r>
                  </m:oMath>
                </a14:m>
                <a:r>
                  <a:rPr lang="en-US" altLang="zh-TW" sz="2400" dirty="0">
                    <a:latin typeface="+mn-lt"/>
                  </a:rPr>
                  <a:t> </a:t>
                </a:r>
              </a:p>
              <a:p>
                <a:r>
                  <a:rPr lang="en-US" altLang="zh-TW" sz="2400" dirty="0">
                    <a:latin typeface="+mn-lt"/>
                  </a:rPr>
                  <a:t>pruning duplicate or low diversity candidate ensembles</a:t>
                </a:r>
                <a:endParaRPr lang="zh-TW" altLang="en-US" sz="2400" dirty="0">
                  <a:latin typeface="+mn-lt"/>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043" t="-210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A99950F-3C0B-4ADC-8143-B88B548F7915}" type="slidenum">
              <a:rPr lang="zh-TW" altLang="en-US" smtClean="0"/>
              <a:pPr/>
              <a:t>5</a:t>
            </a:fld>
            <a:endParaRPr lang="zh-TW" altLang="en-US" dirty="0"/>
          </a:p>
        </p:txBody>
      </p:sp>
    </p:spTree>
    <p:extLst>
      <p:ext uri="{BB962C8B-B14F-4D97-AF65-F5344CB8AC3E}">
        <p14:creationId xmlns:p14="http://schemas.microsoft.com/office/powerpoint/2010/main" val="1394029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latin typeface="+mn-lt"/>
              </a:rPr>
              <a:t>TABLE I: Example Deep Ensembles for CIFAR-10 and ImageNet</a:t>
            </a:r>
            <a:endParaRPr lang="zh-TW" altLang="en-US" sz="3200" dirty="0">
              <a:latin typeface="+mn-lt"/>
            </a:endParaRPr>
          </a:p>
        </p:txBody>
      </p:sp>
      <p:pic>
        <p:nvPicPr>
          <p:cNvPr id="5" name="內容版面配置區 4"/>
          <p:cNvPicPr>
            <a:picLocks noGrp="1" noChangeAspect="1"/>
          </p:cNvPicPr>
          <p:nvPr>
            <p:ph idx="1"/>
          </p:nvPr>
        </p:nvPicPr>
        <p:blipFill rotWithShape="1">
          <a:blip r:embed="rId3"/>
          <a:srcRect l="-1" t="19576" r="39855"/>
          <a:stretch/>
        </p:blipFill>
        <p:spPr>
          <a:xfrm>
            <a:off x="1606977" y="1889759"/>
            <a:ext cx="9193103" cy="2052184"/>
          </a:xfrm>
          <a:prstGeom prst="rect">
            <a:avLst/>
          </a:prstGeom>
        </p:spPr>
      </p:pic>
      <p:sp>
        <p:nvSpPr>
          <p:cNvPr id="4" name="投影片編號版面配置區 3"/>
          <p:cNvSpPr>
            <a:spLocks noGrp="1"/>
          </p:cNvSpPr>
          <p:nvPr>
            <p:ph type="sldNum" sz="quarter" idx="12"/>
          </p:nvPr>
        </p:nvSpPr>
        <p:spPr/>
        <p:txBody>
          <a:bodyPr/>
          <a:lstStyle/>
          <a:p>
            <a:fld id="{AA99950F-3C0B-4ADC-8143-B88B548F7915}" type="slidenum">
              <a:rPr lang="zh-TW" altLang="en-US" smtClean="0"/>
              <a:pPr/>
              <a:t>6</a:t>
            </a:fld>
            <a:endParaRPr lang="zh-TW" altLang="en-US" dirty="0"/>
          </a:p>
        </p:txBody>
      </p:sp>
      <p:pic>
        <p:nvPicPr>
          <p:cNvPr id="6" name="內容版面配置區 4"/>
          <p:cNvPicPr>
            <a:picLocks noChangeAspect="1"/>
          </p:cNvPicPr>
          <p:nvPr/>
        </p:nvPicPr>
        <p:blipFill rotWithShape="1">
          <a:blip r:embed="rId3"/>
          <a:srcRect l="60092" t="19419"/>
          <a:stretch/>
        </p:blipFill>
        <p:spPr>
          <a:xfrm>
            <a:off x="2763520" y="4141014"/>
            <a:ext cx="6675120" cy="2250123"/>
          </a:xfrm>
          <a:prstGeom prst="rect">
            <a:avLst/>
          </a:prstGeom>
        </p:spPr>
      </p:pic>
    </p:spTree>
    <p:extLst>
      <p:ext uri="{BB962C8B-B14F-4D97-AF65-F5344CB8AC3E}">
        <p14:creationId xmlns:p14="http://schemas.microsoft.com/office/powerpoint/2010/main" val="1196689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p:cNvPicPr>
            <a:picLocks noGrp="1" noChangeAspect="1"/>
          </p:cNvPicPr>
          <p:nvPr>
            <p:ph idx="1"/>
          </p:nvPr>
        </p:nvPicPr>
        <p:blipFill>
          <a:blip r:embed="rId3"/>
          <a:stretch>
            <a:fillRect/>
          </a:stretch>
        </p:blipFill>
        <p:spPr>
          <a:xfrm>
            <a:off x="1872624" y="1226917"/>
            <a:ext cx="8446752" cy="4532664"/>
          </a:xfrm>
          <a:prstGeom prst="rect">
            <a:avLst/>
          </a:prstGeom>
        </p:spPr>
      </p:pic>
      <p:sp>
        <p:nvSpPr>
          <p:cNvPr id="4" name="投影片編號版面配置區 3"/>
          <p:cNvSpPr>
            <a:spLocks noGrp="1"/>
          </p:cNvSpPr>
          <p:nvPr>
            <p:ph type="sldNum" sz="quarter" idx="12"/>
          </p:nvPr>
        </p:nvSpPr>
        <p:spPr/>
        <p:txBody>
          <a:bodyPr/>
          <a:lstStyle/>
          <a:p>
            <a:fld id="{AA99950F-3C0B-4ADC-8143-B88B548F7915}" type="slidenum">
              <a:rPr lang="zh-TW" altLang="en-US" smtClean="0"/>
              <a:pPr/>
              <a:t>7</a:t>
            </a:fld>
            <a:endParaRPr lang="zh-TW" altLang="en-US" dirty="0"/>
          </a:p>
        </p:txBody>
      </p:sp>
    </p:spTree>
    <p:extLst>
      <p:ext uri="{BB962C8B-B14F-4D97-AF65-F5344CB8AC3E}">
        <p14:creationId xmlns:p14="http://schemas.microsoft.com/office/powerpoint/2010/main" val="2881263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a:latin typeface="+mn-lt"/>
              </a:rPr>
              <a:t>Problems with Baseline Ensemble Pruning</a:t>
            </a:r>
            <a:endParaRPr lang="zh-TW" altLang="en-US" sz="3600" dirty="0">
              <a:latin typeface="+mn-lt"/>
            </a:endParaRPr>
          </a:p>
        </p:txBody>
      </p:sp>
      <p:sp>
        <p:nvSpPr>
          <p:cNvPr id="3" name="內容版面配置區 2"/>
          <p:cNvSpPr>
            <a:spLocks noGrp="1"/>
          </p:cNvSpPr>
          <p:nvPr>
            <p:ph idx="1"/>
          </p:nvPr>
        </p:nvSpPr>
        <p:spPr/>
        <p:txBody>
          <a:bodyPr>
            <a:normAutofit/>
          </a:bodyPr>
          <a:lstStyle/>
          <a:p>
            <a:r>
              <a:rPr lang="en-US" altLang="zh-TW" dirty="0"/>
              <a:t>Evaluation Methods: </a:t>
            </a:r>
            <a:r>
              <a:rPr lang="en-US" altLang="zh-TW" sz="2800" dirty="0">
                <a:latin typeface="+mn-lt"/>
              </a:rPr>
              <a:t>Cohen’s Kappa (CK), </a:t>
            </a:r>
            <a:r>
              <a:rPr lang="en-US" altLang="zh-TW" dirty="0"/>
              <a:t>Binary Disagreement (BD), </a:t>
            </a:r>
            <a:r>
              <a:rPr lang="en-US" altLang="zh-TW" dirty="0" err="1"/>
              <a:t>Kohavi-Wolpert</a:t>
            </a:r>
            <a:r>
              <a:rPr lang="en-US" altLang="zh-TW" dirty="0"/>
              <a:t> Variance (KW), Generalized Diversity (GD)</a:t>
            </a:r>
            <a:endParaRPr lang="en-US" altLang="zh-TW" sz="2800" dirty="0">
              <a:latin typeface="+mn-lt"/>
            </a:endParaRPr>
          </a:p>
          <a:p>
            <a:r>
              <a:rPr lang="en-US" altLang="zh-TW" sz="2800" dirty="0">
                <a:latin typeface="+mn-lt"/>
              </a:rPr>
              <a:t>diversity measures are originally designed for comparing ensembles instead of selecting ensembles</a:t>
            </a:r>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pPr/>
              <a:t>8</a:t>
            </a:fld>
            <a:endParaRPr lang="zh-TW" altLang="en-US" dirty="0"/>
          </a:p>
        </p:txBody>
      </p:sp>
    </p:spTree>
    <p:extLst>
      <p:ext uri="{BB962C8B-B14F-4D97-AF65-F5344CB8AC3E}">
        <p14:creationId xmlns:p14="http://schemas.microsoft.com/office/powerpoint/2010/main" val="2942570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Problems with Baseline Ensemble Pruning</a:t>
            </a:r>
            <a:endParaRPr lang="zh-TW" altLang="en-US" dirty="0"/>
          </a:p>
        </p:txBody>
      </p:sp>
      <p:sp>
        <p:nvSpPr>
          <p:cNvPr id="3" name="內容版面配置區 2"/>
          <p:cNvSpPr>
            <a:spLocks noGrp="1"/>
          </p:cNvSpPr>
          <p:nvPr>
            <p:ph idx="1"/>
          </p:nvPr>
        </p:nvSpPr>
        <p:spPr>
          <a:xfrm>
            <a:off x="838200" y="1825625"/>
            <a:ext cx="10515600" cy="4895850"/>
          </a:xfrm>
        </p:spPr>
        <p:txBody>
          <a:bodyPr>
            <a:normAutofit/>
          </a:bodyPr>
          <a:lstStyle/>
          <a:p>
            <a:r>
              <a:rPr lang="en-US" altLang="zh-TW" dirty="0"/>
              <a:t>A baseline method</a:t>
            </a:r>
            <a:r>
              <a:rPr lang="zh-TW" altLang="en-US" dirty="0"/>
              <a:t> </a:t>
            </a:r>
            <a:r>
              <a:rPr lang="en-US" altLang="zh-TW" dirty="0"/>
              <a:t>can be</a:t>
            </a:r>
            <a:r>
              <a:rPr lang="zh-TW" altLang="en-US" dirty="0"/>
              <a:t> </a:t>
            </a:r>
            <a:r>
              <a:rPr lang="en-US" altLang="zh-TW" dirty="0"/>
              <a:t>performed in three steps:</a:t>
            </a:r>
          </a:p>
          <a:p>
            <a:pPr marL="914400" lvl="1" indent="-457200">
              <a:buFont typeface="+mj-lt"/>
              <a:buAutoNum type="arabicPeriod"/>
            </a:pPr>
            <a:r>
              <a:rPr lang="en-US" altLang="zh-TW" dirty="0"/>
              <a:t>compute the ensemble diversity score using CK, BD, KW or GD</a:t>
            </a:r>
          </a:p>
          <a:p>
            <a:pPr marL="914400" lvl="1" indent="-457200">
              <a:buFont typeface="+mj-lt"/>
              <a:buAutoNum type="arabicPeriod"/>
            </a:pPr>
            <a:r>
              <a:rPr lang="en-US" altLang="zh-TW" dirty="0"/>
              <a:t>compute the mean diversity threshold</a:t>
            </a:r>
          </a:p>
          <a:p>
            <a:pPr marL="914400" lvl="1" indent="-457200">
              <a:buFont typeface="+mj-lt"/>
              <a:buAutoNum type="arabicPeriod"/>
            </a:pPr>
            <a:r>
              <a:rPr lang="en-US" altLang="zh-TW" dirty="0"/>
              <a:t>select those ensembles in </a:t>
            </a:r>
            <a:r>
              <a:rPr lang="en-US" altLang="zh-TW" dirty="0" err="1"/>
              <a:t>EnsSet</a:t>
            </a:r>
            <a:r>
              <a:rPr lang="en-US" altLang="zh-TW" dirty="0"/>
              <a:t> with their diversity scores below the threshold</a:t>
            </a:r>
            <a:endParaRPr lang="zh-TW" altLang="en-US" dirty="0"/>
          </a:p>
          <a:p>
            <a:r>
              <a:rPr lang="en-US" altLang="zh-TW" dirty="0"/>
              <a:t>evaluate the performance of each deep ensemble pruning algorithm in terms of four metrics: </a:t>
            </a:r>
          </a:p>
          <a:p>
            <a:pPr marL="0" indent="0">
              <a:buNone/>
            </a:pPr>
            <a:r>
              <a:rPr lang="en-US" altLang="zh-TW" dirty="0"/>
              <a:t>   accuracy range, precision, recall, and cost</a:t>
            </a:r>
            <a:endParaRPr lang="zh-TW" altLang="en-US" dirty="0"/>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pPr/>
              <a:t>9</a:t>
            </a:fld>
            <a:endParaRPr lang="zh-TW" altLang="en-US" dirty="0"/>
          </a:p>
        </p:txBody>
      </p:sp>
    </p:spTree>
    <p:extLst>
      <p:ext uri="{BB962C8B-B14F-4D97-AF65-F5344CB8AC3E}">
        <p14:creationId xmlns:p14="http://schemas.microsoft.com/office/powerpoint/2010/main" val="3634342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795781" y="4880316"/>
            <a:ext cx="4814819" cy="1325563"/>
          </a:xfrm>
        </p:spPr>
        <p:txBody>
          <a:bodyPr>
            <a:normAutofit/>
          </a:bodyPr>
          <a:lstStyle/>
          <a:p>
            <a:r>
              <a:rPr lang="en-US" altLang="zh-TW" sz="2800" dirty="0"/>
              <a:t>(a) GD, Pruning 427 out of 1012</a:t>
            </a:r>
            <a:endParaRPr lang="zh-TW" altLang="en-US" sz="2800" dirty="0"/>
          </a:p>
        </p:txBody>
      </p:sp>
      <p:pic>
        <p:nvPicPr>
          <p:cNvPr id="5" name="內容版面配置區 4"/>
          <p:cNvPicPr>
            <a:picLocks noGrp="1" noChangeAspect="1"/>
          </p:cNvPicPr>
          <p:nvPr>
            <p:ph idx="1"/>
          </p:nvPr>
        </p:nvPicPr>
        <p:blipFill rotWithShape="1">
          <a:blip r:embed="rId3"/>
          <a:srcRect r="49826"/>
          <a:stretch/>
        </p:blipFill>
        <p:spPr>
          <a:xfrm>
            <a:off x="3148315" y="482281"/>
            <a:ext cx="6251003" cy="4548506"/>
          </a:xfrm>
          <a:prstGeom prst="rect">
            <a:avLst/>
          </a:prstGeom>
        </p:spPr>
      </p:pic>
      <p:sp>
        <p:nvSpPr>
          <p:cNvPr id="4" name="投影片編號版面配置區 3"/>
          <p:cNvSpPr>
            <a:spLocks noGrp="1"/>
          </p:cNvSpPr>
          <p:nvPr>
            <p:ph type="sldNum" sz="quarter" idx="12"/>
          </p:nvPr>
        </p:nvSpPr>
        <p:spPr/>
        <p:txBody>
          <a:bodyPr/>
          <a:lstStyle/>
          <a:p>
            <a:fld id="{AA99950F-3C0B-4ADC-8143-B88B548F7915}" type="slidenum">
              <a:rPr lang="zh-TW" altLang="en-US" smtClean="0"/>
              <a:pPr/>
              <a:t>10</a:t>
            </a:fld>
            <a:endParaRPr lang="zh-TW" altLang="en-US" dirty="0"/>
          </a:p>
        </p:txBody>
      </p:sp>
    </p:spTree>
    <p:extLst>
      <p:ext uri="{BB962C8B-B14F-4D97-AF65-F5344CB8AC3E}">
        <p14:creationId xmlns:p14="http://schemas.microsoft.com/office/powerpoint/2010/main" val="2512810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p:cNvPicPr>
            <a:picLocks noGrp="1" noChangeAspect="1"/>
          </p:cNvPicPr>
          <p:nvPr>
            <p:ph idx="1"/>
          </p:nvPr>
        </p:nvPicPr>
        <p:blipFill>
          <a:blip r:embed="rId3"/>
          <a:stretch>
            <a:fillRect/>
          </a:stretch>
        </p:blipFill>
        <p:spPr>
          <a:xfrm>
            <a:off x="860151" y="801816"/>
            <a:ext cx="10493649" cy="2568163"/>
          </a:xfrm>
          <a:prstGeom prst="rect">
            <a:avLst/>
          </a:prstGeom>
        </p:spPr>
      </p:pic>
      <p:sp>
        <p:nvSpPr>
          <p:cNvPr id="4" name="投影片編號版面配置區 3"/>
          <p:cNvSpPr>
            <a:spLocks noGrp="1"/>
          </p:cNvSpPr>
          <p:nvPr>
            <p:ph type="sldNum" sz="quarter" idx="12"/>
          </p:nvPr>
        </p:nvSpPr>
        <p:spPr/>
        <p:txBody>
          <a:bodyPr/>
          <a:lstStyle/>
          <a:p>
            <a:fld id="{AA99950F-3C0B-4ADC-8143-B88B548F7915}" type="slidenum">
              <a:rPr lang="zh-TW" altLang="en-US" smtClean="0"/>
              <a:pPr/>
              <a:t>11</a:t>
            </a:fld>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860151" y="4123919"/>
                <a:ext cx="2840905" cy="17645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i="1">
                          <a:latin typeface="Cambria Math" panose="02040503050406030204" pitchFamily="18" charset="0"/>
                        </a:rPr>
                        <m:t>Precision</m:t>
                      </m:r>
                      <m:r>
                        <a:rPr lang="en-US" altLang="zh-TW" sz="2400" smtClean="0">
                          <a:latin typeface="Cambria Math" panose="02040503050406030204" pitchFamily="18" charset="0"/>
                        </a:rPr>
                        <m:t>= </m:t>
                      </m:r>
                      <m:f>
                        <m:fPr>
                          <m:ctrlPr>
                            <a:rPr lang="en-US" altLang="zh-TW" sz="2400" i="1">
                              <a:latin typeface="Cambria Math" panose="02040503050406030204" pitchFamily="18" charset="0"/>
                            </a:rPr>
                          </m:ctrlPr>
                        </m:fPr>
                        <m:num>
                          <m:r>
                            <m:rPr>
                              <m:sty m:val="p"/>
                            </m:rPr>
                            <a:rPr lang="en-US" altLang="zh-TW" sz="2400">
                              <a:latin typeface="Cambria Math" panose="02040503050406030204" pitchFamily="18" charset="0"/>
                            </a:rPr>
                            <m:t>TP</m:t>
                          </m:r>
                        </m:num>
                        <m:den>
                          <m:r>
                            <m:rPr>
                              <m:sty m:val="p"/>
                            </m:rPr>
                            <a:rPr lang="en-US" altLang="zh-TW" sz="2400" i="0">
                              <a:latin typeface="Cambria Math" panose="02040503050406030204" pitchFamily="18" charset="0"/>
                            </a:rPr>
                            <m:t>TP</m:t>
                          </m:r>
                          <m:r>
                            <a:rPr lang="en-US" altLang="zh-TW" sz="2400" i="0">
                              <a:latin typeface="Cambria Math" panose="02040503050406030204" pitchFamily="18" charset="0"/>
                            </a:rPr>
                            <m:t>+</m:t>
                          </m:r>
                          <m:r>
                            <m:rPr>
                              <m:sty m:val="p"/>
                            </m:rPr>
                            <a:rPr lang="en-US" altLang="zh-TW" sz="2400" i="0">
                              <a:latin typeface="Cambria Math" panose="02040503050406030204" pitchFamily="18" charset="0"/>
                            </a:rPr>
                            <m:t>FP</m:t>
                          </m:r>
                        </m:den>
                      </m:f>
                    </m:oMath>
                  </m:oMathPara>
                </a14:m>
                <a:endParaRPr lang="zh-TW" altLang="en-US" sz="2400" dirty="0"/>
              </a:p>
              <a:p>
                <a:endParaRPr lang="en-US" altLang="zh-TW" sz="2400"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Recall</m:t>
                      </m:r>
                      <m:r>
                        <a:rPr lang="en-US" altLang="zh-TW" sz="2400" b="0" i="0" smtClean="0">
                          <a:latin typeface="Cambria Math" panose="02040503050406030204" pitchFamily="18" charset="0"/>
                        </a:rPr>
                        <m:t>= </m:t>
                      </m:r>
                      <m:f>
                        <m:fPr>
                          <m:ctrlPr>
                            <a:rPr lang="en-US" altLang="zh-TW" sz="2400" b="0" i="1" smtClean="0">
                              <a:latin typeface="Cambria Math" panose="02040503050406030204" pitchFamily="18" charset="0"/>
                            </a:rPr>
                          </m:ctrlPr>
                        </m:fPr>
                        <m:num>
                          <m:r>
                            <m:rPr>
                              <m:sty m:val="p"/>
                            </m:rPr>
                            <a:rPr lang="en-US" altLang="zh-TW" sz="2400" b="0" i="0" smtClean="0">
                              <a:latin typeface="Cambria Math" panose="02040503050406030204" pitchFamily="18" charset="0"/>
                            </a:rPr>
                            <m:t>TP</m:t>
                          </m:r>
                        </m:num>
                        <m:den>
                          <m:r>
                            <m:rPr>
                              <m:sty m:val="p"/>
                            </m:rPr>
                            <a:rPr lang="en-US" altLang="zh-TW" sz="2400" b="0" i="0" smtClean="0">
                              <a:latin typeface="Cambria Math" panose="02040503050406030204" pitchFamily="18" charset="0"/>
                            </a:rPr>
                            <m:t>TP</m:t>
                          </m:r>
                          <m:r>
                            <a:rPr lang="en-US" altLang="zh-TW" sz="2400" b="0" i="0" smtClean="0">
                              <a:latin typeface="Cambria Math" panose="02040503050406030204" pitchFamily="18" charset="0"/>
                            </a:rPr>
                            <m:t>+</m:t>
                          </m:r>
                          <m:r>
                            <m:rPr>
                              <m:sty m:val="p"/>
                            </m:rPr>
                            <a:rPr lang="en-US" altLang="zh-TW" sz="2400" b="0" i="0" smtClean="0">
                              <a:latin typeface="Cambria Math" panose="02040503050406030204" pitchFamily="18" charset="0"/>
                            </a:rPr>
                            <m:t>FN</m:t>
                          </m:r>
                        </m:den>
                      </m:f>
                    </m:oMath>
                  </m:oMathPara>
                </a14:m>
                <a:endParaRPr lang="zh-TW" altLang="en-US"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860151" y="4123919"/>
                <a:ext cx="2840905" cy="1764586"/>
              </a:xfrm>
              <a:prstGeom prst="rect">
                <a:avLst/>
              </a:prstGeom>
              <a:blipFill>
                <a:blip r:embed="rId4"/>
                <a:stretch>
                  <a:fillRect/>
                </a:stretch>
              </a:blipFill>
            </p:spPr>
            <p:txBody>
              <a:bodyPr/>
              <a:lstStyle/>
              <a:p>
                <a:r>
                  <a:rPr lang="zh-TW" altLang="en-US">
                    <a:noFill/>
                  </a:rPr>
                  <a:t> </a:t>
                </a:r>
              </a:p>
            </p:txBody>
          </p:sp>
        </mc:Fallback>
      </mc:AlternateContent>
      <p:sp>
        <p:nvSpPr>
          <p:cNvPr id="7" name="矩形 6"/>
          <p:cNvSpPr/>
          <p:nvPr/>
        </p:nvSpPr>
        <p:spPr>
          <a:xfrm>
            <a:off x="4495801" y="3852050"/>
            <a:ext cx="6372828" cy="2308324"/>
          </a:xfrm>
          <a:prstGeom prst="rect">
            <a:avLst/>
          </a:prstGeom>
        </p:spPr>
        <p:txBody>
          <a:bodyPr wrap="square">
            <a:spAutoFit/>
          </a:bodyPr>
          <a:lstStyle/>
          <a:p>
            <a:r>
              <a:rPr lang="en-US" altLang="zh-TW" dirty="0">
                <a:solidFill>
                  <a:srgbClr val="374151"/>
                </a:solidFill>
              </a:rPr>
              <a:t>TP: The number of </a:t>
            </a:r>
            <a:r>
              <a:rPr lang="en-US" altLang="zh-TW" dirty="0" err="1"/>
              <a:t>GEnsSet</a:t>
            </a:r>
            <a:r>
              <a:rPr lang="en-US" altLang="zh-TW" dirty="0">
                <a:solidFill>
                  <a:srgbClr val="374151"/>
                </a:solidFill>
              </a:rPr>
              <a:t> where the accuracy is equal to or higher than the accuracy of the given entire ensemble.</a:t>
            </a:r>
          </a:p>
          <a:p>
            <a:r>
              <a:rPr lang="en-US" altLang="zh-TW" dirty="0">
                <a:solidFill>
                  <a:srgbClr val="374151"/>
                </a:solidFill>
              </a:rPr>
              <a:t>TN: The number of ensembles pruned where the accuracy is lower than the accuracy of the given entire ensemble.</a:t>
            </a:r>
          </a:p>
          <a:p>
            <a:r>
              <a:rPr lang="en-US" altLang="zh-TW" dirty="0">
                <a:solidFill>
                  <a:srgbClr val="374151"/>
                </a:solidFill>
              </a:rPr>
              <a:t>FP: The number of </a:t>
            </a:r>
            <a:r>
              <a:rPr lang="en-US" altLang="zh-TW" dirty="0" err="1"/>
              <a:t>GEnsSet</a:t>
            </a:r>
            <a:r>
              <a:rPr lang="en-US" altLang="zh-TW" dirty="0"/>
              <a:t> </a:t>
            </a:r>
            <a:r>
              <a:rPr lang="en-US" altLang="zh-TW" dirty="0">
                <a:solidFill>
                  <a:srgbClr val="374151"/>
                </a:solidFill>
              </a:rPr>
              <a:t>where the accuracy is lower than the accuracy of the given entire ensemble.</a:t>
            </a:r>
          </a:p>
          <a:p>
            <a:r>
              <a:rPr lang="en-US" altLang="zh-TW" dirty="0">
                <a:solidFill>
                  <a:srgbClr val="374151"/>
                </a:solidFill>
              </a:rPr>
              <a:t>FN: The number of ensembles pruned where the accuracy is equal to or higher than the accuracy of the given entire ensemble.</a:t>
            </a:r>
            <a:endParaRPr lang="en-US" altLang="zh-TW" b="0" i="0" dirty="0">
              <a:solidFill>
                <a:srgbClr val="374151"/>
              </a:solidFill>
              <a:effectLst/>
            </a:endParaRPr>
          </a:p>
        </p:txBody>
      </p:sp>
    </p:spTree>
    <p:extLst>
      <p:ext uri="{BB962C8B-B14F-4D97-AF65-F5344CB8AC3E}">
        <p14:creationId xmlns:p14="http://schemas.microsoft.com/office/powerpoint/2010/main" val="1940551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dirty="0">
                <a:latin typeface="+mn-lt"/>
              </a:rPr>
              <a:t>Focal Diversity based Hierarchical Pruning</a:t>
            </a:r>
            <a:endParaRPr lang="zh-TW" altLang="en-US" sz="4800" dirty="0">
              <a:latin typeface="+mn-lt"/>
            </a:endParaRPr>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12</a:t>
            </a:fld>
            <a:endParaRPr lang="zh-TW" altLang="en-US"/>
          </a:p>
        </p:txBody>
      </p:sp>
    </p:spTree>
    <p:extLst>
      <p:ext uri="{BB962C8B-B14F-4D97-AF65-F5344CB8AC3E}">
        <p14:creationId xmlns:p14="http://schemas.microsoft.com/office/powerpoint/2010/main" val="3699533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Focal Diversity Concept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a:t>Aims to capture the failure independence based diversity of an ensemble of S member models for classification</a:t>
                </a:r>
              </a:p>
              <a:p>
                <a:r>
                  <a:rPr lang="en-US" altLang="zh-TW" dirty="0"/>
                  <a:t>Select negative samples from a specific focal model (</a:t>
                </a:r>
                <a14:m>
                  <m:oMath xmlns:m="http://schemas.openxmlformats.org/officeDocument/2006/math">
                    <m:r>
                      <a:rPr lang="en-US" altLang="zh-TW" i="1" dirty="0" smtClean="0">
                        <a:latin typeface="Cambria Math" panose="02040503050406030204" pitchFamily="18" charset="0"/>
                      </a:rPr>
                      <m:t>𝑁𝑒𝑔𝑆𝑎𝑚𝑝𝑆𝑒𝑡</m:t>
                    </m:r>
                    <m:r>
                      <a:rPr lang="en-US" altLang="zh-TW" i="1" dirty="0">
                        <a:latin typeface="Cambria Math" panose="02040503050406030204" pitchFamily="18" charset="0"/>
                      </a:rPr>
                      <m:t>(</m:t>
                    </m:r>
                    <m:sSub>
                      <m:sSubPr>
                        <m:ctrlPr>
                          <a:rPr lang="en-US" altLang="zh-TW" i="1" dirty="0" smtClean="0">
                            <a:latin typeface="Cambria Math" panose="02040503050406030204" pitchFamily="18" charset="0"/>
                          </a:rPr>
                        </m:ctrlPr>
                      </m:sSubPr>
                      <m:e>
                        <m:r>
                          <a:rPr lang="en-US" altLang="zh-TW" i="1" dirty="0">
                            <a:latin typeface="Cambria Math" panose="02040503050406030204" pitchFamily="18" charset="0"/>
                          </a:rPr>
                          <m:t>𝐹</m:t>
                        </m:r>
                      </m:e>
                      <m:sub>
                        <m:r>
                          <a:rPr lang="en-US" altLang="zh-TW" i="1" dirty="0">
                            <a:latin typeface="Cambria Math" panose="02040503050406030204" pitchFamily="18" charset="0"/>
                          </a:rPr>
                          <m:t>𝑓</m:t>
                        </m:r>
                      </m:sub>
                    </m:sSub>
                    <m:r>
                      <a:rPr lang="en-US" altLang="zh-TW" i="1" dirty="0">
                        <a:latin typeface="Cambria Math" panose="02040503050406030204" pitchFamily="18" charset="0"/>
                      </a:rPr>
                      <m:t> )</m:t>
                    </m:r>
                  </m:oMath>
                </a14:m>
                <a:r>
                  <a:rPr lang="en-US" altLang="zh-TW" dirty="0"/>
                  <a:t>) and then calculate diversity score</a:t>
                </a:r>
              </a:p>
              <a:p>
                <a:r>
                  <a:rPr lang="en-US" altLang="zh-TW" dirty="0"/>
                  <a:t>For an ensemble of S models, we will have S diversity scores.</a:t>
                </a:r>
              </a:p>
              <a:p>
                <a:r>
                  <a:rPr lang="en-US" altLang="zh-TW" dirty="0"/>
                  <a:t>Taking the average as the final focal diversity score</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AA99950F-3C0B-4ADC-8143-B88B548F7915}" type="slidenum">
              <a:rPr lang="zh-TW" altLang="en-US" smtClean="0"/>
              <a:pPr/>
              <a:t>13</a:t>
            </a:fld>
            <a:endParaRPr lang="zh-TW" altLang="en-US" dirty="0"/>
          </a:p>
        </p:txBody>
      </p:sp>
    </p:spTree>
    <p:extLst>
      <p:ext uri="{BB962C8B-B14F-4D97-AF65-F5344CB8AC3E}">
        <p14:creationId xmlns:p14="http://schemas.microsoft.com/office/powerpoint/2010/main" val="3874222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018822" y="5030787"/>
            <a:ext cx="10515600" cy="1325563"/>
          </a:xfrm>
        </p:spPr>
        <p:txBody>
          <a:bodyPr>
            <a:normAutofit/>
          </a:bodyPr>
          <a:lstStyle/>
          <a:p>
            <a:r>
              <a:rPr lang="en-US" altLang="zh-TW" sz="2800" dirty="0"/>
              <a:t>(a) GD, Pruning 427 out of 1012 (b) F-GD, Pruning 517 out of 1012</a:t>
            </a:r>
            <a:endParaRPr lang="zh-TW" altLang="en-US" sz="2800" dirty="0"/>
          </a:p>
        </p:txBody>
      </p:sp>
      <p:pic>
        <p:nvPicPr>
          <p:cNvPr id="5" name="內容版面配置區 4"/>
          <p:cNvPicPr>
            <a:picLocks noGrp="1" noChangeAspect="1"/>
          </p:cNvPicPr>
          <p:nvPr>
            <p:ph idx="1"/>
          </p:nvPr>
        </p:nvPicPr>
        <p:blipFill>
          <a:blip r:embed="rId3"/>
          <a:stretch>
            <a:fillRect/>
          </a:stretch>
        </p:blipFill>
        <p:spPr>
          <a:xfrm>
            <a:off x="537374" y="933591"/>
            <a:ext cx="11478496" cy="4190688"/>
          </a:xfrm>
          <a:prstGeom prst="rect">
            <a:avLst/>
          </a:prstGeom>
        </p:spPr>
      </p:pic>
      <p:sp>
        <p:nvSpPr>
          <p:cNvPr id="4" name="投影片編號版面配置區 3"/>
          <p:cNvSpPr>
            <a:spLocks noGrp="1"/>
          </p:cNvSpPr>
          <p:nvPr>
            <p:ph type="sldNum" sz="quarter" idx="12"/>
          </p:nvPr>
        </p:nvSpPr>
        <p:spPr/>
        <p:txBody>
          <a:bodyPr/>
          <a:lstStyle/>
          <a:p>
            <a:fld id="{AA99950F-3C0B-4ADC-8143-B88B548F7915}" type="slidenum">
              <a:rPr lang="zh-TW" altLang="en-US" smtClean="0"/>
              <a:pPr/>
              <a:t>14</a:t>
            </a:fld>
            <a:endParaRPr lang="zh-TW" altLang="en-US" dirty="0"/>
          </a:p>
        </p:txBody>
      </p:sp>
    </p:spTree>
    <p:extLst>
      <p:ext uri="{BB962C8B-B14F-4D97-AF65-F5344CB8AC3E}">
        <p14:creationId xmlns:p14="http://schemas.microsoft.com/office/powerpoint/2010/main" val="8505301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78AE97-2C97-B649-8B44-762C9EC7DCBC}"/>
              </a:ext>
            </a:extLst>
          </p:cNvPr>
          <p:cNvSpPr>
            <a:spLocks noGrp="1"/>
          </p:cNvSpPr>
          <p:nvPr>
            <p:ph type="title"/>
          </p:nvPr>
        </p:nvSpPr>
        <p:spPr/>
        <p:txBody>
          <a:bodyPr/>
          <a:lstStyle/>
          <a:p>
            <a:r>
              <a:rPr lang="en" altLang="zh-TW" dirty="0"/>
              <a:t>Hierarchical Pruning Overview</a:t>
            </a:r>
            <a:endParaRPr kumimoji="1" lang="zh-TW" altLang="en-US" dirty="0"/>
          </a:p>
        </p:txBody>
      </p:sp>
      <p:sp>
        <p:nvSpPr>
          <p:cNvPr id="3" name="內容版面配置區 2">
            <a:extLst>
              <a:ext uri="{FF2B5EF4-FFF2-40B4-BE49-F238E27FC236}">
                <a16:creationId xmlns:a16="http://schemas.microsoft.com/office/drawing/2014/main" id="{48D9020D-260F-8B41-94E9-18D1CBCEA774}"/>
              </a:ext>
            </a:extLst>
          </p:cNvPr>
          <p:cNvSpPr>
            <a:spLocks noGrp="1"/>
          </p:cNvSpPr>
          <p:nvPr>
            <p:ph idx="1"/>
          </p:nvPr>
        </p:nvSpPr>
        <p:spPr>
          <a:xfrm>
            <a:off x="838200" y="1825625"/>
            <a:ext cx="10515600" cy="4351338"/>
          </a:xfrm>
        </p:spPr>
        <p:txBody>
          <a:bodyPr/>
          <a:lstStyle/>
          <a:p>
            <a:r>
              <a:rPr lang="en" altLang="zh-TW" dirty="0"/>
              <a:t>If an ensemble of S models has a large F-GD diversity score, it often indicates insufficient ensemble diversity, high correlation for prediction errors, thus redundant for the entire ensemble. </a:t>
            </a:r>
          </a:p>
          <a:p>
            <a:pPr lvl="1"/>
            <a:r>
              <a:rPr lang="en-US" altLang="zh-TW" dirty="0"/>
              <a:t>The superset of these ensemble succeed low </a:t>
            </a:r>
            <a:r>
              <a:rPr lang="en" altLang="zh-TW" dirty="0"/>
              <a:t>ensemble diversity.</a:t>
            </a:r>
          </a:p>
          <a:p>
            <a:r>
              <a:rPr lang="en" altLang="zh-TW" dirty="0"/>
              <a:t>So they design a hierarchical focal diversity based pruning algorithm. </a:t>
            </a:r>
          </a:p>
          <a:p>
            <a:endParaRPr kumimoji="1" lang="zh-TW" altLang="en-US" dirty="0"/>
          </a:p>
        </p:txBody>
      </p:sp>
      <p:sp>
        <p:nvSpPr>
          <p:cNvPr id="4" name="投影片編號版面配置區 3">
            <a:extLst>
              <a:ext uri="{FF2B5EF4-FFF2-40B4-BE49-F238E27FC236}">
                <a16:creationId xmlns:a16="http://schemas.microsoft.com/office/drawing/2014/main" id="{71109768-AFC6-F343-9D31-0912AA2C29A4}"/>
              </a:ext>
            </a:extLst>
          </p:cNvPr>
          <p:cNvSpPr>
            <a:spLocks noGrp="1"/>
          </p:cNvSpPr>
          <p:nvPr>
            <p:ph type="sldNum" sz="quarter" idx="12"/>
          </p:nvPr>
        </p:nvSpPr>
        <p:spPr/>
        <p:txBody>
          <a:bodyPr/>
          <a:lstStyle/>
          <a:p>
            <a:fld id="{AA99950F-3C0B-4ADC-8143-B88B548F7915}" type="slidenum">
              <a:rPr lang="zh-TW" altLang="en-US" smtClean="0"/>
              <a:pPr/>
              <a:t>15</a:t>
            </a:fld>
            <a:endParaRPr lang="zh-TW" altLang="en-US" dirty="0"/>
          </a:p>
        </p:txBody>
      </p:sp>
    </p:spTree>
    <p:extLst>
      <p:ext uri="{BB962C8B-B14F-4D97-AF65-F5344CB8AC3E}">
        <p14:creationId xmlns:p14="http://schemas.microsoft.com/office/powerpoint/2010/main" val="2342751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E78AE97-2C97-B649-8B44-762C9EC7DCBC}"/>
              </a:ext>
            </a:extLst>
          </p:cNvPr>
          <p:cNvSpPr>
            <a:spLocks noGrp="1"/>
          </p:cNvSpPr>
          <p:nvPr>
            <p:ph type="title"/>
          </p:nvPr>
        </p:nvSpPr>
        <p:spPr/>
        <p:txBody>
          <a:bodyPr/>
          <a:lstStyle/>
          <a:p>
            <a:r>
              <a:rPr lang="en" altLang="zh-TW" dirty="0"/>
              <a:t>Hierarchical Pruning Overview</a:t>
            </a:r>
            <a:endParaRPr kumimoji="1" lang="zh-TW" altLang="en-US" dirty="0"/>
          </a:p>
        </p:txBody>
      </p:sp>
      <p:pic>
        <p:nvPicPr>
          <p:cNvPr id="6" name="內容版面配置區 5">
            <a:extLst>
              <a:ext uri="{FF2B5EF4-FFF2-40B4-BE49-F238E27FC236}">
                <a16:creationId xmlns:a16="http://schemas.microsoft.com/office/drawing/2014/main" id="{7DC8BC35-6CC8-8643-892B-4CF8045C25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99333" y="1825625"/>
            <a:ext cx="7993333" cy="4351338"/>
          </a:xfrm>
        </p:spPr>
      </p:pic>
      <p:sp>
        <p:nvSpPr>
          <p:cNvPr id="4" name="投影片編號版面配置區 3">
            <a:extLst>
              <a:ext uri="{FF2B5EF4-FFF2-40B4-BE49-F238E27FC236}">
                <a16:creationId xmlns:a16="http://schemas.microsoft.com/office/drawing/2014/main" id="{71109768-AFC6-F343-9D31-0912AA2C29A4}"/>
              </a:ext>
            </a:extLst>
          </p:cNvPr>
          <p:cNvSpPr>
            <a:spLocks noGrp="1"/>
          </p:cNvSpPr>
          <p:nvPr>
            <p:ph type="sldNum" sz="quarter" idx="12"/>
          </p:nvPr>
        </p:nvSpPr>
        <p:spPr/>
        <p:txBody>
          <a:bodyPr/>
          <a:lstStyle/>
          <a:p>
            <a:fld id="{AA99950F-3C0B-4ADC-8143-B88B548F7915}" type="slidenum">
              <a:rPr lang="zh-TW" altLang="en-US" smtClean="0"/>
              <a:pPr/>
              <a:t>16</a:t>
            </a:fld>
            <a:endParaRPr lang="zh-TW" altLang="en-US" dirty="0"/>
          </a:p>
        </p:txBody>
      </p:sp>
    </p:spTree>
    <p:extLst>
      <p:ext uri="{BB962C8B-B14F-4D97-AF65-F5344CB8AC3E}">
        <p14:creationId xmlns:p14="http://schemas.microsoft.com/office/powerpoint/2010/main" val="1565282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861D19A-504B-A544-90CD-84DD5CE4ED28}"/>
              </a:ext>
            </a:extLst>
          </p:cNvPr>
          <p:cNvSpPr>
            <a:spLocks noGrp="1"/>
          </p:cNvSpPr>
          <p:nvPr>
            <p:ph type="title"/>
          </p:nvPr>
        </p:nvSpPr>
        <p:spPr/>
        <p:txBody>
          <a:bodyPr/>
          <a:lstStyle/>
          <a:p>
            <a:r>
              <a:rPr lang="en" altLang="zh-TW" dirty="0"/>
              <a:t>Hierarchical Pruning Overview</a:t>
            </a:r>
            <a:endParaRPr kumimoji="1" lang="zh-TW" altLang="en-US" dirty="0"/>
          </a:p>
        </p:txBody>
      </p:sp>
      <p:pic>
        <p:nvPicPr>
          <p:cNvPr id="6" name="內容版面配置區 5">
            <a:extLst>
              <a:ext uri="{FF2B5EF4-FFF2-40B4-BE49-F238E27FC236}">
                <a16:creationId xmlns:a16="http://schemas.microsoft.com/office/drawing/2014/main" id="{31814290-2B86-294B-8259-91C30FAE289E}"/>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257747"/>
            <a:ext cx="10515600" cy="3487094"/>
          </a:xfrm>
        </p:spPr>
      </p:pic>
      <p:sp>
        <p:nvSpPr>
          <p:cNvPr id="4" name="投影片編號版面配置區 3">
            <a:extLst>
              <a:ext uri="{FF2B5EF4-FFF2-40B4-BE49-F238E27FC236}">
                <a16:creationId xmlns:a16="http://schemas.microsoft.com/office/drawing/2014/main" id="{69869EE6-0AD9-844A-B1DE-9327612AD33F}"/>
              </a:ext>
            </a:extLst>
          </p:cNvPr>
          <p:cNvSpPr>
            <a:spLocks noGrp="1"/>
          </p:cNvSpPr>
          <p:nvPr>
            <p:ph type="sldNum" sz="quarter" idx="12"/>
          </p:nvPr>
        </p:nvSpPr>
        <p:spPr/>
        <p:txBody>
          <a:bodyPr/>
          <a:lstStyle/>
          <a:p>
            <a:fld id="{AA99950F-3C0B-4ADC-8143-B88B548F7915}" type="slidenum">
              <a:rPr lang="zh-TW" altLang="en-US" smtClean="0"/>
              <a:pPr/>
              <a:t>17</a:t>
            </a:fld>
            <a:endParaRPr lang="zh-TW" altLang="en-US" dirty="0"/>
          </a:p>
        </p:txBody>
      </p:sp>
    </p:spTree>
    <p:extLst>
      <p:ext uri="{BB962C8B-B14F-4D97-AF65-F5344CB8AC3E}">
        <p14:creationId xmlns:p14="http://schemas.microsoft.com/office/powerpoint/2010/main" val="1899658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C75A4AB-92E3-0349-A180-C4C9C24E754A}"/>
              </a:ext>
            </a:extLst>
          </p:cNvPr>
          <p:cNvSpPr>
            <a:spLocks noGrp="1"/>
          </p:cNvSpPr>
          <p:nvPr>
            <p:ph type="title"/>
          </p:nvPr>
        </p:nvSpPr>
        <p:spPr/>
        <p:txBody>
          <a:bodyPr/>
          <a:lstStyle/>
          <a:p>
            <a:r>
              <a:rPr lang="en" altLang="zh-TW" dirty="0"/>
              <a:t>Focal Diversity Pruning by Diversity Consensus Voting</a:t>
            </a:r>
            <a:endParaRPr kumimoji="1"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5ED9B6F4-C1CF-414E-AF23-613959FE24BE}"/>
                  </a:ext>
                </a:extLst>
              </p:cNvPr>
              <p:cNvSpPr>
                <a:spLocks noGrp="1"/>
              </p:cNvSpPr>
              <p:nvPr>
                <p:ph idx="1"/>
              </p:nvPr>
            </p:nvSpPr>
            <p:spPr/>
            <p:txBody>
              <a:bodyPr>
                <a:normAutofit lnSpcReduction="10000"/>
              </a:bodyPr>
              <a:lstStyle/>
              <a:p>
                <a:r>
                  <a:rPr lang="en" altLang="zh-TW" dirty="0"/>
                  <a:t>Focal diversity pruning using different metrics may recommend different sets of ensembles.</a:t>
                </a:r>
              </a:p>
              <a:p>
                <a:r>
                  <a:rPr lang="en" altLang="zh-TW" dirty="0"/>
                  <a:t>Ensembles that are selected by all or a majority of the focal diversity pruning algorithms tend to have more consistent performance.</a:t>
                </a:r>
              </a:p>
              <a:p>
                <a:r>
                  <a:rPr lang="en" altLang="zh-TW" dirty="0"/>
                  <a:t>Perform </a:t>
                </a:r>
                <a:r>
                  <a:rPr lang="en-US" altLang="zh-TW" dirty="0"/>
                  <a:t>3</a:t>
                </a:r>
                <a:r>
                  <a:rPr lang="en-US" altLang="zh-TW" baseline="30000" dirty="0"/>
                  <a:t>rd</a:t>
                </a:r>
                <a:r>
                  <a:rPr lang="en-US" altLang="zh-TW" dirty="0"/>
                  <a:t> </a:t>
                </a:r>
                <a:r>
                  <a:rPr lang="en" altLang="zh-TW" dirty="0"/>
                  <a:t>step in our HQ </a:t>
                </a:r>
                <a14:m>
                  <m:oMath xmlns:m="http://schemas.openxmlformats.org/officeDocument/2006/math">
                    <m:r>
                      <a:rPr lang="en" altLang="zh-TW" i="1" smtClean="0">
                        <a:latin typeface="Cambria Math" panose="02040503050406030204" pitchFamily="18" charset="0"/>
                        <a:ea typeface="Cambria Math" panose="02040503050406030204" pitchFamily="18" charset="0"/>
                      </a:rPr>
                      <m:t>→</m:t>
                    </m:r>
                  </m:oMath>
                </a14:m>
                <a:r>
                  <a:rPr lang="en" altLang="zh-TW" dirty="0"/>
                  <a:t> majority voting scheme consolidating the ensembles </a:t>
                </a:r>
                <a14:m>
                  <m:oMath xmlns:m="http://schemas.openxmlformats.org/officeDocument/2006/math">
                    <m:r>
                      <a:rPr lang="en" altLang="zh-TW" i="1">
                        <a:latin typeface="Cambria Math" panose="02040503050406030204" pitchFamily="18" charset="0"/>
                        <a:ea typeface="Cambria Math" panose="02040503050406030204" pitchFamily="18" charset="0"/>
                      </a:rPr>
                      <m:t>→</m:t>
                    </m:r>
                  </m:oMath>
                </a14:m>
                <a:r>
                  <a:rPr lang="en" altLang="zh-TW" dirty="0"/>
                  <a:t> ensemble pruning by diverse strength of these focal diversity metrics</a:t>
                </a:r>
              </a:p>
              <a:p>
                <a:pPr lvl="1"/>
                <a:r>
                  <a:rPr lang="en" altLang="zh-TW" dirty="0"/>
                  <a:t>Add to final selection if an ensemble of size </a:t>
                </a:r>
                <a14:m>
                  <m:oMath xmlns:m="http://schemas.openxmlformats.org/officeDocument/2006/math">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𝑆</m:t>
                        </m:r>
                      </m:e>
                      <m:sub>
                        <m:r>
                          <a:rPr lang="en-US" altLang="zh-TW" b="0" i="1" smtClean="0">
                            <a:latin typeface="Cambria Math" panose="02040503050406030204" pitchFamily="18" charset="0"/>
                          </a:rPr>
                          <m:t>𝑑</m:t>
                        </m:r>
                      </m:sub>
                    </m:sSub>
                  </m:oMath>
                </a14:m>
                <a:r>
                  <a:rPr lang="en" altLang="zh-TW" dirty="0"/>
                  <a:t> selected by at least three focal diversity metrics via hierarchical pruning.</a:t>
                </a:r>
              </a:p>
              <a:p>
                <a:r>
                  <a:rPr lang="en-US" altLang="zh-TW" dirty="0"/>
                  <a:t>3</a:t>
                </a:r>
                <a:r>
                  <a:rPr lang="en-US" altLang="zh-TW" baseline="30000" dirty="0"/>
                  <a:t>rd</a:t>
                </a:r>
                <a:r>
                  <a:rPr lang="en-US" altLang="zh-TW" dirty="0"/>
                  <a:t> </a:t>
                </a:r>
                <a:r>
                  <a:rPr lang="en" altLang="zh-TW" dirty="0"/>
                  <a:t>step improves ensemble accuracy and robustness as well as ensemble execution efficiency.</a:t>
                </a:r>
              </a:p>
            </p:txBody>
          </p:sp>
        </mc:Choice>
        <mc:Fallback>
          <p:sp>
            <p:nvSpPr>
              <p:cNvPr id="3" name="內容版面配置區 2">
                <a:extLst>
                  <a:ext uri="{FF2B5EF4-FFF2-40B4-BE49-F238E27FC236}">
                    <a16:creationId xmlns:a16="http://schemas.microsoft.com/office/drawing/2014/main" id="{5ED9B6F4-C1CF-414E-AF23-613959FE24BE}"/>
                  </a:ext>
                </a:extLst>
              </p:cNvPr>
              <p:cNvSpPr>
                <a:spLocks noGrp="1" noRot="1" noChangeAspect="1" noMove="1" noResize="1" noEditPoints="1" noAdjustHandles="1" noChangeArrowheads="1" noChangeShapeType="1" noTextEdit="1"/>
              </p:cNvSpPr>
              <p:nvPr>
                <p:ph idx="1"/>
              </p:nvPr>
            </p:nvSpPr>
            <p:spPr>
              <a:blipFill>
                <a:blip r:embed="rId3"/>
                <a:stretch>
                  <a:fillRect l="-965" t="-3509" r="-1206" b="-292"/>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D49C6D9E-1D4E-A144-BD1D-CEE504BD6674}"/>
              </a:ext>
            </a:extLst>
          </p:cNvPr>
          <p:cNvSpPr>
            <a:spLocks noGrp="1"/>
          </p:cNvSpPr>
          <p:nvPr>
            <p:ph type="sldNum" sz="quarter" idx="12"/>
          </p:nvPr>
        </p:nvSpPr>
        <p:spPr/>
        <p:txBody>
          <a:bodyPr/>
          <a:lstStyle/>
          <a:p>
            <a:fld id="{AA99950F-3C0B-4ADC-8143-B88B548F7915}" type="slidenum">
              <a:rPr lang="zh-TW" altLang="en-US" smtClean="0"/>
              <a:pPr/>
              <a:t>18</a:t>
            </a:fld>
            <a:endParaRPr lang="zh-TW" altLang="en-US" dirty="0"/>
          </a:p>
        </p:txBody>
      </p:sp>
    </p:spTree>
    <p:extLst>
      <p:ext uri="{BB962C8B-B14F-4D97-AF65-F5344CB8AC3E}">
        <p14:creationId xmlns:p14="http://schemas.microsoft.com/office/powerpoint/2010/main" val="2939710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b="1" dirty="0"/>
              <a:t>Experimental evaluation</a:t>
            </a:r>
            <a:endParaRPr lang="zh-TW" altLang="en-US" sz="4800" b="1" dirty="0">
              <a:latin typeface="+mn-lt"/>
            </a:endParaRPr>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19</a:t>
            </a:fld>
            <a:endParaRPr lang="zh-TW" altLang="en-US"/>
          </a:p>
        </p:txBody>
      </p:sp>
    </p:spTree>
    <p:extLst>
      <p:ext uri="{BB962C8B-B14F-4D97-AF65-F5344CB8AC3E}">
        <p14:creationId xmlns:p14="http://schemas.microsoft.com/office/powerpoint/2010/main" val="248321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1">
            <a:extLst>
              <a:ext uri="{FF2B5EF4-FFF2-40B4-BE49-F238E27FC236}">
                <a16:creationId xmlns:a16="http://schemas.microsoft.com/office/drawing/2014/main" id="{479B8930-1C23-144C-8D20-AF388F660530}"/>
              </a:ext>
            </a:extLst>
          </p:cNvPr>
          <p:cNvSpPr>
            <a:spLocks noGrp="1"/>
          </p:cNvSpPr>
          <p:nvPr>
            <p:ph type="title"/>
          </p:nvPr>
        </p:nvSpPr>
        <p:spPr>
          <a:xfrm>
            <a:off x="838200" y="365125"/>
            <a:ext cx="10515600" cy="1325563"/>
          </a:xfrm>
        </p:spPr>
        <p:txBody>
          <a:bodyPr/>
          <a:lstStyle/>
          <a:p>
            <a:r>
              <a:rPr lang="en-US" altLang="zh-TW" dirty="0"/>
              <a:t>Experimental evaluation</a:t>
            </a:r>
            <a:endParaRPr lang="zh-TW" altLang="en-US" dirty="0"/>
          </a:p>
        </p:txBody>
      </p:sp>
      <p:sp>
        <p:nvSpPr>
          <p:cNvPr id="2" name="投影片編號版面配置區 1">
            <a:extLst>
              <a:ext uri="{FF2B5EF4-FFF2-40B4-BE49-F238E27FC236}">
                <a16:creationId xmlns:a16="http://schemas.microsoft.com/office/drawing/2014/main" id="{82EBD6B5-1306-A149-A052-AD86F9E41EAD}"/>
              </a:ext>
            </a:extLst>
          </p:cNvPr>
          <p:cNvSpPr>
            <a:spLocks noGrp="1"/>
          </p:cNvSpPr>
          <p:nvPr>
            <p:ph type="sldNum" sz="quarter" idx="12"/>
          </p:nvPr>
        </p:nvSpPr>
        <p:spPr/>
        <p:txBody>
          <a:bodyPr/>
          <a:lstStyle/>
          <a:p>
            <a:fld id="{AA99950F-3C0B-4ADC-8143-B88B548F7915}" type="slidenum">
              <a:rPr lang="zh-TW" altLang="en-US" smtClean="0"/>
              <a:pPr/>
              <a:t>20</a:t>
            </a:fld>
            <a:endParaRPr lang="zh-TW" altLang="en-US" dirty="0"/>
          </a:p>
        </p:txBody>
      </p:sp>
      <mc:AlternateContent xmlns:mc="http://schemas.openxmlformats.org/markup-compatibility/2006">
        <mc:Choice xmlns:a14="http://schemas.microsoft.com/office/drawing/2010/main" Requires="a14">
          <p:sp>
            <p:nvSpPr>
              <p:cNvPr id="7" name="內容版面配置區 6">
                <a:extLst>
                  <a:ext uri="{FF2B5EF4-FFF2-40B4-BE49-F238E27FC236}">
                    <a16:creationId xmlns:a16="http://schemas.microsoft.com/office/drawing/2014/main" id="{D539444A-58EC-5649-9C46-E7E29F05D1B4}"/>
                  </a:ext>
                </a:extLst>
              </p:cNvPr>
              <p:cNvSpPr>
                <a:spLocks noGrp="1"/>
              </p:cNvSpPr>
              <p:nvPr>
                <p:ph idx="1"/>
              </p:nvPr>
            </p:nvSpPr>
            <p:spPr/>
            <p:txBody>
              <a:bodyPr>
                <a:normAutofit/>
              </a:bodyPr>
              <a:lstStyle/>
              <a:p>
                <a:r>
                  <a:rPr lang="en" altLang="zh-TW" dirty="0"/>
                  <a:t>Datasets: CIFAR-10 &amp; ImageNet with 10 models for each dataset</a:t>
                </a:r>
              </a:p>
              <a:p>
                <a:r>
                  <a:rPr lang="en" altLang="zh-TW" dirty="0"/>
                  <a:t>All experiments were conducted on an Intel Xeon E5-1620 server with Nvidia GTX 1080Ti on Ubuntu 16.04. </a:t>
                </a:r>
              </a:p>
              <a:p>
                <a:r>
                  <a:rPr lang="en" altLang="zh-TW" dirty="0"/>
                  <a:t>Hyperparameter </a:t>
                </a:r>
                <a:r>
                  <a:rPr lang="el-GR" altLang="zh-TW" dirty="0"/>
                  <a:t>β</a:t>
                </a:r>
                <a:r>
                  <a:rPr lang="en-US" altLang="zh-TW" dirty="0"/>
                  <a:t>:</a:t>
                </a:r>
                <a:r>
                  <a:rPr lang="el-GR" altLang="zh-TW" dirty="0"/>
                  <a:t> </a:t>
                </a:r>
                <a:r>
                  <a:rPr lang="en" altLang="zh-TW" dirty="0"/>
                  <a:t>percentage of ensembles to be pruned</a:t>
                </a:r>
              </a:p>
              <a:p>
                <a:r>
                  <a:rPr lang="en" altLang="zh-TW" dirty="0"/>
                  <a:t>Higher </a:t>
                </a:r>
                <a:r>
                  <a:rPr lang="el-GR" altLang="zh-TW" dirty="0"/>
                  <a:t>β </a:t>
                </a:r>
                <a:r>
                  <a:rPr lang="en" altLang="zh-TW" dirty="0"/>
                  <a:t>prune out more ensembles </a:t>
                </a:r>
                <a14:m>
                  <m:oMath xmlns:m="http://schemas.openxmlformats.org/officeDocument/2006/math">
                    <m:r>
                      <a:rPr lang="en" altLang="zh-TW" i="1" smtClean="0">
                        <a:latin typeface="Cambria Math" panose="02040503050406030204" pitchFamily="18" charset="0"/>
                        <a:ea typeface="Cambria Math" panose="02040503050406030204" pitchFamily="18" charset="0"/>
                      </a:rPr>
                      <m:t>→</m:t>
                    </m:r>
                  </m:oMath>
                </a14:m>
                <a:r>
                  <a:rPr lang="en" altLang="zh-TW" dirty="0"/>
                  <a:t> lowering recall </a:t>
                </a:r>
              </a:p>
              <a:p>
                <a:r>
                  <a:rPr lang="en" altLang="zh-TW" dirty="0"/>
                  <a:t>High precision score </a:t>
                </a:r>
                <a14:m>
                  <m:oMath xmlns:m="http://schemas.openxmlformats.org/officeDocument/2006/math">
                    <m:r>
                      <a:rPr lang="en" altLang="zh-TW" i="1" smtClean="0">
                        <a:latin typeface="Cambria Math" panose="02040503050406030204" pitchFamily="18" charset="0"/>
                        <a:ea typeface="Cambria Math" panose="02040503050406030204" pitchFamily="18" charset="0"/>
                      </a:rPr>
                      <m:t>→</m:t>
                    </m:r>
                  </m:oMath>
                </a14:m>
                <a:r>
                  <a:rPr lang="en" altLang="zh-TW" dirty="0"/>
                  <a:t> correctly identify the small ensembles</a:t>
                </a:r>
                <a:endParaRPr lang="zh-TW" altLang="en-US" dirty="0"/>
              </a:p>
            </p:txBody>
          </p:sp>
        </mc:Choice>
        <mc:Fallback>
          <p:sp>
            <p:nvSpPr>
              <p:cNvPr id="7" name="內容版面配置區 6">
                <a:extLst>
                  <a:ext uri="{FF2B5EF4-FFF2-40B4-BE49-F238E27FC236}">
                    <a16:creationId xmlns:a16="http://schemas.microsoft.com/office/drawing/2014/main" id="{D539444A-58EC-5649-9C46-E7E29F05D1B4}"/>
                  </a:ext>
                </a:extLst>
              </p:cNvPr>
              <p:cNvSpPr>
                <a:spLocks noGrp="1" noRot="1" noChangeAspect="1" noMove="1" noResize="1" noEditPoints="1" noAdjustHandles="1" noChangeArrowheads="1" noChangeShapeType="1" noTextEdit="1"/>
              </p:cNvSpPr>
              <p:nvPr>
                <p:ph idx="1"/>
              </p:nvPr>
            </p:nvSpPr>
            <p:spPr>
              <a:blipFill>
                <a:blip r:embed="rId3"/>
                <a:stretch>
                  <a:fillRect l="-965" t="-2632" r="-144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092530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B459D348-30FD-4393-AC09-967E4756CB8A}"/>
              </a:ext>
            </a:extLst>
          </p:cNvPr>
          <p:cNvPicPr>
            <a:picLocks noGrp="1"/>
          </p:cNvPicPr>
          <p:nvPr>
            <p:ph idx="1"/>
          </p:nvPr>
        </p:nvPicPr>
        <p:blipFill>
          <a:blip r:embed="rId3"/>
          <a:stretch>
            <a:fillRect/>
          </a:stretch>
        </p:blipFill>
        <p:spPr>
          <a:xfrm>
            <a:off x="4487752" y="1690688"/>
            <a:ext cx="6866048" cy="4343827"/>
          </a:xfrm>
          <a:prstGeom prst="rect">
            <a:avLst/>
          </a:prstGeom>
        </p:spPr>
      </p:pic>
      <p:sp>
        <p:nvSpPr>
          <p:cNvPr id="6" name="標題 1">
            <a:extLst>
              <a:ext uri="{FF2B5EF4-FFF2-40B4-BE49-F238E27FC236}">
                <a16:creationId xmlns:a16="http://schemas.microsoft.com/office/drawing/2014/main" id="{479B8930-1C23-144C-8D20-AF388F660530}"/>
              </a:ext>
            </a:extLst>
          </p:cNvPr>
          <p:cNvSpPr>
            <a:spLocks noGrp="1"/>
          </p:cNvSpPr>
          <p:nvPr>
            <p:ph type="title"/>
          </p:nvPr>
        </p:nvSpPr>
        <p:spPr>
          <a:xfrm>
            <a:off x="838200" y="365125"/>
            <a:ext cx="10515600" cy="1325563"/>
          </a:xfrm>
        </p:spPr>
        <p:txBody>
          <a:bodyPr/>
          <a:lstStyle/>
          <a:p>
            <a:r>
              <a:rPr lang="en-US" altLang="zh-TW" dirty="0"/>
              <a:t>Experimental evaluation</a:t>
            </a:r>
            <a:endParaRPr lang="zh-TW" altLang="en-US" dirty="0"/>
          </a:p>
        </p:txBody>
      </p:sp>
      <p:sp>
        <p:nvSpPr>
          <p:cNvPr id="2" name="投影片編號版面配置區 1">
            <a:extLst>
              <a:ext uri="{FF2B5EF4-FFF2-40B4-BE49-F238E27FC236}">
                <a16:creationId xmlns:a16="http://schemas.microsoft.com/office/drawing/2014/main" id="{82EBD6B5-1306-A149-A052-AD86F9E41EAD}"/>
              </a:ext>
            </a:extLst>
          </p:cNvPr>
          <p:cNvSpPr>
            <a:spLocks noGrp="1"/>
          </p:cNvSpPr>
          <p:nvPr>
            <p:ph type="sldNum" sz="quarter" idx="12"/>
          </p:nvPr>
        </p:nvSpPr>
        <p:spPr/>
        <p:txBody>
          <a:bodyPr/>
          <a:lstStyle/>
          <a:p>
            <a:fld id="{AA99950F-3C0B-4ADC-8143-B88B548F7915}" type="slidenum">
              <a:rPr lang="zh-TW" altLang="en-US" smtClean="0"/>
              <a:pPr/>
              <a:t>21</a:t>
            </a:fld>
            <a:endParaRPr lang="zh-TW" altLang="en-US" dirty="0"/>
          </a:p>
        </p:txBody>
      </p:sp>
      <p:sp>
        <p:nvSpPr>
          <p:cNvPr id="3" name="文字方塊 2">
            <a:extLst>
              <a:ext uri="{FF2B5EF4-FFF2-40B4-BE49-F238E27FC236}">
                <a16:creationId xmlns:a16="http://schemas.microsoft.com/office/drawing/2014/main" id="{E10E0278-1D4D-D547-9E0D-BABC96329D42}"/>
              </a:ext>
            </a:extLst>
          </p:cNvPr>
          <p:cNvSpPr txBox="1"/>
          <p:nvPr/>
        </p:nvSpPr>
        <p:spPr>
          <a:xfrm>
            <a:off x="838200" y="2954660"/>
            <a:ext cx="3651962" cy="1815882"/>
          </a:xfrm>
          <a:prstGeom prst="rect">
            <a:avLst/>
          </a:prstGeom>
          <a:noFill/>
        </p:spPr>
        <p:txBody>
          <a:bodyPr wrap="none" rtlCol="0">
            <a:spAutoFit/>
          </a:bodyPr>
          <a:lstStyle/>
          <a:p>
            <a:r>
              <a:rPr kumimoji="1" lang="en-US" altLang="zh-TW" sz="2800" dirty="0">
                <a:solidFill>
                  <a:srgbClr val="FF0000"/>
                </a:solidFill>
              </a:rPr>
              <a:t>Precision (%, CIFAR-10)</a:t>
            </a:r>
          </a:p>
          <a:p>
            <a:r>
              <a:rPr kumimoji="1" lang="en-US" altLang="zh-TW" sz="2800" dirty="0"/>
              <a:t>Recall (%, CIFAR-10)</a:t>
            </a:r>
          </a:p>
          <a:p>
            <a:r>
              <a:rPr kumimoji="1" lang="en-US" altLang="zh-TW" sz="2800" dirty="0">
                <a:solidFill>
                  <a:srgbClr val="0070C0"/>
                </a:solidFill>
              </a:rPr>
              <a:t>Precision (%, ImageNet)</a:t>
            </a:r>
          </a:p>
          <a:p>
            <a:r>
              <a:rPr kumimoji="1" lang="en-US" altLang="zh-TW" sz="2800" dirty="0">
                <a:solidFill>
                  <a:schemeClr val="accent4">
                    <a:lumMod val="75000"/>
                  </a:schemeClr>
                </a:solidFill>
              </a:rPr>
              <a:t>Recall (%, ImageNet)</a:t>
            </a:r>
          </a:p>
        </p:txBody>
      </p:sp>
      <p:cxnSp>
        <p:nvCxnSpPr>
          <p:cNvPr id="8" name="直線接點 7">
            <a:extLst>
              <a:ext uri="{FF2B5EF4-FFF2-40B4-BE49-F238E27FC236}">
                <a16:creationId xmlns:a16="http://schemas.microsoft.com/office/drawing/2014/main" id="{AF8AC563-9985-B44E-9663-45A77C6A5D81}"/>
              </a:ext>
            </a:extLst>
          </p:cNvPr>
          <p:cNvCxnSpPr/>
          <p:nvPr/>
        </p:nvCxnSpPr>
        <p:spPr>
          <a:xfrm flipV="1">
            <a:off x="8217074" y="1703214"/>
            <a:ext cx="0" cy="3369827"/>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 name="文字方塊 8">
                <a:extLst>
                  <a:ext uri="{FF2B5EF4-FFF2-40B4-BE49-F238E27FC236}">
                    <a16:creationId xmlns:a16="http://schemas.microsoft.com/office/drawing/2014/main" id="{7B085083-DB1A-E141-B1B0-DC8C97F792B7}"/>
                  </a:ext>
                </a:extLst>
              </p:cNvPr>
              <p:cNvSpPr txBox="1"/>
              <p:nvPr/>
            </p:nvSpPr>
            <p:spPr>
              <a:xfrm>
                <a:off x="7297495" y="761095"/>
                <a:ext cx="1839158" cy="923330"/>
              </a:xfrm>
              <a:prstGeom prst="rect">
                <a:avLst/>
              </a:prstGeom>
              <a:noFill/>
            </p:spPr>
            <p:txBody>
              <a:bodyPr wrap="none" rtlCol="0">
                <a:spAutoFit/>
              </a:bodyPr>
              <a:lstStyle/>
              <a:p>
                <a14:m>
                  <m:oMath xmlns:m="http://schemas.openxmlformats.org/officeDocument/2006/math">
                    <m:r>
                      <a:rPr kumimoji="1" lang="en-US" altLang="zh-TW" i="1" smtClean="0">
                        <a:solidFill>
                          <a:srgbClr val="0070C0"/>
                        </a:solidFill>
                        <a:latin typeface="Cambria Math" panose="02040503050406030204" pitchFamily="18" charset="0"/>
                        <a:ea typeface="Cambria Math" panose="02040503050406030204" pitchFamily="18" charset="0"/>
                      </a:rPr>
                      <m:t>𝛽</m:t>
                    </m:r>
                    <m:r>
                      <a:rPr kumimoji="1" lang="en-US" altLang="zh-TW" b="0" i="1" smtClean="0">
                        <a:solidFill>
                          <a:srgbClr val="0070C0"/>
                        </a:solidFill>
                        <a:latin typeface="Cambria Math" panose="02040503050406030204" pitchFamily="18" charset="0"/>
                        <a:ea typeface="Cambria Math" panose="02040503050406030204" pitchFamily="18" charset="0"/>
                      </a:rPr>
                      <m:t>=</m:t>
                    </m:r>
                  </m:oMath>
                </a14:m>
                <a:r>
                  <a:rPr kumimoji="1" lang="en-US" altLang="zh-TW" dirty="0">
                    <a:solidFill>
                      <a:srgbClr val="0070C0"/>
                    </a:solidFill>
                  </a:rPr>
                  <a:t> 20%</a:t>
                </a:r>
              </a:p>
              <a:p>
                <a:r>
                  <a:rPr kumimoji="1" lang="en-US" altLang="zh-TW" dirty="0">
                    <a:solidFill>
                      <a:srgbClr val="0070C0"/>
                    </a:solidFill>
                  </a:rPr>
                  <a:t>Precision: 81.25%</a:t>
                </a:r>
              </a:p>
              <a:p>
                <a:r>
                  <a:rPr kumimoji="1" lang="en-US" altLang="zh-TW" dirty="0">
                    <a:solidFill>
                      <a:srgbClr val="0070C0"/>
                    </a:solidFill>
                  </a:rPr>
                  <a:t>Recall: 52%</a:t>
                </a:r>
                <a:endParaRPr kumimoji="1" lang="zh-TW" altLang="en-US" dirty="0">
                  <a:solidFill>
                    <a:srgbClr val="0070C0"/>
                  </a:solidFill>
                </a:endParaRPr>
              </a:p>
            </p:txBody>
          </p:sp>
        </mc:Choice>
        <mc:Fallback>
          <p:sp>
            <p:nvSpPr>
              <p:cNvPr id="9" name="文字方塊 8">
                <a:extLst>
                  <a:ext uri="{FF2B5EF4-FFF2-40B4-BE49-F238E27FC236}">
                    <a16:creationId xmlns:a16="http://schemas.microsoft.com/office/drawing/2014/main" id="{7B085083-DB1A-E141-B1B0-DC8C97F792B7}"/>
                  </a:ext>
                </a:extLst>
              </p:cNvPr>
              <p:cNvSpPr txBox="1">
                <a:spLocks noRot="1" noChangeAspect="1" noMove="1" noResize="1" noEditPoints="1" noAdjustHandles="1" noChangeArrowheads="1" noChangeShapeType="1" noTextEdit="1"/>
              </p:cNvSpPr>
              <p:nvPr/>
            </p:nvSpPr>
            <p:spPr>
              <a:xfrm>
                <a:off x="7297495" y="761095"/>
                <a:ext cx="1839158" cy="923330"/>
              </a:xfrm>
              <a:prstGeom prst="rect">
                <a:avLst/>
              </a:prstGeom>
              <a:blipFill>
                <a:blip r:embed="rId4"/>
                <a:stretch>
                  <a:fillRect l="-2759" t="-4110" r="-1379" b="-821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680323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0FAF85C3-EDA3-704D-B2AE-FFAB18B1CE39}"/>
              </a:ext>
            </a:extLst>
          </p:cNvPr>
          <p:cNvSpPr>
            <a:spLocks noGrp="1"/>
          </p:cNvSpPr>
          <p:nvPr>
            <p:ph type="sldNum" sz="quarter" idx="12"/>
          </p:nvPr>
        </p:nvSpPr>
        <p:spPr/>
        <p:txBody>
          <a:bodyPr/>
          <a:lstStyle/>
          <a:p>
            <a:fld id="{AA99950F-3C0B-4ADC-8143-B88B548F7915}" type="slidenum">
              <a:rPr lang="zh-TW" altLang="en-US" smtClean="0"/>
              <a:pPr/>
              <a:t>22</a:t>
            </a:fld>
            <a:endParaRPr lang="zh-TW" altLang="en-US" dirty="0"/>
          </a:p>
        </p:txBody>
      </p:sp>
      <p:grpSp>
        <p:nvGrpSpPr>
          <p:cNvPr id="10" name="群組 9">
            <a:extLst>
              <a:ext uri="{FF2B5EF4-FFF2-40B4-BE49-F238E27FC236}">
                <a16:creationId xmlns:a16="http://schemas.microsoft.com/office/drawing/2014/main" id="{D2717AB1-4954-A346-85D6-1CA5B31495EC}"/>
              </a:ext>
            </a:extLst>
          </p:cNvPr>
          <p:cNvGrpSpPr>
            <a:grpSpLocks noChangeAspect="1"/>
          </p:cNvGrpSpPr>
          <p:nvPr/>
        </p:nvGrpSpPr>
        <p:grpSpPr>
          <a:xfrm>
            <a:off x="1181632" y="1240263"/>
            <a:ext cx="7428968" cy="4680000"/>
            <a:chOff x="1267690" y="601436"/>
            <a:chExt cx="9135272" cy="5754914"/>
          </a:xfrm>
        </p:grpSpPr>
        <p:pic>
          <p:nvPicPr>
            <p:cNvPr id="7" name="圖片 6">
              <a:extLst>
                <a:ext uri="{FF2B5EF4-FFF2-40B4-BE49-F238E27FC236}">
                  <a16:creationId xmlns:a16="http://schemas.microsoft.com/office/drawing/2014/main" id="{AE116D51-D413-6B46-A264-7E5C4EC4E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691" y="601436"/>
              <a:ext cx="9135271" cy="3816000"/>
            </a:xfrm>
            <a:prstGeom prst="rect">
              <a:avLst/>
            </a:prstGeom>
          </p:spPr>
        </p:pic>
        <p:pic>
          <p:nvPicPr>
            <p:cNvPr id="9" name="圖片 8">
              <a:extLst>
                <a:ext uri="{FF2B5EF4-FFF2-40B4-BE49-F238E27FC236}">
                  <a16:creationId xmlns:a16="http://schemas.microsoft.com/office/drawing/2014/main" id="{C9B0FB25-4A56-A54E-B396-4E182A11FF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7690" y="4417435"/>
              <a:ext cx="9135271" cy="1938915"/>
            </a:xfrm>
            <a:prstGeom prst="rect">
              <a:avLst/>
            </a:prstGeom>
          </p:spPr>
        </p:pic>
      </p:grpSp>
      <mc:AlternateContent xmlns:mc="http://schemas.openxmlformats.org/markup-compatibility/2006">
        <mc:Choice xmlns:a14="http://schemas.microsoft.com/office/drawing/2010/main" Requires="a14">
          <p:sp>
            <p:nvSpPr>
              <p:cNvPr id="11" name="文字方塊 10">
                <a:extLst>
                  <a:ext uri="{FF2B5EF4-FFF2-40B4-BE49-F238E27FC236}">
                    <a16:creationId xmlns:a16="http://schemas.microsoft.com/office/drawing/2014/main" id="{3203EDF9-DE17-4347-B3E2-1422FC25F2CD}"/>
                  </a:ext>
                </a:extLst>
              </p:cNvPr>
              <p:cNvSpPr txBox="1"/>
              <p:nvPr/>
            </p:nvSpPr>
            <p:spPr>
              <a:xfrm>
                <a:off x="8868427" y="1847589"/>
                <a:ext cx="1494448" cy="4308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zh-TW" altLang="en-US" sz="2800" i="1" smtClean="0">
                          <a:latin typeface="Cambria Math" panose="02040503050406030204" pitchFamily="18" charset="0"/>
                        </a:rPr>
                        <m:t>𝛽</m:t>
                      </m:r>
                      <m:r>
                        <a:rPr kumimoji="1" lang="en-US" altLang="zh-TW" sz="2800" b="0" i="1" smtClean="0">
                          <a:latin typeface="Cambria Math" panose="02040503050406030204" pitchFamily="18" charset="0"/>
                        </a:rPr>
                        <m:t>=10%</m:t>
                      </m:r>
                    </m:oMath>
                  </m:oMathPara>
                </a14:m>
                <a:endParaRPr kumimoji="1" lang="zh-TW" altLang="en-US" sz="2800" dirty="0"/>
              </a:p>
            </p:txBody>
          </p:sp>
        </mc:Choice>
        <mc:Fallback>
          <p:sp>
            <p:nvSpPr>
              <p:cNvPr id="11" name="文字方塊 10">
                <a:extLst>
                  <a:ext uri="{FF2B5EF4-FFF2-40B4-BE49-F238E27FC236}">
                    <a16:creationId xmlns:a16="http://schemas.microsoft.com/office/drawing/2014/main" id="{3203EDF9-DE17-4347-B3E2-1422FC25F2CD}"/>
                  </a:ext>
                </a:extLst>
              </p:cNvPr>
              <p:cNvSpPr txBox="1">
                <a:spLocks noRot="1" noChangeAspect="1" noMove="1" noResize="1" noEditPoints="1" noAdjustHandles="1" noChangeArrowheads="1" noChangeShapeType="1" noTextEdit="1"/>
              </p:cNvSpPr>
              <p:nvPr/>
            </p:nvSpPr>
            <p:spPr>
              <a:xfrm>
                <a:off x="8868427" y="1847589"/>
                <a:ext cx="1494448" cy="430887"/>
              </a:xfrm>
              <a:prstGeom prst="rect">
                <a:avLst/>
              </a:prstGeom>
              <a:blipFill>
                <a:blip r:embed="rId5"/>
                <a:stretch>
                  <a:fillRect l="-7563" r="-5042"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D9AE0522-C41D-5845-92DD-0A0C715ACAFA}"/>
                  </a:ext>
                </a:extLst>
              </p:cNvPr>
              <p:cNvSpPr txBox="1"/>
              <p:nvPr/>
            </p:nvSpPr>
            <p:spPr>
              <a:xfrm>
                <a:off x="8868427" y="3453009"/>
                <a:ext cx="1494448" cy="4308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zh-TW" altLang="en-US" sz="2800" i="1" smtClean="0">
                          <a:latin typeface="Cambria Math" panose="02040503050406030204" pitchFamily="18" charset="0"/>
                        </a:rPr>
                        <m:t>𝛽</m:t>
                      </m:r>
                      <m:r>
                        <a:rPr kumimoji="1" lang="en-US" altLang="zh-TW" sz="2800" b="0" i="1" smtClean="0">
                          <a:latin typeface="Cambria Math" panose="02040503050406030204" pitchFamily="18" charset="0"/>
                        </a:rPr>
                        <m:t>=20%</m:t>
                      </m:r>
                    </m:oMath>
                  </m:oMathPara>
                </a14:m>
                <a:endParaRPr kumimoji="1" lang="zh-TW" altLang="en-US" sz="2800" dirty="0"/>
              </a:p>
            </p:txBody>
          </p:sp>
        </mc:Choice>
        <mc:Fallback>
          <p:sp>
            <p:nvSpPr>
              <p:cNvPr id="12" name="文字方塊 11">
                <a:extLst>
                  <a:ext uri="{FF2B5EF4-FFF2-40B4-BE49-F238E27FC236}">
                    <a16:creationId xmlns:a16="http://schemas.microsoft.com/office/drawing/2014/main" id="{D9AE0522-C41D-5845-92DD-0A0C715ACAFA}"/>
                  </a:ext>
                </a:extLst>
              </p:cNvPr>
              <p:cNvSpPr txBox="1">
                <a:spLocks noRot="1" noChangeAspect="1" noMove="1" noResize="1" noEditPoints="1" noAdjustHandles="1" noChangeArrowheads="1" noChangeShapeType="1" noTextEdit="1"/>
              </p:cNvSpPr>
              <p:nvPr/>
            </p:nvSpPr>
            <p:spPr>
              <a:xfrm>
                <a:off x="8868427" y="3453009"/>
                <a:ext cx="1494448" cy="430887"/>
              </a:xfrm>
              <a:prstGeom prst="rect">
                <a:avLst/>
              </a:prstGeom>
              <a:blipFill>
                <a:blip r:embed="rId6"/>
                <a:stretch>
                  <a:fillRect l="-7563" r="-5042" b="-314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3" name="文字方塊 12">
                <a:extLst>
                  <a:ext uri="{FF2B5EF4-FFF2-40B4-BE49-F238E27FC236}">
                    <a16:creationId xmlns:a16="http://schemas.microsoft.com/office/drawing/2014/main" id="{9638A33F-91A2-BF4C-84FF-55645D3298DF}"/>
                  </a:ext>
                </a:extLst>
              </p:cNvPr>
              <p:cNvSpPr txBox="1"/>
              <p:nvPr/>
            </p:nvSpPr>
            <p:spPr>
              <a:xfrm>
                <a:off x="8868427" y="5066750"/>
                <a:ext cx="1494448" cy="43088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kumimoji="1" lang="zh-TW" altLang="en-US" sz="2800" i="1" smtClean="0">
                          <a:latin typeface="Cambria Math" panose="02040503050406030204" pitchFamily="18" charset="0"/>
                        </a:rPr>
                        <m:t>𝛽</m:t>
                      </m:r>
                      <m:r>
                        <a:rPr kumimoji="1" lang="en-US" altLang="zh-TW" sz="2800" b="0" i="1" smtClean="0">
                          <a:latin typeface="Cambria Math" panose="02040503050406030204" pitchFamily="18" charset="0"/>
                        </a:rPr>
                        <m:t>=10%</m:t>
                      </m:r>
                    </m:oMath>
                  </m:oMathPara>
                </a14:m>
                <a:endParaRPr kumimoji="1" lang="zh-TW" altLang="en-US" sz="2800" dirty="0"/>
              </a:p>
            </p:txBody>
          </p:sp>
        </mc:Choice>
        <mc:Fallback>
          <p:sp>
            <p:nvSpPr>
              <p:cNvPr id="13" name="文字方塊 12">
                <a:extLst>
                  <a:ext uri="{FF2B5EF4-FFF2-40B4-BE49-F238E27FC236}">
                    <a16:creationId xmlns:a16="http://schemas.microsoft.com/office/drawing/2014/main" id="{9638A33F-91A2-BF4C-84FF-55645D3298DF}"/>
                  </a:ext>
                </a:extLst>
              </p:cNvPr>
              <p:cNvSpPr txBox="1">
                <a:spLocks noRot="1" noChangeAspect="1" noMove="1" noResize="1" noEditPoints="1" noAdjustHandles="1" noChangeArrowheads="1" noChangeShapeType="1" noTextEdit="1"/>
              </p:cNvSpPr>
              <p:nvPr/>
            </p:nvSpPr>
            <p:spPr>
              <a:xfrm>
                <a:off x="8868427" y="5066750"/>
                <a:ext cx="1494448" cy="430887"/>
              </a:xfrm>
              <a:prstGeom prst="rect">
                <a:avLst/>
              </a:prstGeom>
              <a:blipFill>
                <a:blip r:embed="rId7"/>
                <a:stretch>
                  <a:fillRect l="-7563" r="-5042" b="-3142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7438232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b="1" dirty="0"/>
              <a:t>Conclusion</a:t>
            </a:r>
            <a:endParaRPr lang="zh-TW" altLang="en-US" sz="4800" b="1" dirty="0">
              <a:latin typeface="+mn-lt"/>
            </a:endParaRPr>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23</a:t>
            </a:fld>
            <a:endParaRPr lang="zh-TW" altLang="en-US"/>
          </a:p>
        </p:txBody>
      </p:sp>
    </p:spTree>
    <p:extLst>
      <p:ext uri="{BB962C8B-B14F-4D97-AF65-F5344CB8AC3E}">
        <p14:creationId xmlns:p14="http://schemas.microsoft.com/office/powerpoint/2010/main" val="3865731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D894F9D8-ED8E-4E71-AB2F-3EB0A2590B41}"/>
              </a:ext>
            </a:extLst>
          </p:cNvPr>
          <p:cNvSpPr>
            <a:spLocks noGrp="1"/>
          </p:cNvSpPr>
          <p:nvPr>
            <p:ph idx="1"/>
          </p:nvPr>
        </p:nvSpPr>
        <p:spPr>
          <a:xfrm>
            <a:off x="838200" y="1554475"/>
            <a:ext cx="10515600" cy="5580615"/>
          </a:xfrm>
        </p:spPr>
        <p:txBody>
          <a:bodyPr>
            <a:normAutofit/>
          </a:bodyPr>
          <a:lstStyle/>
          <a:p>
            <a:pPr>
              <a:lnSpc>
                <a:spcPct val="110000"/>
              </a:lnSpc>
            </a:pPr>
            <a:r>
              <a:rPr lang="en-US" altLang="zh-TW" sz="2800" dirty="0"/>
              <a:t>Presented a focal diversity based hierarchical ensemble pruning approach, which can find significantly smaller deep ensembles while still retain the same or achieve even better ensemble accuracy than the entire deep ensemble.</a:t>
            </a:r>
          </a:p>
          <a:p>
            <a:pPr>
              <a:lnSpc>
                <a:spcPct val="110000"/>
              </a:lnSpc>
            </a:pPr>
            <a:r>
              <a:rPr lang="en-US" altLang="zh-TW" sz="2800" dirty="0"/>
              <a:t>Three contributions</a:t>
            </a:r>
          </a:p>
          <a:p>
            <a:pPr lvl="1">
              <a:lnSpc>
                <a:spcPct val="110000"/>
              </a:lnSpc>
            </a:pPr>
            <a:r>
              <a:rPr lang="en-US" altLang="zh-TW" sz="2400" dirty="0"/>
              <a:t>Use focal diversity metrics</a:t>
            </a:r>
            <a:r>
              <a:rPr lang="zh-TW" altLang="en-US" sz="2400" dirty="0"/>
              <a:t> </a:t>
            </a:r>
            <a:r>
              <a:rPr lang="en-US" altLang="zh-TW" sz="2400" dirty="0"/>
              <a:t>to capture negative correlation among member models of an ensemble team.</a:t>
            </a:r>
          </a:p>
          <a:p>
            <a:pPr lvl="1">
              <a:lnSpc>
                <a:spcPct val="110000"/>
              </a:lnSpc>
            </a:pPr>
            <a:r>
              <a:rPr lang="en-US" altLang="zh-TW" sz="2400" dirty="0"/>
              <a:t>Hierarchical pruning algorithm can identify and remove the ensembles with high negative correlation.</a:t>
            </a:r>
          </a:p>
          <a:p>
            <a:pPr lvl="1">
              <a:lnSpc>
                <a:spcPct val="110000"/>
              </a:lnSpc>
            </a:pPr>
            <a:r>
              <a:rPr lang="en-US" altLang="zh-TW" sz="2400" dirty="0"/>
              <a:t>HQ approach to finding high quality ensembles with a small size and high ensemble accuracy for a given pool of multiple base models.</a:t>
            </a:r>
            <a:endParaRPr lang="zh-TW" altLang="en-US" sz="2400" dirty="0"/>
          </a:p>
        </p:txBody>
      </p:sp>
      <p:sp>
        <p:nvSpPr>
          <p:cNvPr id="2" name="投影片編號版面配置區 1">
            <a:extLst>
              <a:ext uri="{FF2B5EF4-FFF2-40B4-BE49-F238E27FC236}">
                <a16:creationId xmlns:a16="http://schemas.microsoft.com/office/drawing/2014/main" id="{65DACEA2-91C9-8943-9D71-F7C962EE51C1}"/>
              </a:ext>
            </a:extLst>
          </p:cNvPr>
          <p:cNvSpPr>
            <a:spLocks noGrp="1"/>
          </p:cNvSpPr>
          <p:nvPr>
            <p:ph type="sldNum" sz="quarter" idx="12"/>
          </p:nvPr>
        </p:nvSpPr>
        <p:spPr/>
        <p:txBody>
          <a:bodyPr/>
          <a:lstStyle/>
          <a:p>
            <a:fld id="{AA99950F-3C0B-4ADC-8143-B88B548F7915}" type="slidenum">
              <a:rPr lang="zh-TW" altLang="en-US" smtClean="0"/>
              <a:pPr/>
              <a:t>24</a:t>
            </a:fld>
            <a:endParaRPr lang="zh-TW" altLang="en-US" dirty="0"/>
          </a:p>
        </p:txBody>
      </p:sp>
      <p:sp>
        <p:nvSpPr>
          <p:cNvPr id="4" name="標題 1">
            <a:extLst>
              <a:ext uri="{FF2B5EF4-FFF2-40B4-BE49-F238E27FC236}">
                <a16:creationId xmlns:a16="http://schemas.microsoft.com/office/drawing/2014/main" id="{9566A88C-EDC7-D846-93BE-3657ADD3B654}"/>
              </a:ext>
            </a:extLst>
          </p:cNvPr>
          <p:cNvSpPr>
            <a:spLocks noGrp="1"/>
          </p:cNvSpPr>
          <p:nvPr>
            <p:ph type="title"/>
          </p:nvPr>
        </p:nvSpPr>
        <p:spPr>
          <a:xfrm>
            <a:off x="838200" y="365125"/>
            <a:ext cx="10515600" cy="1325563"/>
          </a:xfrm>
        </p:spPr>
        <p:txBody>
          <a:bodyPr/>
          <a:lstStyle/>
          <a:p>
            <a:r>
              <a:rPr lang="en-US" altLang="zh-TW" dirty="0"/>
              <a:t>Conclusion</a:t>
            </a:r>
            <a:endParaRPr lang="zh-TW" altLang="en-US" dirty="0"/>
          </a:p>
        </p:txBody>
      </p:sp>
    </p:spTree>
    <p:extLst>
      <p:ext uri="{BB962C8B-B14F-4D97-AF65-F5344CB8AC3E}">
        <p14:creationId xmlns:p14="http://schemas.microsoft.com/office/powerpoint/2010/main" val="3058863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4800" b="1" dirty="0"/>
              <a:t>Our experiment</a:t>
            </a:r>
            <a:endParaRPr lang="zh-TW" altLang="en-US" sz="4800" b="1" dirty="0"/>
          </a:p>
        </p:txBody>
      </p:sp>
      <p:sp>
        <p:nvSpPr>
          <p:cNvPr id="3" name="文字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A99950F-3C0B-4ADC-8143-B88B548F7915}" type="slidenum">
              <a:rPr lang="zh-TW" altLang="en-US" smtClean="0"/>
              <a:t>25</a:t>
            </a:fld>
            <a:endParaRPr lang="zh-TW" altLang="en-US"/>
          </a:p>
        </p:txBody>
      </p:sp>
    </p:spTree>
    <p:extLst>
      <p:ext uri="{BB962C8B-B14F-4D97-AF65-F5344CB8AC3E}">
        <p14:creationId xmlns:p14="http://schemas.microsoft.com/office/powerpoint/2010/main" val="331152194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929</TotalTime>
  <Words>2877</Words>
  <Application>Microsoft Macintosh PowerPoint</Application>
  <PresentationFormat>寬螢幕</PresentationFormat>
  <Paragraphs>228</Paragraphs>
  <Slides>26</Slides>
  <Notes>18</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26</vt:i4>
      </vt:variant>
    </vt:vector>
  </HeadingPairs>
  <TitlesOfParts>
    <vt:vector size="36" baseType="lpstr">
      <vt:lpstr>Microsoft JhengHei</vt:lpstr>
      <vt:lpstr>Microsoft JhengHei</vt:lpstr>
      <vt:lpstr>新細明體</vt:lpstr>
      <vt:lpstr>等线</vt:lpstr>
      <vt:lpstr>Arial</vt:lpstr>
      <vt:lpstr>Calibri</vt:lpstr>
      <vt:lpstr>Calibri Light</vt:lpstr>
      <vt:lpstr>Cambria Math</vt:lpstr>
      <vt:lpstr>Times New Roman</vt:lpstr>
      <vt:lpstr>Office 佈景主題</vt:lpstr>
      <vt:lpstr>Boosting Deep Ensemble Performance  with Hierarchical Pruning</vt:lpstr>
      <vt:lpstr>Presentation Outline</vt:lpstr>
      <vt:lpstr>Introduction</vt:lpstr>
      <vt:lpstr>Introduction</vt:lpstr>
      <vt:lpstr>Hierarchical Pruning with focal diversity</vt:lpstr>
      <vt:lpstr>Hierarchical pruning with focal diversity</vt:lpstr>
      <vt:lpstr>TABLE I: Example Deep Ensembles for CIFAR-10 and ImageNet</vt:lpstr>
      <vt:lpstr>PowerPoint 簡報</vt:lpstr>
      <vt:lpstr>Problems with Baseline Ensemble Pruning</vt:lpstr>
      <vt:lpstr>Problems with Baseline Ensemble Pruning</vt:lpstr>
      <vt:lpstr>(a) GD, Pruning 427 out of 1012</vt:lpstr>
      <vt:lpstr>PowerPoint 簡報</vt:lpstr>
      <vt:lpstr>Focal Diversity based Hierarchical Pruning</vt:lpstr>
      <vt:lpstr>Focal Diversity Concept</vt:lpstr>
      <vt:lpstr>(a) GD, Pruning 427 out of 1012 (b) F-GD, Pruning 517 out of 1012</vt:lpstr>
      <vt:lpstr>Hierarchical Pruning Overview</vt:lpstr>
      <vt:lpstr>Hierarchical Pruning Overview</vt:lpstr>
      <vt:lpstr>Hierarchical Pruning Overview</vt:lpstr>
      <vt:lpstr>Focal Diversity Pruning by Diversity Consensus Voting</vt:lpstr>
      <vt:lpstr>Experimental evaluation</vt:lpstr>
      <vt:lpstr>Experimental evaluation</vt:lpstr>
      <vt:lpstr>Experimental evaluation</vt:lpstr>
      <vt:lpstr>PowerPoint 簡報</vt:lpstr>
      <vt:lpstr>Conclusion</vt:lpstr>
      <vt:lpstr>Conclusion</vt:lpstr>
      <vt:lpstr>Our experiment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Microsoft Office User</cp:lastModifiedBy>
  <cp:revision>59</cp:revision>
  <dcterms:created xsi:type="dcterms:W3CDTF">2023-08-22T02:42:47Z</dcterms:created>
  <dcterms:modified xsi:type="dcterms:W3CDTF">2023-12-09T11:10:59Z</dcterms:modified>
</cp:coreProperties>
</file>